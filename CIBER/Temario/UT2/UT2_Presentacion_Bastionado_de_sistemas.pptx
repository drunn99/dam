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32846af7-2710-a72a-85b8-f41945cd57aa}">
          <p14:sldIdLst>
            <p14:sldId id="256"/>
            <p14:sldId id="257"/>
            <p14:sldId id="258"/>
          </p14:sldIdLst>
        </p14:section>
        <p14:section name="1. El bastionado de sistemas" id="{0a506bcc-3087-092f-35c2-c31749c1ce3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. Configuración segura" id="{4e1f769f-37c7-ef79-6285-ce1f0be888d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3. Contraseñas" id="{9bb187f0-1ad9-b02a-85c1-3666064202ae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4. MFA" id="{471cab0d-8f27-8a32-c238-e32343c14b12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5. Control de accesos" id="{015521f3-9e0c-01bc-e388-ea44599feda9}">
          <p14:sldIdLst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6. Configuraciones inseguras" id="{5ed26d50-bb9b-38ab-77aa-10f2b88f4154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</p14:sldIdLst>
        </p14:section>
        <p14:section name="7. Documentación" id="{67667b34-b45c-7804-da9b-0ff0b3bd6175}">
          <p14:sldIdLst>
            <p14:sldId id="340"/>
            <p14:sldId id="341"/>
            <p14:sldId id="342"/>
            <p14:sldId id="343"/>
          </p14:sldIdLst>
        </p14:section>
        <p14:section name="Cierre" id="{a35e30ee-fcfb-03e1-4d11-77e4ba2d13f5}">
          <p14:sldIdLst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UT2 · Bastionado de sistemas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754880" cy="47548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663440"/>
            <a:ext cx="3657600" cy="365760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974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FUNDAMENTOS DE CIBERSEGURIDAD · 2º DAM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UT2. Bastionado de sistemas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8E3"/>
                </a:solidFill>
              </a:rPr>
              <a:t>Configuración segura, contraseñas, MFA y control de accesos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Del informe de hallazgos al sistema protegido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98348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/tmp/claude-0/-home-claude/1842cb91-b367-5a07-8389-b648338cb49b/scratchpad/ut2/deck/logo_b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5029200"/>
            <a:ext cx="585216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Contenidos de la 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1.  </a:t>
            </a:r>
            <a:r>
              <a:rPr lang="en-US" sz="1800" b="1" dirty="0">
                <a:solidFill>
                  <a:srgbClr val="1F2A37"/>
                </a:solidFill>
              </a:rPr>
              <a:t>El bastionado de sistemas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214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2.  </a:t>
            </a:r>
            <a:r>
              <a:rPr lang="en-US" sz="1800" b="1" dirty="0">
                <a:solidFill>
                  <a:srgbClr val="1F2A37"/>
                </a:solidFill>
              </a:rPr>
              <a:t>Configuración segura del sistema operativo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3.  </a:t>
            </a:r>
            <a:r>
              <a:rPr lang="en-US" sz="1800" b="1" dirty="0">
                <a:solidFill>
                  <a:srgbClr val="1F2A37"/>
                </a:solidFill>
              </a:rPr>
              <a:t>Contraseñas seguras y políticas de gestión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4.  </a:t>
            </a:r>
            <a:r>
              <a:rPr lang="en-US" sz="1800" b="1" dirty="0">
                <a:solidFill>
                  <a:srgbClr val="1F2A37"/>
                </a:solidFill>
              </a:rPr>
              <a:t>Autenticación multifactor (MFA)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788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5.  </a:t>
            </a:r>
            <a:r>
              <a:rPr lang="en-US" sz="1800" b="1" dirty="0">
                <a:solidFill>
                  <a:srgbClr val="1F2A37"/>
                </a:solidFill>
              </a:rPr>
              <a:t>Control de accesos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86460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6.  </a:t>
            </a:r>
            <a:r>
              <a:rPr lang="en-US" sz="1800" b="1" dirty="0">
                <a:solidFill>
                  <a:srgbClr val="1F2A37"/>
                </a:solidFill>
              </a:rPr>
              <a:t>Detección y corrección de configuraciones inseguras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55040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28016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7.  </a:t>
            </a:r>
            <a:r>
              <a:rPr lang="en-US" sz="1800" b="1" dirty="0">
                <a:solidFill>
                  <a:srgbClr val="1F2A37"/>
                </a:solidFill>
              </a:rPr>
              <a:t>Documentación de las medidas de protección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trabajaremos en esta unidad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UT1 auditasteis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srv-ficheros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elaborasteis una lista de hallazgos. En esta unidad los vais a corregir, uno a uno, y a demostrar que la corrección funciona.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317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srv-ficheros (Debian)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Vuestro servidor de la UT1, en el ordenador del aula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Se bastiona en clase, con práctica guiada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Es la base del laboratorio hasta la UT5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21488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3500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45973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3317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Windows Server 2025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Versión de evaluación de 180 días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Se instala en casa durante el puente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Se reutilizará en las próximas unidades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21488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3500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45973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3317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Evaluación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Práctica 1: entrega el domingo 08/11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Práctica 2: entrega el miércoles 18/11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Prueba práctica: viernes 20/11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El bastionado de sistemas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bastionar un sistema?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F2A37"/>
                </a:solidFill>
              </a:rPr>
              <a:t>Bastionar</a:t>
            </a:r>
            <a:r>
              <a:rPr lang="en-US" sz="1700" dirty="0">
                <a:solidFill>
                  <a:srgbClr val="1F2A37"/>
                </a:solidFill>
              </a:rPr>
              <a:t> (en inglés, </a:t>
            </a:r>
            <a:r>
              <a:rPr lang="en-US" sz="1700" b="1" dirty="0">
                <a:solidFill>
                  <a:srgbClr val="1F2A37"/>
                </a:solidFill>
              </a:rPr>
              <a:t>hardening</a:t>
            </a:r>
            <a:r>
              <a:rPr lang="en-US" sz="1700" dirty="0">
                <a:solidFill>
                  <a:srgbClr val="1F2A37"/>
                </a:solidFill>
              </a:rPr>
              <a:t>) es configurar un sistema para reducir al mínimo sus vulnerabilidades y su </a:t>
            </a:r>
            <a:r>
              <a:rPr lang="en-US" sz="1700" b="1" dirty="0">
                <a:solidFill>
                  <a:srgbClr val="1F2A37"/>
                </a:solidFill>
              </a:rPr>
              <a:t>superficie de ataque</a:t>
            </a:r>
            <a:r>
              <a:rPr lang="en-US" sz="1700" dirty="0">
                <a:solidFill>
                  <a:srgbClr val="1F2A37"/>
                </a:solidFill>
              </a:rPr>
              <a:t>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Un sistema recién instalado está pensado para funcionar en cualquier situación, no para ser seguro en la nuestra: trae servicios que no usamos, permisos amplios y políticas permisivas.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El bastionado ajusta esa configuración: </a:t>
            </a:r>
            <a:r>
              <a:rPr lang="en-US" sz="1700" b="1" dirty="0">
                <a:solidFill>
                  <a:srgbClr val="1F2A37"/>
                </a:solidFill>
              </a:rPr>
              <a:t>lo que no se necesita se elimina</a:t>
            </a:r>
            <a:r>
              <a:rPr lang="en-US" sz="1700" dirty="0">
                <a:solidFill>
                  <a:srgbClr val="1F2A37"/>
                </a:solidFill>
              </a:rPr>
              <a:t> y lo que se necesita se configura de la forma más restrictiva posible.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818120" y="1371600"/>
            <a:ext cx="3822192" cy="4663440"/>
          </a:xfrm>
          <a:prstGeom prst="roundRect">
            <a:avLst>
              <a:gd name="adj" fmla="val 191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7099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4108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</a:rPr>
              <a:t>Idea clave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24028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</a:rPr>
              <a:t>Cada servicio, cuenta, permiso o programa que no es imprescindible es una oportunidad gratuita para el atacante. Bastionar es quitarle oportunidades.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superficie de ataque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conjunto de puntos por los que un atacante podría intentar entrar o causar daño: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Servicios en escucha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Programas que aceptan conexiones desde la red.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187452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1854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Puertos abiertos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265176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Cada puerto abierto es una puerta que hay que vigilar.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187452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1854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Cuentas de usuario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265176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Cuentas sin uso, compartidas o con contraseñas débiles.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20624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44074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51713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43891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Software instalado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98348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Todo lo instalado puede tener vulnerabilidades y hay que actualizarlo.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37304" y="420624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38472" y="44074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51713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14544" y="43891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Permisos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4565904" y="498348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Ficheros, carpetas y privilegios más amplios de lo necesario.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25968" y="4206240"/>
            <a:ext cx="3514344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27136" y="440740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864" y="451713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903208" y="438912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Interfaces de administración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354568" y="498348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SSH, paneles web o consolas de bases de datos expuestos.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del bastionado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Mínima funcionalidad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Solo se instalan y activan los servicios y programas que el sistema necesita para su función.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Mínimo privilegio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Cada usuario, proceso o servicio tiene únicamente los permisos imprescindibles, y solo el tiempo necesario.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Defensa en profundidad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Varias capas superpuestas: si una falla, las demás siguen protegiendo.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Seguro por defecto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Lo que no está expresamente permitido, está denegado.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337304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14544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Mantenimiento continuo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65904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Actualizar, revisar y auditar periódicamente: aparecen vulnerabilidades nuevas y la configuración cambia.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trabajo del bastionado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método que seguiréis en todas las prácticas de la unidad: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035454" cy="31089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Inventariar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16696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Saber qué hay: servicios, puertos, usuarios, software y versiones.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2694" y="2057400"/>
            <a:ext cx="2035454" cy="31089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95574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557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995574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Auditar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995574" y="3429000"/>
            <a:ext cx="16696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Compararlo con una configuración segura de referencia.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76749" y="2057400"/>
            <a:ext cx="2035454" cy="31089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9629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9629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59629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Corregir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59629" y="3429000"/>
            <a:ext cx="16696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Aplicar las medidas, empezando por los fallos de mayor riesgo.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40803" y="2057400"/>
            <a:ext cx="2035454" cy="31089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3683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23683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523683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Verificar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23683" y="3429000"/>
            <a:ext cx="16696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Comprobar que la medida funciona y que el sistema sigue cumpliendo su función.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04858" y="2057400"/>
            <a:ext cx="2035454" cy="31089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7738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8773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787738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Documentar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87738" y="3429000"/>
            <a:ext cx="16696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Qué se ha cambiado, por qué, cómo y cómo se ha verificado.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Una medida que no se ha </a:t>
            </a:r>
            <a:r>
              <a:rPr lang="en-US" sz="1600" b="1" dirty="0">
                <a:solidFill>
                  <a:srgbClr val="1F2A37"/>
                </a:solidFill>
              </a:rPr>
              <a:t>verificado</a:t>
            </a:r>
            <a:r>
              <a:rPr lang="en-US" sz="1600" dirty="0">
                <a:solidFill>
                  <a:srgbClr val="1F2A37"/>
                </a:solidFill>
              </a:rPr>
              <a:t> no se puede dar por hecha, y una que no se ha </a:t>
            </a:r>
            <a:r>
              <a:rPr lang="en-US" sz="1600" b="1" dirty="0">
                <a:solidFill>
                  <a:srgbClr val="1F2A37"/>
                </a:solidFill>
              </a:rPr>
              <a:t>documentado</a:t>
            </a:r>
            <a:r>
              <a:rPr lang="en-US" sz="1600" dirty="0">
                <a:solidFill>
                  <a:srgbClr val="1F2A37"/>
                </a:solidFill>
              </a:rPr>
              <a:t> es como si no existiera.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partir de cero: guías de bastionado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Organismos de referencia publican las medidas recomendadas para cada sistema operativo o producto: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7685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14884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CIS Benchmarks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432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Center for Internet Security. Recomendaciones numeradas y justificadas para la mayoría de sistemas, servidores y aplicaciones.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19659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2768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14884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Guías CCN-STIC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27432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Centro Criptológico Nacional. Referencia en España y obligatorias para los sistemas sujetos al Esquema Nacional de Seguridad (ENS).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19659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27685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14884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Documentación del fabricante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27432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Por ejemplo, el manual de seguridad de Debian o las líneas base de seguridad (security baselines) de Microsoft.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Configuración segura del sistema operativo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Servicios: qué son y por qué sobran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 demonio en Linux) es un programa que se ejecuta en segundo plano. Muchos abren un puerto y quedan a la escucha de conexiones. Un servicio innecesario es un riesgo porque: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6426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146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Amplía la superficie de ataque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089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Si tiene una vulnerabilidad, se puede explotar aunque nadie lo use.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23317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5328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6426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5146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Suele quedar olvidado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31089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No se actualiza, no se configura de forma segura y no se vigila.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23317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5328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6426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5146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Genera ruido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31089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Consume recursos y genera registros que dificultan detectar la actividad realmente sospechosa.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los servicios y los puertos en escucha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Debian los servicios se gestionan con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mediante la orden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706624"/>
          </a:xfrm>
          <a:prstGeom prst="roundRect">
            <a:avLst>
              <a:gd name="adj" fmla="val 202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Servicios que se están ejecutando ahora mismo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list-units --type=service --state=running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Servicios configurados para arrancar con el sistema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list-unit-files --type=service --state=enabled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Puertos TCP y UDP en escucha y el proceso que los abre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 -tulpn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554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554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En ejecución</a:t>
            </a:r>
            <a:r>
              <a:rPr lang="en-US" sz="1600" dirty="0">
                <a:solidFill>
                  <a:srgbClr val="1F2A37"/>
                </a:solidFill>
              </a:rPr>
              <a:t> (running) es el estado de ahora mismo. </a:t>
            </a:r>
            <a:r>
              <a:rPr lang="en-US" sz="1600" b="1" dirty="0">
                <a:solidFill>
                  <a:srgbClr val="1F2A37"/>
                </a:solidFill>
              </a:rPr>
              <a:t>Habilitado</a:t>
            </a:r>
            <a:r>
              <a:rPr lang="en-US" sz="1600" dirty="0">
                <a:solidFill>
                  <a:srgbClr val="1F2A37"/>
                </a:solidFill>
              </a:rPr>
              <a:t> (enabled) es lo que arranca solo al encender el equipo. No tienen por qué coincidir.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 la salida de ss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importante es la dirección local: indica desde dónde se puede llegar al servicio.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1645920"/>
          </a:xfrm>
          <a:prstGeom prst="roundRect">
            <a:avLst>
              <a:gd name="adj" fmla="val 333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Netid State  Local Address:Port  Process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LISTEN 0.0.0.0:22          users:(("sshd",pid=612))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LISTEN 127.0.0.1:3306      users:(("mariadbd",pid=701))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LISTEN 0.0.0.0:631         users:(("cupsd",pid=588))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794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</a:t>
            </a:r>
            <a:r>
              <a:rPr lang="en-US" sz="1600" dirty="0">
                <a:solidFill>
                  <a:srgbClr val="1F2A37"/>
                </a:solidFill>
              </a:rPr>
              <a:t> o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[::]</a:t>
            </a:r>
            <a:r>
              <a:rPr lang="en-US" sz="1600" dirty="0">
                <a:solidFill>
                  <a:srgbClr val="1F2A37"/>
                </a:solidFill>
              </a:rPr>
              <a:t>: escucha en </a:t>
            </a:r>
            <a:r>
              <a:rPr lang="en-US" sz="1600" b="1" dirty="0">
                <a:solidFill>
                  <a:srgbClr val="1F2A37"/>
                </a:solidFill>
              </a:rPr>
              <a:t>todas</a:t>
            </a:r>
            <a:r>
              <a:rPr lang="en-US" sz="1600" dirty="0">
                <a:solidFill>
                  <a:srgbClr val="1F2A37"/>
                </a:solidFill>
              </a:rPr>
              <a:t> las interfaces, accesible desde la red.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</a:t>
            </a:r>
            <a:r>
              <a:rPr lang="en-US" sz="1600" dirty="0">
                <a:solidFill>
                  <a:srgbClr val="1F2A37"/>
                </a:solidFill>
              </a:rPr>
              <a:t> o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[::1]</a:t>
            </a:r>
            <a:r>
              <a:rPr lang="en-US" sz="1600" dirty="0">
                <a:solidFill>
                  <a:srgbClr val="1F2A37"/>
                </a:solidFill>
              </a:rPr>
              <a:t>: solo accesible desde el </a:t>
            </a:r>
            <a:r>
              <a:rPr lang="en-US" sz="1600" b="1" dirty="0">
                <a:solidFill>
                  <a:srgbClr val="1F2A37"/>
                </a:solidFill>
              </a:rPr>
              <a:t>propio equipo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servicios son necesarios?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lista universal. La pregunta es: ¿qué función del sistema dejaría de funcionar si lo desactivo?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325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¿Necesario en un servidor web?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Administración remota segura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si se administra en remoto (bastionándolo)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apache2 / nginx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web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Sí: es la función del servidor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de impresión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avahi-daemon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Descubrimiento de servicios en la red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exim4 / postfix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de correo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si debe enviar correo, y escuchando en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telnet, ftp, rsh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remoto y transferencia sin cifrar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Nunca: se sustituyen por SSH y SFTP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¿Qué sobra en srv-ficheros?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Recupera la tabla de puertos en escucha de tu práctica de la UT1 (apartado B.3.1).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srv-ficheros es el servidor de ficheros y nóminas de DeltaSoft y se administra en remoto. Para cada servicio decide si se </a:t>
            </a:r>
            <a:r>
              <a:rPr lang="en-US" sz="1700" b="1" dirty="0">
                <a:solidFill>
                  <a:srgbClr val="1F2A37"/>
                </a:solidFill>
              </a:rPr>
              <a:t>mantiene</a:t>
            </a:r>
            <a:r>
              <a:rPr lang="en-US" sz="1700" dirty="0">
                <a:solidFill>
                  <a:srgbClr val="1F2A37"/>
                </a:solidFill>
              </a:rPr>
              <a:t>, se </a:t>
            </a:r>
            <a:r>
              <a:rPr lang="en-US" sz="1700" b="1" dirty="0">
                <a:solidFill>
                  <a:srgbClr val="1F2A37"/>
                </a:solidFill>
              </a:rPr>
              <a:t>limita a local</a:t>
            </a:r>
            <a:r>
              <a:rPr lang="en-US" sz="1700" dirty="0">
                <a:solidFill>
                  <a:srgbClr val="1F2A37"/>
                </a:solidFill>
              </a:rPr>
              <a:t> o se </a:t>
            </a:r>
            <a:r>
              <a:rPr lang="en-US" sz="1700" b="1" dirty="0">
                <a:solidFill>
                  <a:srgbClr val="1F2A37"/>
                </a:solidFill>
              </a:rPr>
              <a:t>elimina</a:t>
            </a:r>
            <a:r>
              <a:rPr lang="en-US" sz="1700" dirty="0">
                <a:solidFill>
                  <a:srgbClr val="1F2A37"/>
                </a:solidFill>
              </a:rPr>
              <a:t>, y justifícalo en una frase.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22064" y="329184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4944" y="338328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apache2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(80)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5488" y="329184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8368" y="338328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(21)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6918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96062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smbd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(139, 445)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22064" y="486918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4944" y="496062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nmbd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(UDP 137, 138)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5488" y="4869180"/>
            <a:ext cx="3544824" cy="1348740"/>
          </a:xfrm>
          <a:prstGeom prst="roundRect">
            <a:avLst>
              <a:gd name="adj" fmla="val 542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8368" y="4960620"/>
            <a:ext cx="317906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mariadbd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(3306)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 un servicio: de menos a más contundente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01468" cy="329184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stop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22357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stop</a:t>
            </a:r>
            <a:r>
              <a:rPr lang="en-US" sz="1400" dirty="0">
                <a:solidFill>
                  <a:srgbClr val="4A5B6E"/>
                </a:solidFill>
              </a:rPr>
              <a:t> lo detiene ahora, pero vuelve a arrancar en el próximo reinicio.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78708" y="1371600"/>
            <a:ext cx="2601468" cy="329184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1588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158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61588" y="21488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disable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743200"/>
            <a:ext cx="22357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disable --now</a:t>
            </a:r>
            <a:r>
              <a:rPr lang="en-US" sz="1400" dirty="0">
                <a:solidFill>
                  <a:srgbClr val="4A5B6E"/>
                </a:solidFill>
              </a:rPr>
              <a:t> lo detiene e impide que arranque con el sistema.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08776" y="1371600"/>
            <a:ext cx="2601468" cy="329184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91656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21488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mask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743200"/>
            <a:ext cx="22357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mask</a:t>
            </a:r>
            <a:r>
              <a:rPr lang="en-US" sz="1400" dirty="0">
                <a:solidFill>
                  <a:srgbClr val="4A5B6E"/>
                </a:solidFill>
              </a:rPr>
              <a:t> lo bloquea: no puede arrancarse ni siquiera como dependencia de otro.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38844" y="1371600"/>
            <a:ext cx="2601468" cy="329184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21724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2172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21724" y="21488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purge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743200"/>
            <a:ext cx="22357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purge</a:t>
            </a:r>
            <a:r>
              <a:rPr lang="en-US" sz="1400" dirty="0">
                <a:solidFill>
                  <a:srgbClr val="4A5B6E"/>
                </a:solidFill>
              </a:rPr>
              <a:t> desinstala el paquete y su configuración. Lo que no está instalado no se puede explotar.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846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Tras cualquier cambio, </a:t>
            </a:r>
            <a:r>
              <a:rPr lang="en-US" sz="1600" b="1" dirty="0">
                <a:solidFill>
                  <a:srgbClr val="1F2A37"/>
                </a:solidFill>
              </a:rPr>
              <a:t>verificar</a:t>
            </a:r>
            <a:r>
              <a:rPr lang="en-US" sz="1600" dirty="0">
                <a:solidFill>
                  <a:srgbClr val="1F2A37"/>
                </a:solidFill>
              </a:rPr>
              <a:t> con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status</a:t>
            </a:r>
            <a:r>
              <a:rPr lang="en-US" sz="1600" dirty="0">
                <a:solidFill>
                  <a:srgbClr val="1F2A37"/>
                </a:solidFill>
              </a:rPr>
              <a:t> y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-tulpn</a:t>
            </a:r>
            <a:r>
              <a:rPr lang="en-US" sz="1600" dirty="0">
                <a:solidFill>
                  <a:srgbClr val="1F2A37"/>
                </a:solidFill>
              </a:rPr>
              <a:t>, y comprobar que el sistema sigue cumpliendo su función.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la escucha de lo que sí se necesita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servicio solo lo usa el propio equipo, debe escuchar únicamente en local. Ejemplo con MariaDB: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121408"/>
          </a:xfrm>
          <a:prstGeom prst="roundRect">
            <a:avLst>
              <a:gd name="adj" fmla="val 2586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/etc/mysql/mariadb.conf.d/50-server.cnf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bind-address = 127.0.0.1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Comprobación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 -tulpn | grep 3306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LISTEN 127.0.0.1:3306   users:(("mariadbd",pid=701))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7024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70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En Debian, MariaDB ya escucha solo en local por defecto: no todas las configuraciones por defecto son inseguras. Hay que </a:t>
            </a:r>
            <a:r>
              <a:rPr lang="en-US" sz="1600" b="1" dirty="0">
                <a:solidFill>
                  <a:srgbClr val="1F2A37"/>
                </a:solidFill>
              </a:rPr>
              <a:t>comprobarlo</a:t>
            </a:r>
            <a:r>
              <a:rPr lang="en-US" sz="1600" dirty="0">
                <a:solidFill>
                  <a:srgbClr val="1F2A37"/>
                </a:solidFill>
              </a:rPr>
              <a:t>, no suponerlo.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en Windows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gestionan desde la consola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services.msc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 desde PowerShell, lo que permite automatizarlo: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Get-Service | Where-Object Status -eq 'Running'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Stop-Service -Name Spooler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Set-Service -Name Spooler -StartupType Disabled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Get-NetTCPConnection -State Listen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749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PrintNightmare (2021):</a:t>
            </a:r>
            <a:r>
              <a:rPr lang="en-US" sz="1600" dirty="0">
                <a:solidFill>
                  <a:srgbClr val="1F2A37"/>
                </a:solidFill>
              </a:rPr>
              <a:t> una vulnerabilidad en la cola de impresión permitía ejecutar código con privilegios de sistema. La recomendación fue deshabilitar el servicio en todos los equipos que no imprimían.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guiada: preparamos el laboratorio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vuestro srv-ficheros, una vez entregada la práctica de la UT1: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035454" cy="35661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Instantánea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16696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 la máquina apagada, instantánea </a:t>
            </a:r>
            <a:r>
              <a:rPr lang="en-US" sz="1400" b="1" dirty="0">
                <a:solidFill>
                  <a:srgbClr val="4A5B6E"/>
                </a:solidFill>
              </a:rPr>
              <a:t>fin-UT1</a:t>
            </a:r>
            <a:r>
              <a:rPr lang="en-US" sz="1400" dirty="0">
                <a:solidFill>
                  <a:srgbClr val="4A5B6E"/>
                </a:solidFill>
              </a:rPr>
              <a:t>. Es vuestro seguro durante toda la unidad.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2694" y="2057400"/>
            <a:ext cx="2035454" cy="35661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95574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557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995574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Reenvío de puertos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995574" y="3429000"/>
            <a:ext cx="16696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Regla en VirtualBox: anfitrión </a:t>
            </a:r>
            <a:r>
              <a:rPr lang="en-US" sz="1400" b="1" dirty="0">
                <a:solidFill>
                  <a:srgbClr val="4A5B6E"/>
                </a:solidFill>
              </a:rPr>
              <a:t>2222</a:t>
            </a:r>
            <a:r>
              <a:rPr lang="en-US" sz="1400" dirty="0">
                <a:solidFill>
                  <a:srgbClr val="4A5B6E"/>
                </a:solidFill>
              </a:rPr>
              <a:t> → invitado </a:t>
            </a:r>
            <a:r>
              <a:rPr lang="en-US" sz="1400" b="1" dirty="0">
                <a:solidFill>
                  <a:srgbClr val="4A5B6E"/>
                </a:solidFill>
              </a:rPr>
              <a:t>22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76749" y="2057400"/>
            <a:ext cx="2035454" cy="35661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9629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9629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59629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SSH desde el anfitrión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59629" y="3429000"/>
            <a:ext cx="16696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2222 usuario@127.0.0.1</a:t>
            </a:r>
            <a:r>
              <a:rPr lang="en-US" sz="1400" dirty="0">
                <a:solidFill>
                  <a:srgbClr val="4A5B6E"/>
                </a:solidFill>
              </a:rPr>
              <a:t> desde el terminal del aula: permite copiar y pegar.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40803" y="2057400"/>
            <a:ext cx="2035454" cy="35661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3683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23683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523683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Lynis inicial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23683" y="3429000"/>
            <a:ext cx="16696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lynis audit system</a:t>
            </a:r>
            <a:r>
              <a:rPr lang="en-US" sz="1400" dirty="0">
                <a:solidFill>
                  <a:srgbClr val="4A5B6E"/>
                </a:solidFill>
              </a:rPr>
              <a:t>. Anotad el </a:t>
            </a:r>
            <a:r>
              <a:rPr lang="en-US" sz="1400" b="1" dirty="0">
                <a:solidFill>
                  <a:srgbClr val="4A5B6E"/>
                </a:solidFill>
              </a:rPr>
              <a:t>índice de bastionado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04858" y="2057400"/>
            <a:ext cx="2035454" cy="3566160"/>
          </a:xfrm>
          <a:prstGeom prst="roundRect">
            <a:avLst>
              <a:gd name="adj" fmla="val 359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7738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8773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787738" y="2834640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Servicios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87738" y="3429000"/>
            <a:ext cx="16696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Aplicad vuestras decisiones de la A1 y verificad con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-tulpn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Parches: vulnerabilidades conocidas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una actualización que corrige uno o varios fallos. Gran parte de los ataques con éxito explotan vulnerabilidades para las que ya había corrección.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408676" cy="3108960"/>
          </a:xfrm>
          <a:prstGeom prst="roundRect">
            <a:avLst>
              <a:gd name="adj" fmla="val 235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Día cero (zero-day)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175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Se explota </a:t>
            </a:r>
            <a:r>
              <a:rPr lang="en-US" sz="1500" b="1" dirty="0">
                <a:solidFill>
                  <a:srgbClr val="1F2A37"/>
                </a:solidFill>
              </a:rPr>
              <a:t>antes</a:t>
            </a:r>
            <a:r>
              <a:rPr lang="en-US" sz="1500" dirty="0">
                <a:solidFill>
                  <a:srgbClr val="1F2A37"/>
                </a:solidFill>
              </a:rPr>
              <a:t> de que exista un parche.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Solo protegen otras capas de defensa.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Son poco frecuentes y muy valiosas para los atacantes.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31636" y="2148840"/>
            <a:ext cx="5408676" cy="3108960"/>
          </a:xfrm>
          <a:prstGeom prst="roundRect">
            <a:avLst>
              <a:gd name="adj" fmla="val 235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60236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4871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54596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Vulnerabilidad conocida (n-day)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505956" y="30175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Ya existe</a:t>
            </a:r>
            <a:r>
              <a:rPr lang="en-US" sz="1500" dirty="0">
                <a:solidFill>
                  <a:srgbClr val="1F2A37"/>
                </a:solidFill>
              </a:rPr>
              <a:t> un parche publicado.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Los atacantes analizan la corrección para crear exploits.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Cada día sin aplicarlo aumenta el riesgo.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Aplicar los parches de seguridad con rapidez es la medida con mejor relación entre esfuerzo y beneficio.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gestión de parches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organización no basta con instalar todo lo que aparece: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Inventario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Qué sistemas, versiones y software hay, y si tienen soporte.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35352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18232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1823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18232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Vigilancia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618232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Avisos del fabricante (en Debian, los DSA) y de INCIBE-CERT o CCN-CERT.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22064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04944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0494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04944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Priorización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04944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Primero lo crítico: CVSS alto, explotación activa, sistemas expuestos.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08776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91656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9165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1656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Pruebas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391656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sistemas críticos, probar antes en un entorno de pruebas.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95488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78368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83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78368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Despliegue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78368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una ventana de mantenimiento y con plan de vuelta atrás.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982200" y="2057400"/>
            <a:ext cx="1658112" cy="356616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6508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6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165080" y="28346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Verificación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0165080" y="3429000"/>
            <a:ext cx="129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Comprobar que está instalado, que todo funciona y reiniciar si hace falta.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sin soporte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Cuando un fabricante deja de dar soporte a una versión (end of life, EOL), ya no publica parches: cualquier vulnerabilidad nueva quedará abierta para siempre.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Ejemplo: </a:t>
            </a:r>
            <a:r>
              <a:rPr lang="en-US" sz="1700" b="1" dirty="0">
                <a:solidFill>
                  <a:srgbClr val="1F2A37"/>
                </a:solidFill>
              </a:rPr>
              <a:t>Windows 10</a:t>
            </a:r>
            <a:r>
              <a:rPr lang="en-US" sz="1700" dirty="0">
                <a:solidFill>
                  <a:srgbClr val="1F2A37"/>
                </a:solidFill>
              </a:rPr>
              <a:t> dejó de recibir actualizaciones gratuitas en octubre de 2025. Desde entonces solo las reciben quienes pagan el programa de actualizaciones extendidas (ESU).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Mantener sistemas sin soporte es, en sí mismo, una </a:t>
            </a:r>
            <a:r>
              <a:rPr lang="en-US" sz="1700" b="1" dirty="0">
                <a:solidFill>
                  <a:srgbClr val="1F2A37"/>
                </a:solidFill>
              </a:rPr>
              <a:t>configuración insegura</a:t>
            </a:r>
            <a:r>
              <a:rPr lang="en-US" sz="1700" dirty="0">
                <a:solidFill>
                  <a:srgbClr val="1F2A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Prioriza los parches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Ordena estos cuatro avisos de seguridad de DeltaSoft de mayor a menor prioridad y justifica el orden.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4480560"/>
                <a:gridCol w="4416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afectado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web publicado en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Explotación activa conocida (catálogo KEV)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 de un equipo interno aislado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explotación conocida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SSH expuesto a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exploit público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Librería en el portátil de un desarrollador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explotación conocida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Actualizaciones en Debian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parches de seguridad llegan por el repositorio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trixie-security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(Debian 13), que debe estar configurado.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414016"/>
          </a:xfrm>
          <a:prstGeom prst="roundRect">
            <a:avLst>
              <a:gd name="adj" fmla="val 227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actualizar la lista de paquetes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list --upgradable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ver qué tiene actualización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upgrade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instalar las actualizaciones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full-upgrade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también si cambian dependencias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Vulnerabilidades conocidas que afectan a lo instalado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debsecan --suite trixie --only-fixed --format packages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628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5628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debsecan</a:t>
            </a:r>
            <a:r>
              <a:rPr lang="en-US" sz="1600" dirty="0">
                <a:solidFill>
                  <a:srgbClr val="1F2A37"/>
                </a:solidFill>
              </a:rPr>
              <a:t> cruza los paquetes instalados con la base de datos de seguridad de Debian: permite ver el antes y el después de actualizar.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Actualizaciones automáticas de seguridad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 depender de que alguien se acuerde de actualizar: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706624"/>
          </a:xfrm>
          <a:prstGeom prst="roundRect">
            <a:avLst>
              <a:gd name="adj" fmla="val 202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unattended-upgrades apt-listchanges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dpkg-reconfigure -plow unattended-upgrades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Simular una ejecución para comprobar que funciona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unattended-upgrade --dry-run --debug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¿Qué servicios hay que reiniciar tras actualizar?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needrestart -r 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554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554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Por defecto instala solo las actualizaciones </a:t>
            </a:r>
            <a:r>
              <a:rPr lang="en-US" sz="1600" b="1" dirty="0">
                <a:solidFill>
                  <a:srgbClr val="1F2A37"/>
                </a:solidFill>
              </a:rPr>
              <a:t>de seguridad</a:t>
            </a:r>
            <a:r>
              <a:rPr lang="en-US" sz="1600" dirty="0">
                <a:solidFill>
                  <a:srgbClr val="1F2A37"/>
                </a:solidFill>
              </a:rPr>
              <a:t>. Las del núcleo no son efectivas hasta </a:t>
            </a:r>
            <a:r>
              <a:rPr lang="en-US" sz="1600" b="1" dirty="0">
                <a:solidFill>
                  <a:srgbClr val="1F2A37"/>
                </a:solidFill>
              </a:rPr>
              <a:t>reiniciar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Actualizaciones en Windows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Windows Update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Parches de seguridad mensuales, el segundo martes de cada mes (Patch Tuesday), salvo urgencias fuera de ciclo.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Gestión centralizada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las organizaciones no se deja que cada equipo se actualice solo: WSUS, Microsoft Intune o directivas de grupo.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Qué permite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Aprobar y probar los parches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Programar su instalación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Comprobar qué equipos los tienen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medidas de configuración segura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Proteger el arranque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Contraseña en BIOS/UEFI, Secure Boot y, en entornos sensibles, contraseña en GRUB.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Eliminar software innecesario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Compiladores, herramientas de red o entornos gráficos que un servidor no necesita.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Sincronizar la hora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 NTP. Imprescindible para correlacionar registros de varios equipos.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Conservar los registros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Los logs serán la base de la monitorización en la UT3.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337304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14544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Avisos legales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65904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Banners al iniciar sesión: acceso restringido a personas autorizadas.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Contraseñas seguras y políticas de gestión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atacan las contraseñas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Fuerza bruta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Probar todas las combinaciones posibles. Depende de la longitud y del conjunto de caracteres.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Diccionario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Palabras y contraseñas habituales con variaciones típicas: Verano2025!, P@ssw0rd…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Credential stuffing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Usuarios y contraseñas filtrados en otros servicios, aprovechando la reutilización.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Password spraying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Pocas contraseñas muy comunes contra muchas cuentas, sin llegar al bloqueo.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337304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14544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Cracking offline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65904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Robar el fichero de hashes y atacarlo en su equipo, sin límite de intentos.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8125968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864" y="4242816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03208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Phishing y keyloggers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54568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Engañar a la víctima o capturar lo que teclea. La calidad de la contraseña no sirve.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línea frente a offline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099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Ataque en línea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Se prueba contra el servicio real (SSH, web…).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Hay límite: bloqueos, retardos, registros.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Lo frenan el </a:t>
            </a:r>
            <a:r>
              <a:rPr lang="en-US" sz="1500" b="1" dirty="0">
                <a:solidFill>
                  <a:srgbClr val="1F2A37"/>
                </a:solidFill>
              </a:rPr>
              <a:t>bloqueo por intentos</a:t>
            </a:r>
            <a:r>
              <a:rPr lang="en-US" sz="1500" dirty="0">
                <a:solidFill>
                  <a:srgbClr val="1F2A37"/>
                </a:solidFill>
              </a:rPr>
              <a:t> y la MFA.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31636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4596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Ataque offline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05956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Se atacan los hashes robados en el equipo del atacante.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Sin límite de intentos ni bloqueos: miles de millones por segundo.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Solo lo frena una contraseña </a:t>
            </a:r>
            <a:r>
              <a:rPr lang="en-US" sz="1500" b="1" dirty="0">
                <a:solidFill>
                  <a:srgbClr val="1F2A37"/>
                </a:solidFill>
              </a:rPr>
              <a:t>larga</a:t>
            </a:r>
            <a:r>
              <a:rPr lang="en-US" sz="1500" dirty="0">
                <a:solidFill>
                  <a:srgbClr val="1F2A37"/>
                </a:solidFill>
              </a:rPr>
              <a:t> y un algoritmo </a:t>
            </a:r>
            <a:r>
              <a:rPr lang="en-US" sz="1500" b="1" dirty="0">
                <a:solidFill>
                  <a:srgbClr val="1F2A37"/>
                </a:solidFill>
              </a:rPr>
              <a:t>lento</a:t>
            </a:r>
            <a:r>
              <a:rPr lang="en-US" sz="1500" dirty="0">
                <a:solidFill>
                  <a:srgbClr val="1F2A37"/>
                </a:solidFill>
              </a:rPr>
              <a:t>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Una contraseña larga y única protege frente a casi todo, </a:t>
            </a:r>
            <a:r>
              <a:rPr lang="en-US" sz="1600" b="1" dirty="0">
                <a:solidFill>
                  <a:srgbClr val="1F2A37"/>
                </a:solidFill>
              </a:rPr>
              <a:t>excepto el phishing</a:t>
            </a:r>
            <a:r>
              <a:rPr lang="en-US" sz="1600" dirty="0">
                <a:solidFill>
                  <a:srgbClr val="1F2A37"/>
                </a:solidFill>
              </a:rPr>
              <a:t>. Por eso necesitamos la MFA.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guardan: hash y sal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bien diseñado nunca guarda la contraseña: guarda su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resultado de una función de un solo sentido.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Contraseña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 que escribe el usuario: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Clase2026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1588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15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+ Sal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Valor aleatorio distinto para cada usuario: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Fq3r…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8776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Función hash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Lenta a propósito (yescrypt). No se puede invertir.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38844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1724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17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 guarda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21724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$y$j9T$Fq3r…$Kd8s…</a:t>
            </a:r>
            <a:r>
              <a:rPr lang="en-US" sz="1400" dirty="0">
                <a:solidFill>
                  <a:srgbClr val="4A5B6E"/>
                </a:solidFill>
              </a:rPr>
              <a:t> en /etc/shadow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Al iniciar sesión se vuelve a calcular el hash y se compara. Gracias a la </a:t>
            </a:r>
            <a:r>
              <a:rPr lang="en-US" sz="1600" b="1" dirty="0">
                <a:solidFill>
                  <a:srgbClr val="1F2A37"/>
                </a:solidFill>
              </a:rPr>
              <a:t>sal</a:t>
            </a:r>
            <a:r>
              <a:rPr lang="en-US" sz="1600" dirty="0">
                <a:solidFill>
                  <a:srgbClr val="1F2A37"/>
                </a:solidFill>
              </a:rPr>
              <a:t>, dos usuarios con la misma contraseña tienen hashes distintos.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fichero /etc/shadow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puede leer el administrador (permisos 640, root:shadow). Cada línea tiene varios campos: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706624"/>
          </a:xfrm>
          <a:prstGeom prst="roundRect">
            <a:avLst>
              <a:gd name="adj" fmla="val 202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ana:$y$j9T$Fq3r…$Kd8s…:20376:1:90:7:::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           usuario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$y$j9T$…       hash: $y$ indica yescrypt, luego la sal y el hash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20376          último cambio (días desde el 1/1/1970)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   días mínimos entre cambios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            validez máxima en días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          días de aviso antes de caducar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554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554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Si aparece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$1$</a:t>
            </a:r>
            <a:r>
              <a:rPr lang="en-US" sz="1600" dirty="0">
                <a:solidFill>
                  <a:srgbClr val="1F2A37"/>
                </a:solidFill>
              </a:rPr>
              <a:t> (MD5), es una configuración heredada insegura que hay que corregir.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guardáis contraseñas en vuestras aplicaciones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08676" cy="4846320"/>
          </a:xfrm>
          <a:prstGeom prst="roundRect">
            <a:avLst>
              <a:gd name="adj" fmla="val 1509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099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Algoritmos adecuados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402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Argon2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bcrypt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scrypt</a:t>
            </a:r>
            <a:r>
              <a:rPr lang="en-US" sz="1500" dirty="0">
                <a:solidFill>
                  <a:srgbClr val="1F2A37"/>
                </a:solidFill>
              </a:rPr>
              <a:t> o </a:t>
            </a:r>
            <a:r>
              <a:rPr lang="en-US" sz="1500" b="1" dirty="0">
                <a:solidFill>
                  <a:srgbClr val="1F2A37"/>
                </a:solidFill>
              </a:rPr>
              <a:t>yescrypt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Diseñados para ser lentos y usar memoria: encarecen el cracking offline.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31636" y="1371600"/>
            <a:ext cx="5408676" cy="4846320"/>
          </a:xfrm>
          <a:prstGeom prst="roundRect">
            <a:avLst>
              <a:gd name="adj" fmla="val 1509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4596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Nunca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05956" y="22402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Contraseñas en claro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MD5</a:t>
            </a:r>
            <a:r>
              <a:rPr lang="en-US" sz="1500" dirty="0">
                <a:solidFill>
                  <a:srgbClr val="1F2A37"/>
                </a:solidFill>
              </a:rPr>
              <a:t> o </a:t>
            </a:r>
            <a:r>
              <a:rPr lang="en-US" sz="1500" b="1" dirty="0">
                <a:solidFill>
                  <a:srgbClr val="1F2A37"/>
                </a:solidFill>
              </a:rPr>
              <a:t>SHA-1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37"/>
                </a:solidFill>
              </a:rPr>
              <a:t>SHA-256</a:t>
            </a:r>
            <a:r>
              <a:rPr lang="en-US" sz="1500" dirty="0">
                <a:solidFill>
                  <a:srgbClr val="1F2A37"/>
                </a:solidFill>
              </a:rPr>
              <a:t> sin más: es rápido, y eso aquí es un defecto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Cifrado reversible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frente a complejidad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8 caracteres de 95 posibles ≈ 6,6 · 10^15 combinaciones.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16 letras minúsculas ≈ 4,4 · 10^22: unos 6,6 millones de veces más.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Añadir </a:t>
            </a:r>
            <a:r>
              <a:rPr lang="en-US" sz="1700" b="1" dirty="0">
                <a:solidFill>
                  <a:srgbClr val="1F2A37"/>
                </a:solidFill>
              </a:rPr>
              <a:t>longitud</a:t>
            </a:r>
            <a:r>
              <a:rPr lang="en-US" sz="1700" dirty="0">
                <a:solidFill>
                  <a:srgbClr val="1F2A37"/>
                </a:solidFill>
              </a:rPr>
              <a:t> aporta mucho más que añadir tipos de caracteres.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Obligadas a usar símbolos y mayúsculas, las personas siguen patrones previsibles (mayúscula al principio, número y símbolo al final), que los diccionarios conocen.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segura una contraseña hoy?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Es larga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Al menos 15 caracteres si es el único factor. Las </a:t>
            </a:r>
            <a:r>
              <a:rPr lang="en-US" sz="1400" b="1" dirty="0">
                <a:solidFill>
                  <a:srgbClr val="4A5B6E"/>
                </a:solidFill>
              </a:rPr>
              <a:t>frases de contraseña</a:t>
            </a:r>
            <a:r>
              <a:rPr lang="en-US" sz="1400" dirty="0">
                <a:solidFill>
                  <a:srgbClr val="4A5B6E"/>
                </a:solidFill>
              </a:rPr>
              <a:t> son largas y fáciles de recordar.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31636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2804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08876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Es única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60236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No se reutiliza en ningún otro servicio: una filtración no compromete otras cuentas.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No es predecible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Sin datos personales ni palabras del contexto, y fuera de las listas de contraseñas filtradas.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31636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08876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 guarda bien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60236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un </a:t>
            </a:r>
            <a:r>
              <a:rPr lang="en-US" sz="1400" b="1" dirty="0">
                <a:solidFill>
                  <a:srgbClr val="4A5B6E"/>
                </a:solidFill>
              </a:rPr>
              <a:t>gestor de contraseñas</a:t>
            </a:r>
            <a:r>
              <a:rPr lang="en-US" sz="1400" dirty="0">
                <a:solidFill>
                  <a:srgbClr val="4A5B6E"/>
                </a:solidFill>
              </a:rPr>
              <a:t> (Bitwarden, KeePassXC), que genera una distinta para cada servicio.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¿Cuánto resiste?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Para cada contraseña, estima si resistiría y qué ataque la rompería antes.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22064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4944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Verano2025!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5488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8368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Xk9#p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P@ssw0rd2025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22064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4944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caballo tren nube lapiz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95488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8368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caracteres aleatorios guardados en un gestor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de una política de contraseñas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el conjunto de reglas que la organización establece y que el sistema obliga a cumplir.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controla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mínima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mínimo de caracteres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Tipos de caracteres obligatorios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prohibidas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Rechazo de contraseñas comunes, filtradas o que contienen el usuario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Caducidad (periodicidad de cambio)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Validez máxima antes de obligar a cambiarla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Vigencia mínima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mínimo antes de poder volver a cambiarla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Contraseñas anteriores que no se pueden reutilizar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Bloqueo por intentos fallidos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Cuántos fallos bloquean la cuenta y durante cuánto 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clásica frente a recomendación actual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actual: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800-63B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revisión 4 (agosto de 2025).</a:t>
            </a:r>
            <a:endParaRPr lang="en-US" sz="17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690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 clásica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NIST 800-63B rev.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mínima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caracteres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si es el único factor; 8 si forma parte de MFA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máxima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Admitir al menos 64, con espacios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Obligatoria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imponer reglas de composición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prohibidas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usaba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Obligatorio comprobarla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periódico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30-90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si hay indicios de compromiso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Pistas y preguntas de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Habituales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permitirlas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Gestores de contraseñas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veces bloqueados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Permitirlos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 desaparecido la caducidad?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La caducidad forzada a todo el mundo empeora las contraseñas (Otoño2025! pasa a Invierno2025!), pero sigue teniendo sentido en casos concretos: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4414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5511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42316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Cuentas privilegiadas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175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Administradores: el daño de un compromiso es máximo.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90138" y="224028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91306" y="24414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34" y="255117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7378" y="242316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Cuentas compartidas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618738" y="30175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Las conocen varias personas o aplicaciones.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1636" y="224028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32804" y="24414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255117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08876" y="242316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Sospecha de compromiso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60236" y="30175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Una filtración, un phishing o un equipo infectado.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073134" y="224028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74302" y="24414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030" y="2551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850374" y="242316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Normativa o cliente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301734" y="30175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Cuando lo exige un esquema de certificación o un contrato.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La política de DeltaSoft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Elige un valor para cada parámetro de la política de contraseñas de DeltaSoft y justifica dos de ellos. La política que acordemos es la que aplicaréis en la Práctica 1.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mínima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78708" y="274320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1588" y="283464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8776" y="274320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283464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prohibidas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38844" y="274320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1724" y="283464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Caducidad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9486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8630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Vigencia mínima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78708" y="459486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1588" y="468630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8776" y="4594860"/>
            <a:ext cx="2601468" cy="1623060"/>
          </a:xfrm>
          <a:prstGeom prst="roundRect">
            <a:avLst>
              <a:gd name="adj" fmla="val 45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4686300"/>
            <a:ext cx="223570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por intentos fallidos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política en Linux: quién controla qué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controla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/etc/login.defs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Caducidad por defecto de las cuentas que se creen a partir de ese momento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Caducidad de las cuentas que ya existen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pam_pwquality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Longitud, complejidad y diccionario al cambiar la contraseña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pam_pwhistory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Historial de contraseñas anteriores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pam_faillock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Bloqueo de la cuenta tras varios intentos fallidos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Los tres últimos son módulos de </a:t>
            </a:r>
            <a:r>
              <a:rPr lang="en-US" sz="1600" b="1" dirty="0">
                <a:solidFill>
                  <a:srgbClr val="1F2A37"/>
                </a:solidFill>
              </a:rPr>
              <a:t>PAM</a:t>
            </a:r>
            <a:r>
              <a:rPr lang="en-US" sz="1600" dirty="0">
                <a:solidFill>
                  <a:srgbClr val="1F2A37"/>
                </a:solidFill>
              </a:rPr>
              <a:t>. Un error en su configuración puede impedir iniciar sesión, incluso al administrador.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PAM: cómo autentica Linux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(Pluggable Authentication Modules) es la pieza que usan login, ssh, su, sudo o passwd para autenticar: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01468" cy="265176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Un programa pide autenticar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2235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Por ejemplo,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- ana</a:t>
            </a:r>
            <a:r>
              <a:rPr lang="en-US" sz="1400" dirty="0">
                <a:solidFill>
                  <a:srgbClr val="4A5B6E"/>
                </a:solidFill>
              </a:rPr>
              <a:t> o un inicio de sesión por SSH.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265176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1588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15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Consulta /etc/pam.d/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3566160"/>
            <a:ext cx="2235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Debian: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common-auth</a:t>
            </a:r>
            <a:r>
              <a:rPr lang="en-US" sz="1400" dirty="0">
                <a:solidFill>
                  <a:srgbClr val="4A5B6E"/>
                </a:solidFill>
              </a:rPr>
              <a:t>,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common-account</a:t>
            </a:r>
            <a:r>
              <a:rPr lang="en-US" sz="1400" dirty="0">
                <a:solidFill>
                  <a:srgbClr val="4A5B6E"/>
                </a:solidFill>
              </a:rPr>
              <a:t> y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common-password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8776" y="2194560"/>
            <a:ext cx="2601468" cy="265176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Ejecuta los módulos en orden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566160"/>
            <a:ext cx="2235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Cada uno hace una comprobación: bloqueo, calidad, historial, contraseña…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38844" y="2194560"/>
            <a:ext cx="2601468" cy="265176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1724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17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Decide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21724" y="3566160"/>
            <a:ext cx="2235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Según el resultado de cada módulo, se permite o se deniega.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Antes de tocar PAM:</a:t>
            </a:r>
            <a:r>
              <a:rPr lang="en-US" sz="1600" dirty="0">
                <a:solidFill>
                  <a:srgbClr val="1F2A37"/>
                </a:solidFill>
              </a:rPr>
              <a:t> instantánea, copia de /etc/pam.d y una sesión de root abierta que no se cierra hasta comprobar que todo funciona.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Caducidad: login.defs y chage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2999232"/>
          </a:xfrm>
          <a:prstGeom prst="roundRect">
            <a:avLst>
              <a:gd name="adj" fmla="val 182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3447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/etc/login.defs: valores para las cuentas NUEVAS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PASS_MAX_DAYS   90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PASS_MIN_DAYS   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PASS_WARN_AGE   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Cuentas que ya existen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chage -l ana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consultar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chage -M 90 -m 1 -W 7 ana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aplicar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chage -d 0 ana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obligar a cambiarla al entrar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5079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07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Error muy frecuente: modificar login.defs y creer que afecta a todos. </a:t>
            </a:r>
            <a:r>
              <a:rPr lang="en-US" sz="1600" b="1" dirty="0">
                <a:solidFill>
                  <a:srgbClr val="1F2A37"/>
                </a:solidFill>
              </a:rPr>
              <a:t>Solo afecta a las cuentas que se creen después.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y complejidad: pam_pwquality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instala con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libpam-pwquality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se configura en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/etc/security/pwquality.conf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121408"/>
          </a:xfrm>
          <a:prstGeom prst="roundRect">
            <a:avLst>
              <a:gd name="adj" fmla="val 2586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 = 12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longitud mínima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minclass = 3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mínimo de tipos de caracteres distintos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dictcheck = 1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rechazar palabras de diccionario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usercheck = 1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rechazar si contiene el nombre de usuario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maxrepeat = 3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máximo de caracteres iguales seguidos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enforce_for_root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aplicar también a root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7024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70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dcredit = -1</a:t>
            </a:r>
            <a:r>
              <a:rPr lang="en-US" sz="1600" dirty="0">
                <a:solidFill>
                  <a:srgbClr val="1F2A37"/>
                </a:solidFill>
              </a:rPr>
              <a:t> significa "al menos un dígito". Con valor positivo cambia de sentido: cada dígito cuenta como longitud extra. Usad valores negativos o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minclass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política: tres trampas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política se verifica intentando poner contraseñas que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cumplen y comprobando que se rechazan. Cuidado con: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140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2860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Probar como root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803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Si root cambia la contraseña de otro, la política solo avisa y la cambia igualmente. Probad como el propio usuario, o con enforce_for_root.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21031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3042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4140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2860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Cuentas existentes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28803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login.defs no les afecta: comprobad con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chage -l</a:t>
            </a:r>
            <a:r>
              <a:rPr lang="en-US" sz="1400" dirty="0">
                <a:solidFill>
                  <a:srgbClr val="4A5B6E"/>
                </a:solidFill>
              </a:rPr>
              <a:t> cada cuenta.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21031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3042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4140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2860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su desde root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28803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root no necesita contraseña para su: no se registra ningún fallo. Probad el bloqueo desde un usuario sin privilegios.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y bloqueo por intentos fallidos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2999232"/>
          </a:xfrm>
          <a:prstGeom prst="roundRect">
            <a:avLst>
              <a:gd name="adj" fmla="val 182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3447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pam_pwhistory: impide reutilizar las 5 últimas (en common-password)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required  pam_pwhistory.so remember=5 use_authtok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pam_faillock: /etc/security/faillock.conf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= 5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intentos fallidos permitidos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unlock_time = 600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tiempo de bloqueo en segundos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faillock --user ana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ver intentos fallidos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faillock --user ana --reset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desbloquear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5079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07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Un bloqueo </a:t>
            </a:r>
            <a:r>
              <a:rPr lang="en-US" sz="1600" b="1" dirty="0">
                <a:solidFill>
                  <a:srgbClr val="1F2A37"/>
                </a:solidFill>
              </a:rPr>
              <a:t>permanente</a:t>
            </a:r>
            <a:r>
              <a:rPr lang="en-US" sz="1600" dirty="0">
                <a:solidFill>
                  <a:srgbClr val="1F2A37"/>
                </a:solidFill>
              </a:rPr>
              <a:t> o con umbral muy bajo permite a un atacante bloquear las cuentas de otros a propósito: sería una denegación de servicio. Mejor bloqueo temporal.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política en Windows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Directiva de seguridad local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secpol.msc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&gt; Directivas de cuenta, o directivas de grupo (GPO) en un dominio.</a:t>
            </a:r>
            <a:endParaRPr lang="en-US" sz="17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4223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Directiva de Windows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 en Linux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mínima de la contraseña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minlen (pam_pwquality)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Debe cumplir los requisitos de complejidad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minclass (pam_pwquality)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Vigencia máxima / mínima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PASS_MAX_DAYS / PASS_MIN_DAYS y chage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Exigir historial de contraseñas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remember (pam_pwhistory)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Umbral de bloqueo de cuenta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deny (pam_faillock)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Duración del bloqueo de cuenta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unlock_time (pam_faillock)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accounts</a:t>
            </a:r>
            <a:r>
              <a:rPr lang="en-US" sz="1600" dirty="0">
                <a:solidFill>
                  <a:srgbClr val="1F2A37"/>
                </a:solidFill>
              </a:rPr>
              <a:t> muestra la política aplicada y permite cambiarla desde la línea de órdenes (salvo la complejidad).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Autenticación multifactor (MFA)</a:t>
            </a:r>
            <a:endParaRPr lang="en-US" sz="3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autenticación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Autenticarse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demostrar que uno es quien dice ser. Hay tres tipos de factores: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Conocimiento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Algo que </a:t>
            </a:r>
            <a:r>
              <a:rPr lang="en-US" sz="1400" b="1" dirty="0">
                <a:solidFill>
                  <a:srgbClr val="4A5B6E"/>
                </a:solidFill>
              </a:rPr>
              <a:t>sabes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Contraseña, PIN, respuesta a una pregunta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7304" y="18745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38472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1854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14544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Posesión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26517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Algo que </a:t>
            </a:r>
            <a:r>
              <a:rPr lang="en-US" sz="1400" b="1" dirty="0">
                <a:solidFill>
                  <a:srgbClr val="4A5B6E"/>
                </a:solidFill>
              </a:rPr>
              <a:t>tienes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Móvil con una aplicación de autenticación, llave de seguridad, tarjeta inteligente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5968" y="187452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7136" y="20756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21854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3208" y="20574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Inherencia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265176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Algo que </a:t>
            </a:r>
            <a:r>
              <a:rPr lang="en-US" sz="1400" b="1" dirty="0">
                <a:solidFill>
                  <a:srgbClr val="4A5B6E"/>
                </a:solidFill>
              </a:rPr>
              <a:t>eres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B6E"/>
                </a:solidFill>
              </a:rPr>
              <a:t>Huella dactilar, reconocimiento facial, voz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(y qué no es) MFA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099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Es MFA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Combinar al menos </a:t>
            </a:r>
            <a:r>
              <a:rPr lang="en-US" sz="1500" b="1" dirty="0">
                <a:solidFill>
                  <a:srgbClr val="1F2A37"/>
                </a:solidFill>
              </a:rPr>
              <a:t>dos factores de tipos distintos</a:t>
            </a:r>
            <a:r>
              <a:rPr lang="en-US" sz="1500" dirty="0">
                <a:solidFill>
                  <a:srgbClr val="1F2A37"/>
                </a:solidFill>
              </a:rPr>
              <a:t>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Contraseña + código del móvil.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Tarjeta + PIN.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Con dos factores se habla también de 2FA.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31636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4596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No es MFA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05956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Dos factores del </a:t>
            </a:r>
            <a:r>
              <a:rPr lang="en-US" sz="1500" b="1" dirty="0">
                <a:solidFill>
                  <a:srgbClr val="1F2A37"/>
                </a:solidFill>
              </a:rPr>
              <a:t>mismo tipo</a:t>
            </a:r>
            <a:r>
              <a:rPr lang="en-US" sz="1500" dirty="0">
                <a:solidFill>
                  <a:srgbClr val="1F2A37"/>
                </a:solidFill>
              </a:rPr>
              <a:t>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Contraseña + PIN: los dos se saben y se pueden robar igual.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Contraseña + pregunta de seguridad.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Aunque el atacante obtenga la contraseña (phishing, diccionario, filtración), no puede entrar sin el segundo factor.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¿Es MFA?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Para cada combinación, indica si es MFA y si resistiría un ataque de phishing.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y PIN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22064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4944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y código por SMS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5488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8368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dactilar que desbloquea una passkey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y pregunta de seguridad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22064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4944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y código TOTP de una aplicación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5488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8368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inteligente y PIN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segundo factor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clave: ¿puede un atacante con una web falsa capturar el segundo factor y reutilizarlo?</a:t>
            </a:r>
            <a:endParaRPr lang="en-US" sz="17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33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SMS o llamada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de un solo uso en el teléfono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Baja: SIM swapping, interceptación, phishing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Correo electrónico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o enlace en el correo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Baja: depende de la cuenta de correo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TOTP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de 6 dígitos que cambia cada 30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Media: el código se puede capturar con phishing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Notificación push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Aprobar el inicio de sesión en el móvil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Media: fatiga de MFA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Llave FIDO2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Dispositivo físico que firma el inicio de sesión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Alta: resistente al phishing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Passkeys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Credencial FIDO2 en el móvil o el ordenador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Alta: resistente al phishing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un código TOTP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(Time-based One-Time Password): servidor y aplicación calculan el mismo código sin comunicarse.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Registro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El servidor genera una </a:t>
            </a:r>
            <a:r>
              <a:rPr lang="en-US" sz="1400" b="1" dirty="0">
                <a:solidFill>
                  <a:srgbClr val="4A5B6E"/>
                </a:solidFill>
              </a:rPr>
              <a:t>clave secreta</a:t>
            </a:r>
            <a:r>
              <a:rPr lang="en-US" sz="1400" dirty="0">
                <a:solidFill>
                  <a:srgbClr val="4A5B6E"/>
                </a:solidFill>
              </a:rPr>
              <a:t> y la muestra como código QR.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1588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15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 comparte una vez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 aplicación del móvil escanea el QR y guarda la clave.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8776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Cálculo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Cada 30 s, ambos calculan un código de 6 dígitos a partir de la clave y de la </a:t>
            </a:r>
            <a:r>
              <a:rPr lang="en-US" sz="1400" b="1" dirty="0">
                <a:solidFill>
                  <a:srgbClr val="4A5B6E"/>
                </a:solidFill>
              </a:rPr>
              <a:t>hora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38844" y="2194560"/>
            <a:ext cx="2601468" cy="2743200"/>
          </a:xfrm>
          <a:prstGeom prst="roundRect">
            <a:avLst>
              <a:gd name="adj" fmla="val 28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1724" y="237744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17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97180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Comprobación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21724" y="3566160"/>
            <a:ext cx="2235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Si el código que escribe el usuario coincide con el del servidor, es válido.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Por eso el reloj del servidor debe estar sincronizado, y la clave y los </a:t>
            </a:r>
            <a:r>
              <a:rPr lang="en-US" sz="1600" b="1" dirty="0">
                <a:solidFill>
                  <a:srgbClr val="1F2A37"/>
                </a:solidFill>
              </a:rPr>
              <a:t>códigos de recuperación</a:t>
            </a:r>
            <a:r>
              <a:rPr lang="en-US" sz="1600" dirty="0">
                <a:solidFill>
                  <a:srgbClr val="1F2A37"/>
                </a:solidFill>
              </a:rPr>
              <a:t> deben guardarse de forma segura.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FIDO2 y passkeys: por qué resisten el phishing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</a:rPr>
              <a:t>Usan </a:t>
            </a:r>
            <a:r>
              <a:rPr lang="en-US" sz="1800" b="1" dirty="0">
                <a:solidFill>
                  <a:srgbClr val="1F2A37"/>
                </a:solidFill>
              </a:rPr>
              <a:t>criptografía de clave pública</a:t>
            </a:r>
            <a:r>
              <a:rPr lang="en-US" sz="1800" dirty="0">
                <a:solidFill>
                  <a:srgbClr val="1F2A37"/>
                </a:solidFill>
              </a:rPr>
              <a:t>: el servicio guarda solo la clave pública y la clave privada nunca sale del dispositivo.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</a:rPr>
              <a:t>La credencial está </a:t>
            </a:r>
            <a:r>
              <a:rPr lang="en-US" sz="1800" b="1" dirty="0">
                <a:solidFill>
                  <a:srgbClr val="1F2A37"/>
                </a:solidFill>
              </a:rPr>
              <a:t>vinculada al dominio real</a:t>
            </a:r>
            <a:r>
              <a:rPr lang="en-US" sz="1800" dirty="0">
                <a:solidFill>
                  <a:srgbClr val="1F2A37"/>
                </a:solidFill>
              </a:rPr>
              <a:t> del servicio: una web falsa con otro dominio no puede usarla, aunque la víctima "pique".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</a:rPr>
              <a:t>Las </a:t>
            </a:r>
            <a:r>
              <a:rPr lang="en-US" sz="1800" b="1" dirty="0">
                <a:solidFill>
                  <a:srgbClr val="1F2A37"/>
                </a:solidFill>
              </a:rPr>
              <a:t>passkeys</a:t>
            </a:r>
            <a:r>
              <a:rPr lang="en-US" sz="1800" dirty="0">
                <a:solidFill>
                  <a:srgbClr val="1F2A37"/>
                </a:solidFill>
              </a:rPr>
              <a:t> guardan esa credencial en el móvil, el ordenador o un gestor de contraseñas, y se desbloquean con huella, cara o PIN.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</a:rPr>
              <a:t>Por eso las grandes plataformas están sustituyendo progresivamente las contraseñas por passkeys.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contra la MFA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SIM swapping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El atacante consigue que la operadora le asigne el número de la víctima y recibe sus SMS.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31636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2804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08876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Fatiga de MFA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60236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Decenas de solicitudes push hasta que la víctima acepta. Se mitiga con la </a:t>
            </a:r>
            <a:r>
              <a:rPr lang="en-US" sz="1400" b="1" dirty="0">
                <a:solidFill>
                  <a:srgbClr val="4A5B6E"/>
                </a:solidFill>
              </a:rPr>
              <a:t>coincidencia de números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Phishing con proxy (AiTM)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Una web falsa reenvía en tiempo real contraseña y código y roba la sesión. Solo lo impiden FIDO2 y passkeys.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31636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08876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Robo de la sesión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60236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Un malware roba las cookies de sesión. Se mitiga limitando la duración de las sesiones.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en nuestro servidor: contraseña y código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acceso por SSH al servidor pedirá la contraseña (conocimiento) y un código TOTP (posesión):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414016"/>
          </a:xfrm>
          <a:prstGeom prst="roundRect">
            <a:avLst>
              <a:gd name="adj" fmla="val 227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libpam-google-authenticator oathtool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google-authenticator -t -d -f -r 3 -R 30 -w 3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muestra QR y clave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 conectarse desde el anfitrión: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2222 usuario@127.0.0.1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code: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628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5628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¿Sin móvil o no queréis usar el vuestro?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oathtool --totp -b CLAVE</a:t>
            </a:r>
            <a:r>
              <a:rPr lang="en-US" sz="1600" dirty="0">
                <a:solidFill>
                  <a:srgbClr val="1F2A37"/>
                </a:solidFill>
              </a:rPr>
              <a:t> calcula el mismo código en el ordenador.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más allá de nuestro servidor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Claves SSH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Autenticarse con un par de claves (ed25519) protegidas con frase de paso: elimina la fuerza bruta contra la contraseña.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Windows y la nube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 MFA se gestiona desde el proveedor de identidad (por ejemplo, Microsoft Entra ID) según el usuario, la aplicación o el lugar.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Vuestras cuentas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Activad la MFA en el correo, el gestor de contraseñas y los repositorios de código. Si se puede, con passkeys.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Control de accesos</a:t>
            </a:r>
            <a:endParaRPr lang="en-US" sz="3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Identificación, autenticación, autorización y auditoría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accesos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determina quién puede acceder a qué recursos y qué puede hacer con ellos: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Identificación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¿Quién dice ser? El nombre de usuario.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1588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15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Autenticación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¿Lo demuestra? Contraseña, MFA.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8776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Autorización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¿Qué puede hacer? Permisos sobre los recursos.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1724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172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Auditoría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21724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¿Qué ha hecho? Registro de la actividad.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800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Los bloques 3 y 4 trataban la </a:t>
            </a:r>
            <a:r>
              <a:rPr lang="en-US" sz="1600" b="1" dirty="0">
                <a:solidFill>
                  <a:srgbClr val="1F2A37"/>
                </a:solidFill>
              </a:rPr>
              <a:t>autenticación</a:t>
            </a:r>
            <a:r>
              <a:rPr lang="en-US" sz="1600" dirty="0">
                <a:solidFill>
                  <a:srgbClr val="1F2A37"/>
                </a:solidFill>
              </a:rPr>
              <a:t>. Este bloque trata la </a:t>
            </a:r>
            <a:r>
              <a:rPr lang="en-US" sz="1600" b="1" dirty="0">
                <a:solidFill>
                  <a:srgbClr val="1F2A37"/>
                </a:solidFill>
              </a:rPr>
              <a:t>autorización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del control de accesos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Mínimo privilegio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Solo los permisos necesarios: si la cuenta se compromete, el daño queda limitado.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Necesidad de saber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Acceso a la información solo para quien la necesita para su trabajo.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Segregación de funciones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Las tareas críticas se reparten para que nadie pueda completarlas solo.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Denegación por defecto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Sin un permiso explícito, el acceso se deniega.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337304" y="393192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14544" y="411480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Revisión periódica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65904" y="470916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Los permisos se revisan y se retiran cuando dejan de ser necesarios.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control de acceso</a:t>
            </a:r>
            <a:endParaRPr lang="en-US" sz="26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  <a:gridCol w="341071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 (discrecional)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propietario del recurso decide quién accede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Permisos de ficheros en Linux y Windows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 (obligatorio)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sistema impone el acceso según etiquetas que los usuarios no pueden cambiar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SELinux, AppArmor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 (por roles)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permisos se asignan a roles y las personas reciben roles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Grupos de usuarios, roles de una aplicación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ABAC (por atributos)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evalúan atributos del usuario, del recurso y del contexto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condicional en la nube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 la práctica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dar permisos persona a persona, se definen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sus permisos y cada persona recibe el suyo: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Personas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ana, luis, marta…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1588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15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1588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Roles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En Linux, </a:t>
            </a:r>
            <a:r>
              <a:rPr lang="en-US" sz="1400" b="1" dirty="0">
                <a:solidFill>
                  <a:srgbClr val="4A5B6E"/>
                </a:solidFill>
              </a:rPr>
              <a:t>grupos</a:t>
            </a:r>
            <a:r>
              <a:rPr lang="en-US" sz="1400" dirty="0">
                <a:solidFill>
                  <a:srgbClr val="4A5B6E"/>
                </a:solidFill>
              </a:rPr>
              <a:t>: desarrollo, rrhh, soporte…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8776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Permisos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Sobre carpetas, servicios y órdenes con sudo.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1724" y="22402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172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21724" y="283464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Cambio de puesto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21724" y="3429000"/>
            <a:ext cx="22357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Se cambia el rol, no los permisos uno a uno.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800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Es el modelo más usado en las organizaciones porque simplifica mucho la gestión y reduce los errores.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Roles en DeltaSoft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Construye la matriz de roles y recursos de DeltaSoft: qué puede hacer cada rol con cada recurso (nada, leer, leer y escribir, administrar). Señala un caso de segregación de funciones.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Plantilla: 1 dirección, 1 RRHH, 4 desarrollo, 1 soporte, 1 administración de sistemas.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035454" cy="2926080"/>
          </a:xfrm>
          <a:prstGeom prst="roundRect">
            <a:avLst>
              <a:gd name="adj" fmla="val 359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166969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Nóminas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12694" y="3291840"/>
            <a:ext cx="2035454" cy="2926080"/>
          </a:xfrm>
          <a:prstGeom prst="roundRect">
            <a:avLst>
              <a:gd name="adj" fmla="val 359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5574" y="3383280"/>
            <a:ext cx="166969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los proyectos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6749" y="3291840"/>
            <a:ext cx="2035454" cy="2926080"/>
          </a:xfrm>
          <a:prstGeom prst="roundRect">
            <a:avLst>
              <a:gd name="adj" fmla="val 359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9629" y="3383280"/>
            <a:ext cx="166969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web de pruebas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0803" y="3291840"/>
            <a:ext cx="2035454" cy="2926080"/>
          </a:xfrm>
          <a:prstGeom prst="roundRect">
            <a:avLst>
              <a:gd name="adj" fmla="val 359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3683" y="3383280"/>
            <a:ext cx="166969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del servidor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4858" y="3291840"/>
            <a:ext cx="2035454" cy="2926080"/>
          </a:xfrm>
          <a:prstGeom prst="roundRect">
            <a:avLst>
              <a:gd name="adj" fmla="val 359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7738" y="3383280"/>
            <a:ext cx="166969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del sistema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grupos en Linux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(UID 0) tiene control total. Las cuentas de sistema usan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/usr/sbin/nologin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Las de personas, UID desde 1000.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3172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groupadd desarrollo    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un grupo = un rol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adduser ana             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cuenta personal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-aG desarrollo ana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añadir a un grupo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ana                       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ver sus grupos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-L -e 1 antiguo 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bloquear una cuenta sin uso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06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-G</a:t>
            </a:r>
            <a:r>
              <a:rPr lang="en-US" sz="1600" dirty="0">
                <a:solidFill>
                  <a:srgbClr val="1F2A37"/>
                </a:solidFill>
              </a:rPr>
              <a:t> </a:t>
            </a:r>
            <a:r>
              <a:rPr lang="en-US" sz="1600" b="1" dirty="0">
                <a:solidFill>
                  <a:srgbClr val="1F2A37"/>
                </a:solidFill>
              </a:rPr>
              <a:t>sin</a:t>
            </a:r>
            <a:r>
              <a:rPr lang="en-US" sz="1600" dirty="0">
                <a:solidFill>
                  <a:srgbClr val="1F2A37"/>
                </a:solidFill>
              </a:rPr>
              <a:t>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r>
              <a:rPr lang="en-US" sz="1600" dirty="0">
                <a:solidFill>
                  <a:srgbClr val="1F2A37"/>
                </a:solidFill>
              </a:rPr>
              <a:t> saca al usuario de todos sus otros grupos, incluido sudo. Y los cambios de grupo no afectan a las sesiones ya abiertas.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sobre ficheros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 (u), grupo (g) y otros (o). Lectura r = 4, escritura w = 2, ejecución x = 1.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414016"/>
          </a:xfrm>
          <a:prstGeom prst="roundRect">
            <a:avLst>
              <a:gd name="adj" fmla="val 227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/srv/proyecto/config.php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-rw-r----- 1 ana desarrollo 812 oct 16 10:02 config.php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rw-   propietaria ana: lectura y escritura      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r--   grupo desarrollo: solo lectura           4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   otros: sin acceso                        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→ 640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628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5628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En un </a:t>
            </a:r>
            <a:r>
              <a:rPr lang="en-US" sz="1600" b="1" dirty="0">
                <a:solidFill>
                  <a:srgbClr val="1F2A37"/>
                </a:solidFill>
              </a:rPr>
              <a:t>directorio</a:t>
            </a:r>
            <a:r>
              <a:rPr lang="en-US" sz="1600" dirty="0">
                <a:solidFill>
                  <a:srgbClr val="1F2A37"/>
                </a:solidFill>
              </a:rPr>
              <a:t>: r permite listar, w crear y borrar ficheros dentro, y x entrar en él.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propietario, permisos y umask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ana:desarrollo /srv/proyecto/config.php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propietario y grupo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chmod 640 /srv/proyecto/config.php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en octal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chmod o-rwx /srv/proyecto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quitar todo a otros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umask                              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0022 por defecto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337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La </a:t>
            </a:r>
            <a:r>
              <a:rPr lang="en-US" sz="1600" b="1" dirty="0">
                <a:solidFill>
                  <a:srgbClr val="1F2A37"/>
                </a:solidFill>
              </a:rPr>
              <a:t>umask</a:t>
            </a:r>
            <a:r>
              <a:rPr lang="en-US" sz="1600" dirty="0">
                <a:solidFill>
                  <a:srgbClr val="1F2A37"/>
                </a:solidFill>
              </a:rPr>
              <a:t> fija los permisos de los ficheros nuevos. Con 022 se crean con 644: legibles por cualquiera. En sistemas con varios usuarios se endurece a </a:t>
            </a:r>
            <a:r>
              <a:rPr lang="en-US" sz="1600" b="1" dirty="0">
                <a:solidFill>
                  <a:srgbClr val="1F2A37"/>
                </a:solidFill>
              </a:rPr>
              <a:t>027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Lee los permisos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Para cada línea: ¿quién puede leer, escribir y ejecutar? Escribe los permisos en octal y di si te parecen correctos.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2176272"/>
          </a:xfrm>
          <a:prstGeom prst="roundRect">
            <a:avLst>
              <a:gd name="adj" fmla="val 2521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106344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-rwxr-x---  ana   desarrollo  deploy.sh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-rw-rw-rw-  root  root        config.ini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drwxrws---  root  rrhh        nominas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-rwsr-xr-x  root  root        /usr/bin/passwd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drwxrwxrwt  root  root        /tmp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-rw-r-----  root  shadow      /etc/shadow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especiales</a:t>
            </a:r>
            <a:endParaRPr lang="en-US" sz="26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647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SUID (4000)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programa se ejecuta con los permisos de su propietario. Lo usa passwd.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programa SUID de root vulnerable permite escalar privilegios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SGID (2000)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 directorio, los ficheros nuevos heredan su grupo. Útil en carpetas de un rol.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Bajo, si se usa en directorios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Sticky bit (1000)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 directorio, solo el propietario de un fichero puede borrarlo. Lo tiene /tmp.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Ninguno: es una protección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548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Un atacante que entra con una cuenta sin privilegios busca programas SUID vulnerables: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find / -xdev -type f -perm -4000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de control de acceso (ACL)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que dar permisos a más de un grupo sobre el mismo recurso: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706624"/>
          </a:xfrm>
          <a:prstGeom prst="roundRect">
            <a:avLst>
              <a:gd name="adj" fmla="val 202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Lectura para el grupo auditoria sobre un directorio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setfacl -m g:auditoria:rx /srv/proyecto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Consultar las ACL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getfacl /srv/proyecto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-ld /srv/proyecto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drwxrws---+ 2 root desarrollo 4096 nov  6 10:02 /srv/proyecto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554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554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El signo </a:t>
            </a:r>
            <a:r>
              <a:rPr lang="en-US" sz="1600" b="1" dirty="0">
                <a:solidFill>
                  <a:srgbClr val="1F2A37"/>
                </a:solidFill>
              </a:rPr>
              <a:t>+</a:t>
            </a:r>
            <a:r>
              <a:rPr lang="en-US" sz="1600" dirty="0">
                <a:solidFill>
                  <a:srgbClr val="1F2A37"/>
                </a:solidFill>
              </a:rPr>
              <a:t> al final de los permisos indica que el fichero o directorio tiene ACL.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con mínimo privilegio: sudo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que trabajar como root: cada persona usa su contraseña y queda registro. Y no hace falta dar acceso total: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sudo visudo -f /etc/sudoers.d/soporte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%soporte ALL=(root) /usr/bin/systemctl restart apache2, /usr/bin/systemctl status apache2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visudo -c 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comprobar la sintaxis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 -U luis  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qué puede hacer luis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977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Nunca dar sudo sobre editores, paginadores (less) o intérpretes: desde ellos se puede abrir una shell, que sería de root. Y el fichero de sudoers.d </a:t>
            </a:r>
            <a:r>
              <a:rPr lang="en-US" sz="1600" b="1" dirty="0">
                <a:solidFill>
                  <a:srgbClr val="1F2A37"/>
                </a:solidFill>
              </a:rPr>
              <a:t>sin punto</a:t>
            </a:r>
            <a:r>
              <a:rPr lang="en-US" sz="1600" dirty="0">
                <a:solidFill>
                  <a:srgbClr val="1F2A37"/>
                </a:solidFill>
              </a:rPr>
              <a:t> en el nombre: si no, se ignora.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accesos en Windows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Usuarios y grupos locales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lusrmgr.msc o PowerShell. Trabajo diario con cuenta estándar; administrador solo cuando hace falta.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31636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2804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08876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Control de cuentas (UAC)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60236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Incluso un administrador trabaja como usuario estándar y confirma las acciones que requieren elevación.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Permisos NTFS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Control total, modificar, lectura… heredados de la carpeta superior. Se gestionan con </a:t>
            </a:r>
            <a:r>
              <a:rPr lang="en-US" sz="1400" dirty="0">
                <a:solidFill>
                  <a:srgbClr val="4A5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icacls</a:t>
            </a:r>
            <a:r>
              <a:rPr lang="en-US" sz="1400" dirty="0">
                <a:solidFill>
                  <a:srgbClr val="4A5B6E"/>
                </a:solidFill>
              </a:rPr>
              <a:t>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31636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08876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Cuenta Administrador y LAPS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60236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La cuenta integrada, deshabilitada. Windows LAPS da a cada equipo una contraseña de administrador distinta.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privilegio en las aplicaciones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habitual: la aplicación se conecta a la base de datos como root. Si tiene una inyección SQL, el atacante puede hacer todo lo que puede root.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7744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 'app_tienda'@'localhost' IDENTIFIED BY '…';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 ON tienda.* TO 'app_tienda'@'localhost';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GRANTS FOR 'app_tienda'@'localhost';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703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Un usuario por aplicación, que solo se conecta desde donde lo necesita y con los permisos imprescindibles. Y en vuestras aplicaciones, roles comprobados </a:t>
            </a:r>
            <a:r>
              <a:rPr lang="en-US" sz="1600" b="1" dirty="0">
                <a:solidFill>
                  <a:srgbClr val="1F2A37"/>
                </a:solidFill>
              </a:rPr>
              <a:t>en el servidor</a:t>
            </a:r>
            <a:r>
              <a:rPr lang="en-US" sz="1600" dirty="0">
                <a:solidFill>
                  <a:srgbClr val="1F2A37"/>
                </a:solidFill>
              </a:rPr>
              <a:t> en cada operación.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accesos en la red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Exponer solo lo necesario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Los servicios de uso local, escuchando en 127.0.0.1.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31636" y="132588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2804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08876" y="150876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Segmentar la red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60236" y="210312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Usuarios, servidores, invitados e IoT en redes separadas (VLAN). Servidores públicos en una DMZ.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Redes inalámbricas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WPA3 o WPA2 con clave robusta; 802.1X en empresas. Filtrar por MAC no es seguridad real.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31636" y="39319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08876" y="411480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Administración restringida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60236" y="47091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SSH, paneles y bases de datos, solo desde las redes de administración.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Bastionar el acceso SSH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puerta de entrada al servidor y uno de los servicios más atacados de Internet. Los cambios, en un fichero propio: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2414016"/>
          </a:xfrm>
          <a:prstGeom prst="roundRect">
            <a:avLst>
              <a:gd name="adj" fmla="val 227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1063447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/etc/ssh/sshd_config.d/10-bastionado.conf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PermitRootLogin no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root no entra directamente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PermitEmptyPasswords 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MaxAuthTries 3   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intentos por conexión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LoginGraceTime 30     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segundos para autenticarse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AllowGroups admins-ssh 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solo este grupo entra por SSH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X11Forwarding no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628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5628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Antes de aplicar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AllowGroups</a:t>
            </a:r>
            <a:r>
              <a:rPr lang="en-US" sz="1600" dirty="0">
                <a:solidFill>
                  <a:srgbClr val="1F2A37"/>
                </a:solidFill>
              </a:rPr>
              <a:t>, comprobad que vuestra cuenta está en ese grupo. Y no cerréis la sesión hasta probar que podéis abrir otra.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del primer valor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En la configuración de SSH, si una directiva aparece varias veces, se aplica el PRIMER valor que se lee, no el último.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Los ficheros de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sshd_config.d/</a:t>
            </a:r>
            <a:r>
              <a:rPr lang="en-US" sz="1700" dirty="0">
                <a:solidFill>
                  <a:srgbClr val="1F2A37"/>
                </a:solidFill>
              </a:rPr>
              <a:t> se leen antes que el principal, y entre ellos por orden alfabético: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05-prueba.conf</a:t>
            </a:r>
            <a:r>
              <a:rPr lang="en-US" sz="1700" dirty="0">
                <a:solidFill>
                  <a:srgbClr val="1F2A37"/>
                </a:solidFill>
              </a:rPr>
              <a:t> manda sobre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10-bastionado.conf</a:t>
            </a:r>
            <a:r>
              <a:rPr lang="en-US" sz="1700" dirty="0">
                <a:solidFill>
                  <a:srgbClr val="1F2A37"/>
                </a:solidFill>
              </a:rPr>
              <a:t>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Lo que vale es la configuración </a:t>
            </a:r>
            <a:r>
              <a:rPr lang="en-US" sz="1700" b="1" dirty="0">
                <a:solidFill>
                  <a:srgbClr val="1F2A37"/>
                </a:solidFill>
              </a:rPr>
              <a:t>efectiva</a:t>
            </a:r>
            <a:r>
              <a:rPr lang="en-US" sz="1700" dirty="0">
                <a:solidFill>
                  <a:srgbClr val="1F2A37"/>
                </a:solidFill>
              </a:rPr>
              <a:t>: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sshd -T | grep -i permitrootlogin</a:t>
            </a:r>
            <a:r>
              <a:rPr lang="en-US" sz="1700" dirty="0">
                <a:solidFill>
                  <a:srgbClr val="1F2A37"/>
                </a:solidFill>
              </a:rPr>
              <a:t>. Después,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sshd -t</a:t>
            </a:r>
            <a:r>
              <a:rPr lang="en-US" sz="1700" dirty="0">
                <a:solidFill>
                  <a:srgbClr val="1F2A37"/>
                </a:solidFill>
              </a:rPr>
              <a:t> y </a:t>
            </a:r>
            <a:r>
              <a:rPr lang="en-US" sz="17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reload ssh</a:t>
            </a:r>
            <a:r>
              <a:rPr lang="en-US" sz="1700" dirty="0">
                <a:solidFill>
                  <a:srgbClr val="1F2A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Detección y corrección de configuraciones inseguras</a:t>
            </a:r>
            <a:endParaRPr lang="en-US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Inseguro frente a inconsistente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099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Configuración insegura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Deja una puerta abierta.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Servicios innecesarios, permisos excesivos, contraseñas débiles o por defecto, software sin actualizar.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31636" y="1371600"/>
            <a:ext cx="5408676" cy="3886200"/>
          </a:xfrm>
          <a:prstGeom prst="roundRect">
            <a:avLst>
              <a:gd name="adj" fmla="val 18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4596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Configuración inconsistente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05956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Partes del sistema que se contradicen, o lo definido no es lo que se aplica.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Caducidad en login.defs, pero no aplicada con chage.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</a:rPr>
              <a:t>Servicio con stop pero sin disable: vuelve al reiniciar.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Las inconsistencias son especialmente peligrosas: dan una </a:t>
            </a:r>
            <a:r>
              <a:rPr lang="en-US" sz="1600" b="1" dirty="0">
                <a:solidFill>
                  <a:srgbClr val="1F2A37"/>
                </a:solidFill>
              </a:rPr>
              <a:t>falsa sensación de seguridad</a:t>
            </a:r>
            <a:r>
              <a:rPr lang="en-US" sz="1600" dirty="0">
                <a:solidFill>
                  <a:srgbClr val="1F2A37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Comprobaciones manuales: cuentas y privilegios</a:t>
            </a:r>
            <a:endParaRPr lang="en-US" sz="26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comprueba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Cuentas con UID 0 además de root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awk -F: '$3==0 {print $1}' /etc/passwd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Cuentas sin contraseña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awk -F: '$2=="" {print $1}' /etc/shadow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Cuentas que pueden iniciar sesión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grep -v -E 'nologin|false' /etc/passwd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Miembros del grupo sudo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getent group sudo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de sudo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cat /etc/sudoers /etc/sudoers.d/*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Comprobaciones manuales: permisos, servicios y SSH</a:t>
            </a:r>
            <a:endParaRPr lang="en-US" sz="26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comprueba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Ficheros con SUID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find / -xdev -type f -perm -4000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Ficheros modificables por cualquiera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find / -xdev -type f -perm -0002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Permisos de los ficheros críticos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 -l /etc/passwd /etc/shadow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 y puertos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systemctl list-unit-files --state=enabled</a:t>
                      </a: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 </a:t>
                      </a: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 -tulpn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Actualizaciones pendientes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apt list --upgradable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efectiva de SSH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sshd -T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</a:rPr>
              <a:t>Hay que saber cuál es el estado correcto: en Debian,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/etc/shadow</a:t>
            </a:r>
            <a:r>
              <a:rPr lang="en-US" sz="1600" dirty="0">
                <a:solidFill>
                  <a:srgbClr val="1F2A37"/>
                </a:solidFill>
              </a:rPr>
              <a:t> 640 root:shadow y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</a:t>
            </a:r>
            <a:r>
              <a:rPr lang="en-US" sz="1600" dirty="0">
                <a:solidFill>
                  <a:srgbClr val="1F2A37"/>
                </a:solidFill>
              </a:rPr>
              <a:t> 644.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ACTIVIDAD A8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Seguro, inseguro o inconsistente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A37"/>
                </a:solidFill>
              </a:rPr>
              <a:t>Clasifica cada fragmento y propón la corrección si hace falta.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PASS_MAX_DAYS 90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login.defs, y </a:t>
            </a: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chage -l admin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dice que nunca caduca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2064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4944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ALL=(ALL) NOPASSWD: 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5488" y="237744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8368" y="246888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10-bastionado.conf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PermitRootLogin no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00-legacy.conf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PermitRootLogin yes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[nominas]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ok = yes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2064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4944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bind-address = 127.0.0.1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MariaDB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5488" y="4411980"/>
            <a:ext cx="3544824" cy="1805940"/>
          </a:xfrm>
          <a:prstGeom prst="roundRect">
            <a:avLst>
              <a:gd name="adj" fmla="val 405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8368" y="4503420"/>
            <a:ext cx="31790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deshabilitado (disabled) pero con el paquete instalado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automatizada: Lynis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código abierto que revisa cientos de puntos del sistema. </a:t>
            </a: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 nada</a:t>
            </a: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solo analiza.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949440" cy="1920240"/>
          </a:xfrm>
          <a:prstGeom prst="roundRect">
            <a:avLst>
              <a:gd name="adj" fmla="val 285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lynis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lynis audit system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grep hardening_index /var/log/lynis-report.dat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lynis show details SSH-7408    </a:t>
            </a:r>
            <a:r>
              <a:rPr lang="en-US" sz="1400" dirty="0">
                <a:solidFill>
                  <a:srgbClr val="93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detalle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18120" y="1965960"/>
            <a:ext cx="3822192" cy="4069080"/>
          </a:xfrm>
          <a:prstGeom prst="roundRect">
            <a:avLst>
              <a:gd name="adj" fmla="val 1914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0" y="219456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23042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</a:rPr>
              <a:t>Qué muestra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83464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Avisos</a:t>
            </a:r>
            <a:r>
              <a:rPr lang="en-US" sz="1500" dirty="0">
                <a:solidFill>
                  <a:srgbClr val="1F2A37"/>
                </a:solidFill>
              </a:rPr>
              <a:t> (warnings): problemas importantes.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Sugerencias</a:t>
            </a:r>
            <a:r>
              <a:rPr lang="en-US" sz="1500" dirty="0">
                <a:solidFill>
                  <a:srgbClr val="1F2A37"/>
                </a:solidFill>
              </a:rPr>
              <a:t> (suggestions): mejoras, cada una con su identificador.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Índice de bastionado</a:t>
            </a:r>
            <a:r>
              <a:rPr lang="en-US" sz="1500" dirty="0">
                <a:solidFill>
                  <a:srgbClr val="1F2A37"/>
                </a:solidFill>
              </a:rPr>
              <a:t>: de 0 a 100.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</a:rPr>
              <a:t>Su gran utilidad: comparar el </a:t>
            </a:r>
            <a:r>
              <a:rPr lang="en-US" sz="1500" b="1" dirty="0">
                <a:solidFill>
                  <a:srgbClr val="1F2A37"/>
                </a:solidFill>
              </a:rPr>
              <a:t>antes</a:t>
            </a:r>
            <a:r>
              <a:rPr lang="en-US" sz="1500" dirty="0">
                <a:solidFill>
                  <a:srgbClr val="1F2A37"/>
                </a:solidFill>
              </a:rPr>
              <a:t> y el </a:t>
            </a:r>
            <a:r>
              <a:rPr lang="en-US" sz="1500" b="1" dirty="0">
                <a:solidFill>
                  <a:srgbClr val="1F2A37"/>
                </a:solidFill>
              </a:rPr>
              <a:t>después</a:t>
            </a:r>
            <a:r>
              <a:rPr lang="en-US" sz="1500" dirty="0">
                <a:solidFill>
                  <a:srgbClr val="1F2A37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herramientas de auditoría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OpenSCAP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Evalúa un sistema frente a perfiles estandarizados (por ejemplo, CIS Benchmarks) y genera informes de cumplimiento.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7304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8472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67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14544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Microsoft Security Compliance Toolkit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5904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Líneas base de seguridad de Microsoft y Policy Analyzer, que compara un equipo con ellas.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5968" y="132588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7136" y="152704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864" y="1636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03208" y="1508760"/>
            <a:ext cx="2554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CLARA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4568" y="210312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Herramienta del CCN que analiza el cumplimiento del ENS en equipos Windows.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hallazgo a la corrección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Analizar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¿Qué riesgo supone? ¿Aplica de verdad o es necesario para la función?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35352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18232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182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618232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Priorizar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18232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Primero lo de mayor riesgo.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04944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049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04944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Proponer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04944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Qué medida y qué efecto tendrá en el funcionamiento.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08776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16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91656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Aplicar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1656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Con una instantánea o copia previa.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95488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8368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78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78368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Verificar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78368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El problema ha desaparecido y el sistema sigue funcionando.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982200" y="1371600"/>
            <a:ext cx="1658112" cy="3291840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65080" y="155448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6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0165080" y="2148840"/>
            <a:ext cx="129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Documentar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165080" y="2743200"/>
            <a:ext cx="1292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El cambio, en la ficha de la medida.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es comprobar el efecto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</a:rPr>
              <a:t>Escribir PermitRootLogin no en un fichero no demuestra nada. Lo que lo demuestra es intentar entrar como root y que se rechace.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Una política de contraseñas se verifica intentando poner una contraseña débil.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Un servicio desactivado se verifica comprobando que su puerto ya no está en escucha </a:t>
            </a:r>
            <a:r>
              <a:rPr lang="en-US" sz="1700" b="1" dirty="0">
                <a:solidFill>
                  <a:srgbClr val="1F2A37"/>
                </a:solidFill>
              </a:rPr>
              <a:t>tras reiniciar</a:t>
            </a:r>
            <a:r>
              <a:rPr lang="en-US" sz="1700" dirty="0">
                <a:solidFill>
                  <a:srgbClr val="1F2A37"/>
                </a:solidFill>
              </a:rPr>
              <a:t>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</a:rPr>
              <a:t>El índice de Lynis no es una nota: lo que cuenta es entender cada sugerencia y justificar si aplica.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UNIDAD 2 · BLOQUE 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792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66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Documentación de las medidas de protección</a:t>
            </a:r>
            <a:endParaRPr lang="en-US" sz="3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documentar?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entorno profesional, una medida que no está documentada es como si no existiera. La documentación permite: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7685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14884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Mantener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4320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Que otra persona entienda, mantenga o revierta la configuración.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90138" y="196596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91306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34" y="22768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7378" y="214884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Demostrar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618738" y="274320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Ante una auditoría, un cliente o el ENS y la ISO/IEC 27001 (UT6).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1636" y="196596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32804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227685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08876" y="214884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Reconstruir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60236" y="274320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Saber cuál era la configuración en cada momento si hay un incidente.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073134" y="196596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74302" y="2167128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030" y="227685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850374" y="2148840"/>
            <a:ext cx="160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Repetir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301734" y="274320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E"/>
                </a:solidFill>
              </a:rPr>
              <a:t>Aplicar el mismo bastionado en otros sistemas de forma homogénea.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un informe de bastionado</a:t>
            </a:r>
            <a:endParaRPr lang="en-US" sz="26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525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Identificación del sistema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Nombre, función, sistema operativo y versión, red, responsable, fecha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 y referencia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ha bastionado y con qué guía o criterio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inicial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Hallazgos de la auditoría previa e índice inicial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Medidas aplicadas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ficha por medida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 posterior y comparación con el inicial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Riesgos residuales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no se ha corregido y por qué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Mantenimiento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periódicas recomendadas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cambios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Fecha, cambio y persona responsable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ficha de una medida</a:t>
            </a:r>
            <a:endParaRPr lang="en-US" sz="26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M-03. Deshabilitar el acceso directo de root por SSH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 que mitiga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Fuerza bruta contra root, que existe en todos los sistemas. Obliga a usar cuentas personales: trazabilidad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inicial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sshd -T muestra permitrootlogin prohibit-password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aplicada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10-bastionado.conf con PermitRootLogin no; sshd -t y reload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sshd -T muestra no; ssh root@… es rechazado; un usuario de admins-ssh entra y usa sudo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Capturas de sshd -T y del intento rechazado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7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754880" cy="4754880"/>
          </a:xfrm>
          <a:prstGeom prst="ellipse">
            <a:avLst/>
          </a:prstGeom>
          <a:solidFill>
            <a:srgbClr val="1C304A"/>
          </a:solidFill>
          <a:ln w="12700">
            <a:solidFill>
              <a:srgbClr val="1C30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6F"/>
                </a:solidFill>
              </a:rPr>
              <a:t>EN RESUMEN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Bastionar es trabajar con método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414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Reducir la superficie de ataque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Mantener el sistema actualizado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130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Proteger la autenticación: contraseñas y MFA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988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Limitar los accesos con el mínimo privilegio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18464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Verificar y documentar cada medida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8E3"/>
                </a:solidFill>
              </a:rPr>
              <a:t>Próxima unidad: cortafuegos y monitorización sobre este mismo sistema bastionado.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CS UT2">
  <a:themeElements>
    <a:clrScheme name="FUCS UT2">
      <a:dk1>
        <a:srgbClr val="1F2A37"/>
      </a:dk1>
      <a:lt1>
        <a:srgbClr val="FFFFFF"/>
      </a:lt1>
      <a:dk2>
        <a:srgbClr val="132238"/>
      </a:dk2>
      <a:lt2>
        <a:srgbClr val="F3F5F7"/>
      </a:lt2>
      <a:accent1>
        <a:srgbClr val="B03A2E"/>
      </a:accent1>
      <a:accent2>
        <a:srgbClr val="1C304A"/>
      </a:accent2>
      <a:accent3>
        <a:srgbClr val="5C7A99"/>
      </a:accent3>
      <a:accent4>
        <a:srgbClr val="CBD8E3"/>
      </a:accent4>
      <a:accent5>
        <a:srgbClr val="8FA3B8"/>
      </a:accent5>
      <a:accent6>
        <a:srgbClr val="2E7D5B"/>
      </a:accent6>
      <a:hlink>
        <a:srgbClr val="B03A2E"/>
      </a:hlink>
      <a:folHlink>
        <a:srgbClr val="1C304A"/>
      </a:folHlink>
    </a:clrScheme>
    <a:fontScheme name="FUCS UT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UT2. Bastionado de sistemas</dc:title>
  <dc:subject>PptxGenJS Presentation</dc:subject>
  <dc:creator>Carlos Luque González</dc:creator>
  <cp:lastModifiedBy>Carlos Luque González</cp:lastModifiedBy>
  <cp:revision>1</cp:revision>
  <dcterms:created xsi:type="dcterms:W3CDTF">2026-10-15T21:02:57Z</dcterms:created>
  <dcterms:modified xsi:type="dcterms:W3CDTF">2026-10-15T21:02:57Z</dcterms:modified>
</cp:coreProperties>
</file>