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1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1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1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238"/>
          </a:solidFill>
          <a:ln/>
        </p:spPr>
      </p:sp>
      <p:sp>
        <p:nvSpPr>
          <p:cNvPr id="3" name="Shape 1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663440"/>
            <a:ext cx="3657600" cy="365760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6" name="Image 0" descr="/tmp/claude-0/-home-claude/9bf0f03d-08fd-5ce1-a49b-64caf671baf2/scratchpad/fucs_ut1_pptx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625" y="88422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CIBERSEGURIDAD · 2º DAM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UT1. Amenazas y vulnerabilidades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informáticas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48640" y="3794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para poder proteger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6035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pic>
        <p:nvPicPr>
          <p:cNvPr id="11" name="Image 1" descr="/tmp/claude-0/-home-claude/9bf0f03d-08fd-5ce1-a49b-64caf671baf2/scratchpad/fucs_ut1_pptx/logo_b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552372"/>
            <a:ext cx="5577840" cy="645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 de la unidad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12064" cy="512064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4" name="Image 0" descr="/tmp/claude-0/-home-claude/9bf0f03d-08fd-5ce1-a49b-64caf671baf2/scratchpad/fucs_ut1_pptx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208" y="1621048"/>
            <a:ext cx="378927" cy="3789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81328"/>
            <a:ext cx="512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335024" y="1536192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Conceptos básicos de ciberseguridad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04672" y="2066544"/>
            <a:ext cx="0" cy="274320"/>
          </a:xfrm>
          <a:prstGeom prst="line">
            <a:avLst/>
          </a:prstGeom>
          <a:noFill/>
          <a:ln w="19050">
            <a:solidFill>
              <a:srgbClr val="E1E6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340864"/>
            <a:ext cx="512064" cy="512064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9" name="Image 1" descr="/tmp/claude-0/-home-claude/9bf0f03d-08fd-5ce1-a49b-64caf671baf2/scratchpad/fucs_ut1_pptx/icons/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208" y="2407432"/>
            <a:ext cx="378927" cy="3789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" y="2267712"/>
            <a:ext cx="512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335024" y="2322576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Clasificación de las principales amenazas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804672" y="2852928"/>
            <a:ext cx="0" cy="274320"/>
          </a:xfrm>
          <a:prstGeom prst="line">
            <a:avLst/>
          </a:prstGeom>
          <a:noFill/>
          <a:ln w="19050">
            <a:solidFill>
              <a:srgbClr val="E1E6E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3127248"/>
            <a:ext cx="512064" cy="512064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4" name="Image 2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208" y="3193816"/>
            <a:ext cx="378927" cy="37892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8640" y="3054096"/>
            <a:ext cx="512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1335024" y="310896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Vulnerabilidades en sistemas, redes y aplicaciones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804672" y="3639312"/>
            <a:ext cx="0" cy="274320"/>
          </a:xfrm>
          <a:prstGeom prst="line">
            <a:avLst/>
          </a:prstGeom>
          <a:noFill/>
          <a:ln w="19050">
            <a:solidFill>
              <a:srgbClr val="E1E6E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48640" y="3913632"/>
            <a:ext cx="512064" cy="512064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9" name="Image 3" descr="/tmp/claude-0/-home-claude/9bf0f03d-08fd-5ce1-a49b-64caf671baf2/scratchpad/fucs_ut1_pptx/icons/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208" y="3980200"/>
            <a:ext cx="378927" cy="37892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48640" y="3840480"/>
            <a:ext cx="512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335024" y="3895344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vulnerabilidad al ataque: la explotación</a:t>
            </a:r>
            <a:endParaRPr lang="en-US" sz="1800" dirty="0"/>
          </a:p>
        </p:txBody>
      </p:sp>
      <p:sp>
        <p:nvSpPr>
          <p:cNvPr id="22" name="Shape 16"/>
          <p:cNvSpPr/>
          <p:nvPr/>
        </p:nvSpPr>
        <p:spPr>
          <a:xfrm>
            <a:off x="804672" y="4425696"/>
            <a:ext cx="0" cy="274320"/>
          </a:xfrm>
          <a:prstGeom prst="line">
            <a:avLst/>
          </a:prstGeom>
          <a:noFill/>
          <a:ln w="19050">
            <a:solidFill>
              <a:srgbClr val="E1E6E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4700016"/>
            <a:ext cx="512064" cy="512064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4" name="Image 4" descr="/tmp/claude-0/-home-claude/9bf0f03d-08fd-5ce1-a49b-64caf671baf2/scratchpad/fucs_ut1_pptx/icons/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208" y="4766584"/>
            <a:ext cx="378927" cy="378927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48640" y="4626864"/>
            <a:ext cx="512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1335024" y="4681728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de las amenazas y vulnerabilidades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4672" y="5212080"/>
            <a:ext cx="0" cy="274320"/>
          </a:xfrm>
          <a:prstGeom prst="line">
            <a:avLst/>
          </a:prstGeom>
          <a:noFill/>
          <a:ln w="19050">
            <a:solidFill>
              <a:srgbClr val="E1E6EB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9" name="Image 5" descr="/tmp/claude-0/-home-claude/9bf0f03d-08fd-5ce1-a49b-64caf671baf2/scratchpad/fucs_ut1_pptx/icons/sir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208" y="5552968"/>
            <a:ext cx="378927" cy="378927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48640" y="5413248"/>
            <a:ext cx="512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1335024" y="5468112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Señales y síntomas de actividad maliciosa</a:t>
            </a:r>
            <a:endParaRPr lang="en-US" sz="1800" dirty="0"/>
          </a:p>
        </p:txBody>
      </p:sp>
      <p:sp>
        <p:nvSpPr>
          <p:cNvPr id="32" name="Text 2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4206240" cy="420624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1 · BLOQUE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914400" cy="9144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5" name="Image 0" descr="/tmp/claude-0/-home-claude/9bf0f03d-08fd-5ce1-a49b-64caf671baf2/scratchpad/fucs_ut1_pptx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54203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5204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Conceptos básicos de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ciberseguridad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la ciberseguridad?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políticas, procedimientos, herramientas y buenas prácticas orientadas a proteger sistemas, redes, programas y datos frente a accesos, usos o destrucciones no autorizadas.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solo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tecnología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combina medidas técnicas (configuración, cifrado, cortafuegos), organizativas (políticas, procedimientos) y humanas (concienciación de las personas usuarias).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 usuarias suelen ser el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eslabón más débil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cadena de seguridad.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conceptos que lo explican todo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 de valor: equipos, datos, software, personas, reputación.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332122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451500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sku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43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15002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515002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con potencial de causar daño a un activo.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115605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829848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bu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921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98485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8298485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Debilidad que una amenaza puede aprovechar.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968496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" y="4192524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31520" y="466344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731520" y="5047488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 de que la amenaza explote la vulnerabilidad, combinada con el impacto.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4332122" y="3968496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26" name="Shape 19"/>
          <p:cNvSpPr/>
          <p:nvPr/>
        </p:nvSpPr>
        <p:spPr>
          <a:xfrm>
            <a:off x="4515002" y="4133088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7" name="Image 5" descr="/tmp/claude-0/-home-claude/9bf0f03d-08fd-5ce1-a49b-64caf671baf2/scratchpad/fucs_ut1_pptx/icons/ch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4438" y="4192524"/>
            <a:ext cx="338328" cy="33832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515002" y="466344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4515002" y="5047488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 económica, legal u operativa si el riesgo se materializa.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relacionan estos conceptos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solo se convierte en un problema real cuando encuentra una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puede explotar sobre un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7" name="Shape 4"/>
          <p:cNvSpPr/>
          <p:nvPr/>
        </p:nvSpPr>
        <p:spPr>
          <a:xfrm>
            <a:off x="713232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3232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 de valor a proteger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16504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90824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12" name="Shape 9"/>
          <p:cNvSpPr/>
          <p:nvPr/>
        </p:nvSpPr>
        <p:spPr>
          <a:xfrm>
            <a:off x="3555416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13" name="Text 10"/>
          <p:cNvSpPr/>
          <p:nvPr/>
        </p:nvSpPr>
        <p:spPr>
          <a:xfrm>
            <a:off x="3555416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55416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quiere causarle daño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958688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233008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7600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18" name="Text 15"/>
          <p:cNvSpPr/>
          <p:nvPr/>
        </p:nvSpPr>
        <p:spPr>
          <a:xfrm>
            <a:off x="6397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397600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debilidad que aprovecha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00871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075191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22" name="Shape 19"/>
          <p:cNvSpPr/>
          <p:nvPr/>
        </p:nvSpPr>
        <p:spPr>
          <a:xfrm>
            <a:off x="9239783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23" name="Text 20"/>
          <p:cNvSpPr/>
          <p:nvPr/>
        </p:nvSpPr>
        <p:spPr>
          <a:xfrm>
            <a:off x="9239783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239783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 + IMPACTO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 y gravedad del daño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Amenazas activas y pasivas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318608" cy="4983480"/>
          </a:xfrm>
          <a:prstGeom prst="roundRect">
            <a:avLst>
              <a:gd name="adj" fmla="val 1101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527048"/>
            <a:ext cx="438912" cy="438912"/>
          </a:xfrm>
          <a:prstGeom prst="ellipse">
            <a:avLst/>
          </a:prstGeom>
          <a:solidFill>
            <a:srgbClr val="5C7A99"/>
          </a:solidFill>
          <a:ln/>
        </p:spPr>
      </p:sp>
      <p:pic>
        <p:nvPicPr>
          <p:cNvPr id="7" name="Image 1" descr="/tmp/claude-0/-home-claude/9bf0f03d-08fd-5ce1-a49b-64caf671baf2/scratchpad/fucs_ut1_pptx/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99" y="1584107"/>
            <a:ext cx="324795" cy="32479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80744" y="1527048"/>
            <a:ext cx="4422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Amenazas pasivas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22960" y="2103120"/>
            <a:ext cx="4769968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Observan o interceptan información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modificar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 sistema ni los datos.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Buscan pasar desapercibidas: muy difíciles de detectar.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escucha de tráfico de red (sniffing).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24448" y="1325880"/>
            <a:ext cx="5318608" cy="4983480"/>
          </a:xfrm>
          <a:prstGeom prst="roundRect">
            <a:avLst>
              <a:gd name="adj" fmla="val 1101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6553048" y="1527048"/>
            <a:ext cx="438912" cy="438912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106" y="1584107"/>
            <a:ext cx="324795" cy="32479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56552" y="1527048"/>
            <a:ext cx="4422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Amenazas activas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6598768" y="2103120"/>
            <a:ext cx="4769968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Modifican, interrumpen o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destruyen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información o recursos.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Suplantación de identidad, denegación de servicio, malware.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fáciles de detectar, pero también más dañinas de forma inmediata.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tríada de la seguridad: CIA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3515258" cy="4983480"/>
          </a:xfrm>
          <a:prstGeom prst="roundRect">
            <a:avLst>
              <a:gd name="adj" fmla="val 1821"/>
            </a:avLst>
          </a:prstGeom>
          <a:solidFill>
            <a:srgbClr val="1C304A"/>
          </a:solidFill>
          <a:ln/>
        </p:spPr>
      </p:sp>
      <p:sp>
        <p:nvSpPr>
          <p:cNvPr id="6" name="Shape 3"/>
          <p:cNvSpPr/>
          <p:nvPr/>
        </p:nvSpPr>
        <p:spPr>
          <a:xfrm>
            <a:off x="2013661" y="1618488"/>
            <a:ext cx="585216" cy="585216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739" y="1694566"/>
            <a:ext cx="433060" cy="4330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23774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Confidencialidad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9808" y="2862072"/>
            <a:ext cx="3112922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BD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accede a la información quien está autorizado a verla.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338218" y="1325880"/>
            <a:ext cx="3515258" cy="4983480"/>
          </a:xfrm>
          <a:prstGeom prst="roundRect">
            <a:avLst>
              <a:gd name="adj" fmla="val 1821"/>
            </a:avLst>
          </a:prstGeom>
          <a:solidFill>
            <a:srgbClr val="1C304A"/>
          </a:solidFill>
          <a:ln/>
        </p:spPr>
      </p:sp>
      <p:sp>
        <p:nvSpPr>
          <p:cNvPr id="11" name="Shape 7"/>
          <p:cNvSpPr/>
          <p:nvPr/>
        </p:nvSpPr>
        <p:spPr>
          <a:xfrm>
            <a:off x="5803240" y="1618488"/>
            <a:ext cx="585216" cy="585216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check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318" y="1694566"/>
            <a:ext cx="433060" cy="4330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02810" y="23774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539386" y="2862072"/>
            <a:ext cx="3112922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BD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información no se modifica sin autorización, y se detecta si ocurre.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27797" y="1325880"/>
            <a:ext cx="3515258" cy="4983480"/>
          </a:xfrm>
          <a:prstGeom prst="roundRect">
            <a:avLst>
              <a:gd name="adj" fmla="val 1821"/>
            </a:avLst>
          </a:prstGeom>
          <a:solidFill>
            <a:srgbClr val="1C304A"/>
          </a:solidFill>
          <a:ln/>
        </p:spPr>
      </p:sp>
      <p:sp>
        <p:nvSpPr>
          <p:cNvPr id="16" name="Shape 11"/>
          <p:cNvSpPr/>
          <p:nvPr/>
        </p:nvSpPr>
        <p:spPr>
          <a:xfrm>
            <a:off x="9592818" y="1618488"/>
            <a:ext cx="585216" cy="585216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8896" y="1694566"/>
            <a:ext cx="433060" cy="4330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92389" y="2377440"/>
            <a:ext cx="3186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8328965" y="2862072"/>
            <a:ext cx="3112922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BD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sistemas están accesibles cuando se necesitan.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principios complementarios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318608" cy="4983480"/>
          </a:xfrm>
          <a:prstGeom prst="roundRect">
            <a:avLst>
              <a:gd name="adj" fmla="val 1101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527048"/>
            <a:ext cx="438912" cy="438912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99" y="1584107"/>
            <a:ext cx="324795" cy="32479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80744" y="1527048"/>
            <a:ext cx="4422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Autenticidad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22960" y="2103120"/>
            <a:ext cx="4769968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que el origen de una comunicación o un dato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quien dice ser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verificar que un correo procede realmente de quien lo firma.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24448" y="1325880"/>
            <a:ext cx="5318608" cy="4983480"/>
          </a:xfrm>
          <a:prstGeom prst="roundRect">
            <a:avLst>
              <a:gd name="adj" fmla="val 1101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6553048" y="1527048"/>
            <a:ext cx="438912" cy="438912"/>
          </a:xfrm>
          <a:prstGeom prst="ellipse">
            <a:avLst/>
          </a:prstGeom>
          <a:solidFill>
            <a:srgbClr val="5C7A99"/>
          </a:solidFill>
          <a:ln/>
        </p:spPr>
      </p:sp>
      <p:pic>
        <p:nvPicPr>
          <p:cNvPr id="12" name="Image 2" descr="/tmp/claude-0/-home-claude/9bf0f03d-08fd-5ce1-a49b-64caf671baf2/scratchpad/fucs_ut1_pptx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106" y="1584107"/>
            <a:ext cx="324795" cy="32479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56552" y="1527048"/>
            <a:ext cx="4422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repudio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6598768" y="2103120"/>
            <a:ext cx="4769968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Impide que alguien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niegue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haber realizado una acción que sí llevó a cabo.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una firma electrónica sobre un documento o un envío.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hay detrás de los ataques?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kiddie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Curiosidad o notoriedad; usa herramientas ya creadas por otros.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332122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451500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43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15002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Hacktivista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515002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Motivación ideológica, política o social.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115605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829848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sku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921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98485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Ciberdelincuencia organizada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8298485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 económico: robo de datos, ransomware, fraude.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968496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userfocu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" y="4192524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31520" y="466344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Amenaza interna (insider)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731520" y="5047488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con acceso legítimo que causa un incidente.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4332122" y="3968496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26" name="Shape 19"/>
          <p:cNvSpPr/>
          <p:nvPr/>
        </p:nvSpPr>
        <p:spPr>
          <a:xfrm>
            <a:off x="4515002" y="4133088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7" name="Image 5" descr="/tmp/claude-0/-home-claude/9bf0f03d-08fd-5ce1-a49b-64caf671baf2/scratchpad/fucs_ut1_pptx/icons/robo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4438" y="4192524"/>
            <a:ext cx="338328" cy="33832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515002" y="466344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Actores patrocinados por Estados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4515002" y="5047488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Espionaje o sabotaje; ataques sofisticados y persistentes (APT).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Clasificación según origen y objetivo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2308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02336" cy="402336"/>
          </a:xfrm>
          <a:prstGeom prst="ellipse">
            <a:avLst/>
          </a:prstGeom>
          <a:solidFill>
            <a:srgbClr val="5C7A99"/>
          </a:solidFill>
          <a:ln/>
        </p:spPr>
      </p:sp>
      <p:pic>
        <p:nvPicPr>
          <p:cNvPr id="7" name="Image 1" descr="/tmp/claude-0/-home-claude/9bf0f03d-08fd-5ce1-a49b-64caf671baf2/scratchpad/fucs_ut1_pptx/icons/userfoc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24" y="1542776"/>
            <a:ext cx="297729" cy="29772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71016" y="1490472"/>
            <a:ext cx="455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Internos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749808" y="1965960"/>
            <a:ext cx="50077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Parten de dentro de la organización.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2308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6415888" y="1490472"/>
            <a:ext cx="402336" cy="402336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191" y="1542776"/>
            <a:ext cx="297729" cy="29772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55384" y="1490472"/>
            <a:ext cx="455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Externos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6434176" y="1965960"/>
            <a:ext cx="50077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Parten de fuera de la organización.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2308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731520" y="4142232"/>
            <a:ext cx="402336" cy="402336"/>
          </a:xfrm>
          <a:prstGeom prst="ellipse">
            <a:avLst/>
          </a:prstGeom>
          <a:solidFill>
            <a:srgbClr val="5C7A99"/>
          </a:solidFill>
          <a:ln/>
        </p:spPr>
      </p:sp>
      <p:pic>
        <p:nvPicPr>
          <p:cNvPr id="17" name="Image 3" descr="/tmp/claude-0/-home-claude/9bf0f03d-08fd-5ce1-a49b-64caf671baf2/scratchpad/fucs_ut1_pptx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824" y="4194536"/>
            <a:ext cx="297729" cy="29772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71016" y="4142232"/>
            <a:ext cx="455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Dirigidos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749808" y="4617720"/>
            <a:ext cx="50077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un objetivo concreto, cuidadosamente elegido.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2308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6415888" y="4142232"/>
            <a:ext cx="402336" cy="402336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netwo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8191" y="4194536"/>
            <a:ext cx="297729" cy="29772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955384" y="4142232"/>
            <a:ext cx="455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Masivos</a:t>
            </a:r>
            <a:endParaRPr lang="en-US" sz="1550" dirty="0"/>
          </a:p>
        </p:txBody>
      </p:sp>
      <p:sp>
        <p:nvSpPr>
          <p:cNvPr id="24" name="Text 17"/>
          <p:cNvSpPr/>
          <p:nvPr/>
        </p:nvSpPr>
        <p:spPr>
          <a:xfrm>
            <a:off x="6434176" y="4617720"/>
            <a:ext cx="50077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Lanzados contra el mayor número posible de víctimas.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4206240" cy="420624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1 · BLOQUE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914400" cy="9144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5" name="Image 0" descr="/tmp/claude-0/-home-claude/9bf0f03d-08fd-5ce1-a49b-64caf671baf2/scratchpad/fucs_ut1_pptx/icons/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54203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5204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Clasificación y características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las amenazas informáticas</a:t>
            </a:r>
            <a:endParaRPr lang="en-US" sz="3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Malware: software malicioso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programa diseñado para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infiltrarse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un sistema y causar daño, robar información o tomar el control del equipo sin consentimiento.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Existen numerosas familias de malware, que a menudo se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combinan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entre sí en el malware más moderno.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malware (I)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adjunta a un archivo legítimo; necesita ejecución de la persona usuaria.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332122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451500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43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15002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Gusano (worm)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515002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replica y propaga solo por la red, sin archivo anfitrión.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115605" y="1325880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829848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puzz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921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98485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Troyano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8298485" y="2404872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 un programa útil, pero oculta una función maliciosa.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968496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" y="4192524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31520" y="466344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Ransomware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731520" y="5047488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 los archivos y exige un rescate por la clave.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4332122" y="3968496"/>
            <a:ext cx="3527450" cy="2386584"/>
          </a:xfrm>
          <a:prstGeom prst="roundRect">
            <a:avLst>
              <a:gd name="adj" fmla="val 2299"/>
            </a:avLst>
          </a:prstGeom>
          <a:solidFill>
            <a:srgbClr val="F3F5F7"/>
          </a:solidFill>
          <a:ln/>
        </p:spPr>
      </p:sp>
      <p:sp>
        <p:nvSpPr>
          <p:cNvPr id="26" name="Shape 19"/>
          <p:cNvSpPr/>
          <p:nvPr/>
        </p:nvSpPr>
        <p:spPr>
          <a:xfrm>
            <a:off x="4515002" y="4133088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7" name="Image 5" descr="/tmp/claude-0/-home-claude/9bf0f03d-08fd-5ce1-a49b-64caf671baf2/scratchpad/fucs_ut1_pptx/icons/ey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4438" y="4192524"/>
            <a:ext cx="338328" cy="33832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515002" y="466344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Spyware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4515002" y="5047488"/>
            <a:ext cx="316169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Recopila la actividad de la persona usuaria sin su conocimiento.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malware (II)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Adware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Publicidad no deseada de forma masiva.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86252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356913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56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9132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Rootkit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569132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oculta a bajo nivel para mantener acceso persistente.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23864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6406744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180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6744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Keylogger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6744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 las pulsaciones de teclado (contraseñas, datos).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9061475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924435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3791" y="1549908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44355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/ botnet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9244355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de equipos “zombi” controlada de forma remota.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Ingeniería social: el factor humano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ataca a la máquina, sino a las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manipula psicológicamente a la víctima para que revele información o conceda accesos.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 las vías de entrada más eficaces, porque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elude las medidas técnicas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protección.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m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ingeniería social (I)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3527450" cy="5029200"/>
          </a:xfrm>
          <a:prstGeom prst="roundRect">
            <a:avLst>
              <a:gd name="adj" fmla="val 1555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m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316169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Correos o webs que suplantan a una entidad legítima para robar credenciales.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332122" y="1325880"/>
            <a:ext cx="3527450" cy="5029200"/>
          </a:xfrm>
          <a:prstGeom prst="roundRect">
            <a:avLst>
              <a:gd name="adj" fmla="val 1555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451500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userfocu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43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15002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Spear phishing / whaling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515002" y="2404872"/>
            <a:ext cx="316169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Phishing dirigido y personalizado; el whaling apunta a altos cargos.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115605" y="1325880"/>
            <a:ext cx="3527450" cy="5029200"/>
          </a:xfrm>
          <a:prstGeom prst="roundRect">
            <a:avLst>
              <a:gd name="adj" fmla="val 1555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829848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921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98485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Vishing / smishing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8298485" y="2404872"/>
            <a:ext cx="316169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técnica por llamada de voz o por SMS.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t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ingeniería social (II)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3527450" cy="5029200"/>
          </a:xfrm>
          <a:prstGeom prst="roundRect">
            <a:avLst>
              <a:gd name="adj" fmla="val 1555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Pretexting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316169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atacante inventa una identidad o situación falsa para ganarse la confianza.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332122" y="1325880"/>
            <a:ext cx="3527450" cy="5029200"/>
          </a:xfrm>
          <a:prstGeom prst="roundRect">
            <a:avLst>
              <a:gd name="adj" fmla="val 1555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451500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puzz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43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515002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Baiting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515002" y="2404872"/>
            <a:ext cx="316169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Ofrece un “cebo” (descarga, USB) que en realidad contiene malware.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115605" y="1325880"/>
            <a:ext cx="3527450" cy="5029200"/>
          </a:xfrm>
          <a:prstGeom prst="roundRect">
            <a:avLst>
              <a:gd name="adj" fmla="val 1555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829848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921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298485" y="202082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Shoulder surfing / tailgating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8298485" y="2404872"/>
            <a:ext cx="316169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Observar una contraseña, o colarse tras una persona autorizada.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sir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Denegación de servicio: DoS y DDoS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318608" cy="4983480"/>
          </a:xfrm>
          <a:prstGeom prst="roundRect">
            <a:avLst>
              <a:gd name="adj" fmla="val 1101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527048"/>
            <a:ext cx="438912" cy="438912"/>
          </a:xfrm>
          <a:prstGeom prst="ellipse">
            <a:avLst/>
          </a:prstGeom>
          <a:solidFill>
            <a:srgbClr val="5C7A99"/>
          </a:solidFill>
          <a:ln/>
        </p:spPr>
      </p:sp>
      <p:pic>
        <p:nvPicPr>
          <p:cNvPr id="7" name="Image 1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99" y="1584107"/>
            <a:ext cx="324795" cy="32479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80744" y="1527048"/>
            <a:ext cx="4422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22960" y="2103120"/>
            <a:ext cx="4769968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único origen satura los recursos de un sistema (ancho de banda, CPU, conexiones).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servicio deja de atender peticiones legítimas.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24448" y="1325880"/>
            <a:ext cx="5318608" cy="4983480"/>
          </a:xfrm>
          <a:prstGeom prst="roundRect">
            <a:avLst>
              <a:gd name="adj" fmla="val 1101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6553048" y="1527048"/>
            <a:ext cx="438912" cy="438912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106" y="1584107"/>
            <a:ext cx="324795" cy="32479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56552" y="1527048"/>
            <a:ext cx="4422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DDoS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6598768" y="2103120"/>
            <a:ext cx="4769968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ataque se lanza a la vez desde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 de equipos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normalmente una botnet.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Mucho más difícil de mitigar: el tráfico llega desde direcciones muy diversas.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Ataques Man-in-the-Middle (MITM)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atacante se sitúa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dos partes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se comunican, sin que ninguna lo perciba.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leer, capturar o incluso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modificar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 información que intercambian.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para lograr un MITM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wif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Sniffing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pasiva del tráfico, fácil en redes WiFi abiertas.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86252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356913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56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9132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Spoofing de ARP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569132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ARP falsas que desvían el tráfico de la red local.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23864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6406744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glo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180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6744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Spoofing de DNS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6744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Respuestas DNS falseadas que redirigen a un servidor malicioso.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9061475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924435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k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3791" y="1549908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44355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Secuestro de sesión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9244355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 del identificador de sesión ya autenticada.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Exploits y aplicaciones web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es código o una técnica que aprovecha una vulnerabilidad concreta para provocar un comportamiento no previsto.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inyección SQL y el Cross-Site Scripting aparecen sistemáticamente entre los riesgos más críticos del proyecto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la referencia internacional en seguridad de aplicaciones web.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Inyección SQL (SQLi)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produce cuando una aplicación construye una consulta a la base de datos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concatenando directamente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 datos que introduce la persona usuaria, sin validarlos.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atacante puede escribir código SQL en un formulario para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eludir la autenticación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forzar a la base de datos a devolver información a la que no debería acceder.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Consecuencias: desde el acceso no autorizado hasta la extracción o modificación completa de una base de datos.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Cross-Site Scripting (XSS)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6436"/>
                <a:gridCol w="798797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Variante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actúa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Reflejado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código viaja en la petición (un enlace manipulado); requiere que la víctima haga clic.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Almacenado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código queda guardado en el servidor y se ejecuta para cualquiera que visite la página.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Basado en DOM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vulnerabilidad está en el propio JavaScript del cliente, que manipula el DOM de forma insegura.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4206240" cy="420624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1 · BLOQUE 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914400" cy="9144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5" name="Image 0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54203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5204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Vulnerabilidades en sistemas,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y aplicaciones</a:t>
            </a:r>
            <a:endParaRPr lang="en-US" sz="3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Vulnerabilidades en sistemas operativos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actualizaciones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no se aplica el parche, el fallo conocido sigue siendo explotable.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86252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356913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56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9132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Configuraciones por defecto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569132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Usuarios o contraseñas de fábrica, bien conocidos por los atacantes.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23864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6406744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netwo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180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6744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innecesarios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6744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servicio activo es una puerta de entrada adicional.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9061475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924435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userfocu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3791" y="1549908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44355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Permisos mal configurados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9244355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con más privilegios de los que necesitan.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Vulnerabilidades en aplicaciones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de entradas insuficiente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directo de la inyección SQL y el XSS.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86252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356913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56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9132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débil de sesiones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569132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Identificadores predecibles, que no caducan o viajan sin cifrar.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23864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6406744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180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6744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Dependencias desactualizadas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6744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librería externa con un fallo conocido compromete toda la app.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9061475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924435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3791" y="1549908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44355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control de acceso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9244355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ver datos de otra persona usuaria cambiando un identificador.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wif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Vulnerabilidades en redes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inseguros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Telnet, FTP o HTTP transmiten la información sin cifrar.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86252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356913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wif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56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9132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 mal protegida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569132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abiertas o con WEP, frente a los estándares actuales WPA2 / WPA3.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23864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6406744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netwo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180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6744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Segmentación deficiente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6744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equipo comprometido sirve de puente para atacar al resto.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9061475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924435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3791" y="1549908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44355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de red desactualizados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9244355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de fábrica o firmware sin actualizar.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Catalogar las vulnerabilidades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318608" cy="4983480"/>
          </a:xfrm>
          <a:prstGeom prst="roundRect">
            <a:avLst>
              <a:gd name="adj" fmla="val 1101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1527048"/>
            <a:ext cx="438912" cy="438912"/>
          </a:xfrm>
          <a:prstGeom prst="ellipse">
            <a:avLst/>
          </a:prstGeom>
          <a:solidFill>
            <a:srgbClr val="5C7A99"/>
          </a:solidFill>
          <a:ln/>
        </p:spPr>
      </p:sp>
      <p:pic>
        <p:nvPicPr>
          <p:cNvPr id="7" name="Image 1" descr="/tmp/claude-0/-home-claude/9bf0f03d-08fd-5ce1-a49b-64caf671baf2/scratchpad/fucs_ut1_pptx/icons/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99" y="1584107"/>
            <a:ext cx="324795" cy="32479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80744" y="1527048"/>
            <a:ext cx="4422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CVE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22960" y="2103120"/>
            <a:ext cx="4769968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Vulnerabilities and Exposures.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público que asigna un identificador único a cada vulnerabilidad descubierta.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24448" y="1325880"/>
            <a:ext cx="5318608" cy="4983480"/>
          </a:xfrm>
          <a:prstGeom prst="roundRect">
            <a:avLst>
              <a:gd name="adj" fmla="val 1101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6553048" y="1527048"/>
            <a:ext cx="438912" cy="438912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106" y="1584107"/>
            <a:ext cx="324795" cy="32479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56552" y="1527048"/>
            <a:ext cx="4422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CVSS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6598768" y="2103120"/>
            <a:ext cx="4769968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Vulnerability Scoring System.</a:t>
            </a:r>
            <a:endParaRPr lang="en-US" sz="1500" dirty="0"/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puntuación que valora la gravedad de cada vulnerabilidad de 0 a 10.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4206240" cy="420624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1 · BLOQUE 4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914400" cy="9144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5" name="Image 0" descr="/tmp/claude-0/-home-claude/9bf0f03d-08fd-5ce1-a49b-64caf671baf2/scratchpad/fucs_ut1_pptx/icon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54203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5204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vulnerabilidad al ataque: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mecánica de la explotación</a:t>
            </a:r>
            <a:endParaRPr lang="en-US" sz="3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habituales de una intrusión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1299637" y="1783080"/>
            <a:ext cx="512064" cy="512064"/>
          </a:xfrm>
          <a:prstGeom prst="ellipse">
            <a:avLst/>
          </a:prstGeom>
          <a:solidFill>
            <a:srgbClr val="132238"/>
          </a:solidFill>
          <a:ln/>
        </p:spPr>
      </p:sp>
      <p:sp>
        <p:nvSpPr>
          <p:cNvPr id="6" name="Text 3"/>
          <p:cNvSpPr/>
          <p:nvPr/>
        </p:nvSpPr>
        <p:spPr>
          <a:xfrm>
            <a:off x="1299637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866565" y="2039112"/>
            <a:ext cx="146304" cy="0"/>
          </a:xfrm>
          <a:prstGeom prst="line">
            <a:avLst/>
          </a:prstGeom>
          <a:noFill/>
          <a:ln w="25400">
            <a:solidFill>
              <a:srgbClr val="CBD8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478024"/>
            <a:ext cx="2014057" cy="2322576"/>
          </a:xfrm>
          <a:prstGeom prst="roundRect">
            <a:avLst>
              <a:gd name="adj" fmla="val 2724"/>
            </a:avLst>
          </a:prstGeom>
          <a:solidFill>
            <a:srgbClr val="F3F5F7"/>
          </a:solidFill>
          <a:ln/>
        </p:spPr>
      </p:sp>
      <p:sp>
        <p:nvSpPr>
          <p:cNvPr id="9" name="Text 6"/>
          <p:cNvSpPr/>
          <p:nvPr/>
        </p:nvSpPr>
        <p:spPr>
          <a:xfrm>
            <a:off x="676656" y="258775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Reconocimiento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76656" y="3008376"/>
            <a:ext cx="1758025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Recopilar información del objetivo: dominios, IPs, tecnologías, personas.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569726" y="1783080"/>
            <a:ext cx="512064" cy="512064"/>
          </a:xfrm>
          <a:prstGeom prst="ellipse">
            <a:avLst/>
          </a:prstGeom>
          <a:solidFill>
            <a:srgbClr val="132238"/>
          </a:solidFill>
          <a:ln/>
        </p:spPr>
      </p:sp>
      <p:sp>
        <p:nvSpPr>
          <p:cNvPr id="12" name="Text 9"/>
          <p:cNvSpPr/>
          <p:nvPr/>
        </p:nvSpPr>
        <p:spPr>
          <a:xfrm>
            <a:off x="3569726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136654" y="2039112"/>
            <a:ext cx="146304" cy="0"/>
          </a:xfrm>
          <a:prstGeom prst="line">
            <a:avLst/>
          </a:prstGeom>
          <a:noFill/>
          <a:ln w="25400">
            <a:solidFill>
              <a:srgbClr val="CBD8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18729" y="2478024"/>
            <a:ext cx="2014057" cy="2322576"/>
          </a:xfrm>
          <a:prstGeom prst="roundRect">
            <a:avLst>
              <a:gd name="adj" fmla="val 2724"/>
            </a:avLst>
          </a:prstGeom>
          <a:solidFill>
            <a:srgbClr val="F3F5F7"/>
          </a:solidFill>
          <a:ln/>
        </p:spPr>
      </p:sp>
      <p:sp>
        <p:nvSpPr>
          <p:cNvPr id="15" name="Text 12"/>
          <p:cNvSpPr/>
          <p:nvPr/>
        </p:nvSpPr>
        <p:spPr>
          <a:xfrm>
            <a:off x="2946745" y="258775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Escaneo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946745" y="3008376"/>
            <a:ext cx="1758025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puertos abiertos y vulnerabilidades, con herramientas automáticas.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839816" y="1783080"/>
            <a:ext cx="512064" cy="512064"/>
          </a:xfrm>
          <a:prstGeom prst="ellipse">
            <a:avLst/>
          </a:prstGeom>
          <a:solidFill>
            <a:srgbClr val="132238"/>
          </a:solidFill>
          <a:ln/>
        </p:spPr>
      </p:sp>
      <p:sp>
        <p:nvSpPr>
          <p:cNvPr id="18" name="Text 15"/>
          <p:cNvSpPr/>
          <p:nvPr/>
        </p:nvSpPr>
        <p:spPr>
          <a:xfrm>
            <a:off x="5839816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406744" y="2039112"/>
            <a:ext cx="146304" cy="0"/>
          </a:xfrm>
          <a:prstGeom prst="line">
            <a:avLst/>
          </a:prstGeom>
          <a:noFill/>
          <a:ln w="25400">
            <a:solidFill>
              <a:srgbClr val="CBD8E3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88819" y="2478024"/>
            <a:ext cx="2014057" cy="2322576"/>
          </a:xfrm>
          <a:prstGeom prst="roundRect">
            <a:avLst>
              <a:gd name="adj" fmla="val 2724"/>
            </a:avLst>
          </a:prstGeom>
          <a:solidFill>
            <a:srgbClr val="F3F5F7"/>
          </a:solidFill>
          <a:ln/>
        </p:spPr>
      </p:sp>
      <p:sp>
        <p:nvSpPr>
          <p:cNvPr id="21" name="Text 18"/>
          <p:cNvSpPr/>
          <p:nvPr/>
        </p:nvSpPr>
        <p:spPr>
          <a:xfrm>
            <a:off x="5216835" y="258775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Explotación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216835" y="3008376"/>
            <a:ext cx="1758025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un exploit para aprovechar una vulnerabilidad y obtener acceso.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109905" y="1783080"/>
            <a:ext cx="512064" cy="512064"/>
          </a:xfrm>
          <a:prstGeom prst="ellipse">
            <a:avLst/>
          </a:prstGeom>
          <a:solidFill>
            <a:srgbClr val="132238"/>
          </a:solidFill>
          <a:ln/>
        </p:spPr>
      </p:sp>
      <p:sp>
        <p:nvSpPr>
          <p:cNvPr id="24" name="Text 21"/>
          <p:cNvSpPr/>
          <p:nvPr/>
        </p:nvSpPr>
        <p:spPr>
          <a:xfrm>
            <a:off x="8109905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8676833" y="2039112"/>
            <a:ext cx="146304" cy="0"/>
          </a:xfrm>
          <a:prstGeom prst="line">
            <a:avLst/>
          </a:prstGeom>
          <a:noFill/>
          <a:ln w="25400">
            <a:solidFill>
              <a:srgbClr val="CBD8E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58908" y="2478024"/>
            <a:ext cx="2014057" cy="2322576"/>
          </a:xfrm>
          <a:prstGeom prst="roundRect">
            <a:avLst>
              <a:gd name="adj" fmla="val 2724"/>
            </a:avLst>
          </a:prstGeom>
          <a:solidFill>
            <a:srgbClr val="F3F5F7"/>
          </a:solidFill>
          <a:ln/>
        </p:spPr>
      </p:sp>
      <p:sp>
        <p:nvSpPr>
          <p:cNvPr id="27" name="Text 24"/>
          <p:cNvSpPr/>
          <p:nvPr/>
        </p:nvSpPr>
        <p:spPr>
          <a:xfrm>
            <a:off x="7486924" y="258775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 del acceso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486924" y="3008376"/>
            <a:ext cx="1758025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Conservar el acceso conseguido, p. ej. con una puerta trasera.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0379994" y="1783080"/>
            <a:ext cx="512064" cy="512064"/>
          </a:xfrm>
          <a:prstGeom prst="ellipse">
            <a:avLst/>
          </a:prstGeom>
          <a:solidFill>
            <a:srgbClr val="132238"/>
          </a:solidFill>
          <a:ln/>
        </p:spPr>
      </p:sp>
      <p:sp>
        <p:nvSpPr>
          <p:cNvPr id="30" name="Text 27"/>
          <p:cNvSpPr/>
          <p:nvPr/>
        </p:nvSpPr>
        <p:spPr>
          <a:xfrm>
            <a:off x="10379994" y="17830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9628998" y="2478024"/>
            <a:ext cx="2014057" cy="2322576"/>
          </a:xfrm>
          <a:prstGeom prst="roundRect">
            <a:avLst>
              <a:gd name="adj" fmla="val 2724"/>
            </a:avLst>
          </a:prstGeom>
          <a:solidFill>
            <a:srgbClr val="F3F5F7"/>
          </a:solidFill>
          <a:ln/>
        </p:spPr>
      </p:sp>
      <p:sp>
        <p:nvSpPr>
          <p:cNvPr id="32" name="Text 29"/>
          <p:cNvSpPr/>
          <p:nvPr/>
        </p:nvSpPr>
        <p:spPr>
          <a:xfrm>
            <a:off x="9757014" y="2587752"/>
            <a:ext cx="17580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Eliminación de rastros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757014" y="3008376"/>
            <a:ext cx="1758025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Borrar o alterar registros para dificultar la detección.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automatizadas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Existen herramientas capaces de rastrear grandes rangos de direcciones en busca de vulnerabilidades conocidas y, en algunos casos, de lanzar el exploit de forma casi automática.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Esas mismas herramientas, usadas de forma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autorizada y ética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son las que se emplean en las auditorías de seguridad.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y la autorización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son lo que diferencia una prueba de seguridad legítima de un delito informático.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sk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práctico · Ransomware WannaCry (2017)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propagó explotando una vulnerabilidad del protocolo SMB de Windows para la que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existía un parche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disponible desde meses antes.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7" name="Shape 4"/>
          <p:cNvSpPr/>
          <p:nvPr/>
        </p:nvSpPr>
        <p:spPr>
          <a:xfrm>
            <a:off x="713232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3232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fallo conocido y sin corregir en miles de equipos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16504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90824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12" name="Shape 9"/>
          <p:cNvSpPr/>
          <p:nvPr/>
        </p:nvSpPr>
        <p:spPr>
          <a:xfrm>
            <a:off x="3555416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13" name="Text 10"/>
          <p:cNvSpPr/>
          <p:nvPr/>
        </p:nvSpPr>
        <p:spPr>
          <a:xfrm>
            <a:off x="3555416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55416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público, permitía aprovecharla de forma remota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958688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233008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7600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18" name="Text 15"/>
          <p:cNvSpPr/>
          <p:nvPr/>
        </p:nvSpPr>
        <p:spPr>
          <a:xfrm>
            <a:off x="6397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397600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MALWARE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cifra los archivos de la víctima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00871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075191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22" name="Shape 19"/>
          <p:cNvSpPr/>
          <p:nvPr/>
        </p:nvSpPr>
        <p:spPr>
          <a:xfrm>
            <a:off x="9239783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23" name="Text 20"/>
          <p:cNvSpPr/>
          <p:nvPr/>
        </p:nvSpPr>
        <p:spPr>
          <a:xfrm>
            <a:off x="9239783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239783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RESCATE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exige el pago para recuperar el acceso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práctico · Inyección SQL en un login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formulario de acceso construye la consulta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validar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 datos introducidos por la persona usuaria.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7" name="Shape 4"/>
          <p:cNvSpPr/>
          <p:nvPr/>
        </p:nvSpPr>
        <p:spPr>
          <a:xfrm>
            <a:off x="713232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3232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validación de entradas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16504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90824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12" name="Shape 9"/>
          <p:cNvSpPr/>
          <p:nvPr/>
        </p:nvSpPr>
        <p:spPr>
          <a:xfrm>
            <a:off x="3555416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13" name="Text 10"/>
          <p:cNvSpPr/>
          <p:nvPr/>
        </p:nvSpPr>
        <p:spPr>
          <a:xfrm>
            <a:off x="3555416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55416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SQL introducido en el propio formulario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958688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233008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7600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18" name="Text 15"/>
          <p:cNvSpPr/>
          <p:nvPr/>
        </p:nvSpPr>
        <p:spPr>
          <a:xfrm>
            <a:off x="63976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397600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condición de la consulta se vuelve siempre cierta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00871" y="2514600"/>
            <a:ext cx="2743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075191" y="2514600"/>
            <a:ext cx="2567864" cy="3794760"/>
          </a:xfrm>
          <a:prstGeom prst="roundRect">
            <a:avLst>
              <a:gd name="adj" fmla="val 2137"/>
            </a:avLst>
          </a:prstGeom>
          <a:solidFill>
            <a:srgbClr val="F3F5F7"/>
          </a:solidFill>
          <a:ln/>
        </p:spPr>
      </p:sp>
      <p:sp>
        <p:nvSpPr>
          <p:cNvPr id="22" name="Shape 19"/>
          <p:cNvSpPr/>
          <p:nvPr/>
        </p:nvSpPr>
        <p:spPr>
          <a:xfrm>
            <a:off x="9239783" y="2679192"/>
            <a:ext cx="365760" cy="365760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23" name="Text 20"/>
          <p:cNvSpPr/>
          <p:nvPr/>
        </p:nvSpPr>
        <p:spPr>
          <a:xfrm>
            <a:off x="9239783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239783" y="3154680"/>
            <a:ext cx="22386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sin conocer ninguna contraseña válida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4206240" cy="420624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1 · BLOQUE 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914400" cy="9144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5" name="Image 0" descr="/tmp/claude-0/-home-claude/9bf0f03d-08fd-5ce1-a49b-64caf671baf2/scratchpad/fucs_ut1_pptx/icon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54203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5204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de las amenazas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vulnerabilidades</a:t>
            </a:r>
            <a:endParaRPr lang="en-US" sz="3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sobre la tríada CIA</a:t>
            </a:r>
            <a:endParaRPr lang="en-US" sz="2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772101"/>
                <a:gridCol w="3328325"/>
                <a:gridCol w="399398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Amenaza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Principio afectado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 de datos / spyware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Confidencialidad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Exposición de datos de clientes.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Modificación no autorizada / MITM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Alteración del importe de una transferencia.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/ DDoS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tienda online deja de estar accesible.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Ransomware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Integridad y disponibilidad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Archivos cifrados e inaccesibles.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Phishing con robo de credenciales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Confidencialidad e integridad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 y modificación de una cuenta.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allá del CIA: otras consecuencias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7" name="Image 1" descr="/tmp/claude-0/-home-claude/9bf0f03d-08fd-5ce1-a49b-64caf671baf2/scratchpad/fucs_ut1_pptx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49908"/>
            <a:ext cx="338328" cy="3383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Económico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31520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Coste de respuesta, recuperación, rescates o pérdida de negocio.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86252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1" name="Shape 7"/>
          <p:cNvSpPr/>
          <p:nvPr/>
        </p:nvSpPr>
        <p:spPr>
          <a:xfrm>
            <a:off x="3569132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2" name="Image 2" descr="/tmp/claude-0/-home-claude/9bf0f03d-08fd-5ce1-a49b-64caf671baf2/scratchpad/fucs_ut1_pptx/icon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568" y="1549908"/>
            <a:ext cx="338328" cy="33832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9132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Reputacional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3569132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Pérdida de confianza de clientes, usuarios o socios.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23864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16" name="Shape 11"/>
          <p:cNvSpPr/>
          <p:nvPr/>
        </p:nvSpPr>
        <p:spPr>
          <a:xfrm>
            <a:off x="6406744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17" name="Image 3" descr="/tmp/claude-0/-home-claude/9bf0f03d-08fd-5ce1-a49b-64caf671baf2/scratchpad/fucs_ut1_pptx/icons/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6180" y="1549908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6744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y normativo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6744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Posibles sanciones por incumplimiento normativo.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9061475" y="1325880"/>
            <a:ext cx="2581580" cy="5029200"/>
          </a:xfrm>
          <a:prstGeom prst="roundRect">
            <a:avLst>
              <a:gd name="adj" fmla="val 2125"/>
            </a:avLst>
          </a:prstGeom>
          <a:solidFill>
            <a:srgbClr val="F3F5F7"/>
          </a:solidFill>
          <a:ln/>
        </p:spPr>
      </p:sp>
      <p:sp>
        <p:nvSpPr>
          <p:cNvPr id="21" name="Shape 15"/>
          <p:cNvSpPr/>
          <p:nvPr/>
        </p:nvSpPr>
        <p:spPr>
          <a:xfrm>
            <a:off x="9244355" y="1490472"/>
            <a:ext cx="457200" cy="4572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22" name="Image 4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3791" y="1549908"/>
            <a:ext cx="338328" cy="3383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244355" y="202082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Operativo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9244355" y="2404872"/>
            <a:ext cx="2215820" cy="3813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Interrupción de la actividad y pérdida de productividad.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base de la gestión de riesgos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132238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150876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  =  PROBABILIDAD  ×  IMPACTO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3337560"/>
            <a:ext cx="1109441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Combinar la probabilidad de que una amenaza llegue a explotar una vulnerabilidad con la gravedad del impacto si eso ocurre es la base de la gestión de riesgos, un enfoque que se retomará al final del módulo.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3931920"/>
            <a:ext cx="4206240" cy="420624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 1 · BLOQUE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914400" cy="91440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5" name="Image 0" descr="/tmp/claude-0/-home-claude/9bf0f03d-08fd-5ce1-a49b-64caf671baf2/scratchpad/fucs_ut1_pptx/icons/sir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54203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52044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Señales y síntomas de amenazas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vulnerabilidades activas</a:t>
            </a:r>
            <a:endParaRPr lang="en-US" sz="3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importa detectar a tiempo?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Cuanto antes se detecta un problema,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es su impacto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más fácil resulta contenerlo.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Estas señales se observan tanto en los propios equipos como en el tráfico de la red.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Señales de actividad sospechosa en un sistema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5318608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Lentitud o consumo anómalo de recursos (CPU, memoria, disco).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Procesos o programas desconocidos, o que se inician solos.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Archivos que se modifican o cifran de forma inesperada.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 no autorizados en la configuración o el cortafuegos.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324448" y="1325880"/>
            <a:ext cx="5318608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Cuentas de usuario nuevas o permisos que cambian sin motivo.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o notas de rescate no generados voluntariamente.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Desactivación inesperada del antivirus.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Señales de actividad sospechosa en la red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Picos de tráfico inusuales, sobre todo hacia fuera de la red.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Conexiones hacia direcciones IP o dominios desconocidos.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Patrones compatibles con un escaneo de puertos.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Tráfico periódico hacia un mismo destino externo (posible C2).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Múltiples intentos fallidos de inicio de sesión en poco tiempo.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3" name="Image 0" descr="/tmp/claude-0/-home-claude/9bf0f03d-08fd-5ce1-a49b-64caf671baf2/scratchpad/fucs_ut1_pptx/icons/check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530901"/>
            <a:ext cx="419527" cy="4195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02336"/>
            <a:ext cx="1027145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Monitorización y registro: la primera línea de defensa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11094415" cy="4983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señal es, por sí sola, una prueba definitiva: puede tener una explicación legítima.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monitorización continua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el registro sistemático de la actividad (los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permiten comparar lo observado con el comportamiento habitual y detectar así las desviaciones.</a:t>
            </a:r>
            <a:endParaRPr lang="en-US" sz="1700" dirty="0"/>
          </a:p>
          <a:p>
            <a:pPr indent="0" marL="0">
              <a:lnSpc>
                <a:spcPct val="12500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herramientas concretas para vigilar estas señales se estudiarán en la siguiente unidad de trabajo.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5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UT1 · Amenazas y vulnerabilidades informáticas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114800" cy="4114800"/>
          </a:xfrm>
          <a:prstGeom prst="ellipse">
            <a:avLst/>
          </a:prstGeom>
          <a:solidFill>
            <a:srgbClr val="1C30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640080" cy="640080"/>
          </a:xfrm>
          <a:prstGeom prst="ellipse">
            <a:avLst/>
          </a:prstGeom>
          <a:solidFill>
            <a:srgbClr val="B03A2E"/>
          </a:solidFill>
          <a:ln/>
        </p:spPr>
      </p:sp>
      <p:pic>
        <p:nvPicPr>
          <p:cNvPr id="4" name="Image 0" descr="/tmp/claude-0/-home-claude/9bf0f03d-08fd-5ce1-a49b-64caf671baf2/scratchpad/fucs_ut1_pptx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" y="723290"/>
            <a:ext cx="473659" cy="4736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63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síntesis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1109441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CBD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ciberseguridad protege activos frente a amenazas que explotan vulnerabilidades, afectando a la confidencialidad, la integridad y la disponibilidad.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CBD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Conocer malware, ingeniería social, ataques de red y ataques web permite anticipar el tipo de amenaza al que se enfrenta un sistema.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CBD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vulnerabilidad, en sistemas, redes o aplicaciones, es una puerta que un exploit puede llegar a atravesar.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CBD8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las señales de actividad sospechosa a tiempo reduce el impacto de un incidente.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8235"/>
            </a:avLst>
          </a:prstGeom>
          <a:solidFill>
            <a:srgbClr val="1C304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6235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unidad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UT2 · Medidas de protección básicas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UT1. Amenazas y vulnerabilidades informáticas</dc:title>
  <dc:subject>PptxGenJS Presentation</dc:subject>
  <dc:creator>CIFP Santa Catalina</dc:creator>
  <cp:lastModifiedBy>CIFP Santa Catalina</cp:lastModifiedBy>
  <cp:revision>1</cp:revision>
  <dcterms:created xsi:type="dcterms:W3CDTF">2026-09-22T19:06:43Z</dcterms:created>
  <dcterms:modified xsi:type="dcterms:W3CDTF">2026-09-22T19:06:43Z</dcterms:modified>
</cp:coreProperties>
</file>