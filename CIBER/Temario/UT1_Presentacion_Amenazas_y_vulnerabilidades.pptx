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19EFDA-8E4C-4E0E-ABF2-EB7284F56AF6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C7915-8D34-44AB-85C0-DD2AD9EBFF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A5645B-D208-4197-9779-7C8E7DC0AB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0B8838-AAA6-4171-A77C-878BD538AE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96950-B621-4897-A1F2-1FE5945FDF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188267-341F-49E1-A468-3DC89768F8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707985-E5EA-4B9F-94FA-E8A56FABC8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162A67-7A13-4B80-88FD-8D2453B674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5DD745-EB5E-4173-9810-69E7158163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08402-007F-4774-A249-1EE63932A5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04B99-55DB-4732-9DD6-6A306C51BA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CA53A6-29A0-40E4-AE4C-B15CD15FD2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EFB296-7083-420C-A0B7-1213608612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3DEA95-A5D0-4A35-A820-0B1D15D870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BB53E1-E9CD-4EE8-B883-3DCF8A3330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792CCE-7097-4983-BD39-996C6E2194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EDED4-12DF-4CEC-B5A2-FF894B128F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721CE8-5CF8-45AF-B7FE-59863CF16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A6472-F565-42FA-A880-C704EFE6E7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DDAE17-ECAB-4F31-A7DD-3FFF258BB8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68902A-BE61-4943-A997-89AAF5FCC8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2D149-21A0-4C97-A880-29EAF1A32A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38C4C2-F56B-424E-99CA-B8BCE377DD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95879-EB2A-4CFE-854A-C16EEB2FB9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F76BB-851E-45FC-B681-7D72C2D320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1E3B4-3BB8-498F-89E3-12B733EA1F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293B75-CBF7-4708-AE22-62E2C63DC6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C09584-FE12-4046-A4D4-9A7CBD2301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2EE3F3-BD6B-4C5D-87A7-F5D455B1C3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DF356-E82F-4D1D-B0B0-52DA45957B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3BBA3-A27A-40B7-8BFB-90D48C51B4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CCD736-AEF2-4666-8C8C-4346A702B9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9FA822-12F3-4F92-9FF8-32241F716B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78AD49-DD67-403B-963B-038C1CDC68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5216DC-F825-4C7A-B43C-C511D7008C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5F199-ABC9-46BE-8734-9E927358E3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19212D-DCC8-4AF4-99AB-1E8F95F9F9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A7EAF8-731E-4C13-9376-866B2D121C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74E498-E505-4101-BA81-EE4A072FE2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156295-971B-4643-97E0-45456A8D1F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D6176-F272-4B17-97A2-A8AC0F4587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C8A2B-8BF8-43AB-8B86-511A62D86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94291-7FEF-4D82-B235-DC6A9A9131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2D473-9549-4E2F-BF32-36E6395125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0BCE32-4D26-4458-8FC4-5AA4753C38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3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8.png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17.png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899920" y="-1463040"/>
            <a:ext cx="4754520" cy="475452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663440"/>
            <a:ext cx="3657240" cy="365724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48640" y="777240"/>
            <a:ext cx="822600" cy="8226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55560" y="884160"/>
            <a:ext cx="608760" cy="60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4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FUNDAMENTOS DE CIBERSEGURIDAD · 2º DAM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48640" y="2377440"/>
            <a:ext cx="11094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UT1. Amenazas y vulnerabilidades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informáticas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3794760"/>
            <a:ext cx="1109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Identificar para poder proteger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548640" y="5440680"/>
            <a:ext cx="603468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1" descr="/tmp/claude-0/-home-claude/9bf0f03d-08fd-5ce1-a49b-64caf671baf2/scratchpad/fucs_ut1_pptx/logo_bar.png"/>
          <p:cNvPicPr/>
          <p:nvPr/>
        </p:nvPicPr>
        <p:blipFill>
          <a:blip r:embed="rId2"/>
          <a:stretch/>
        </p:blipFill>
        <p:spPr>
          <a:xfrm>
            <a:off x="777240" y="5552280"/>
            <a:ext cx="5577480" cy="64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48640" y="45720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Contenidos de la unidad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548640" y="155448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15240" y="162108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2"/>
          <p:cNvSpPr/>
          <p:nvPr/>
        </p:nvSpPr>
        <p:spPr>
          <a:xfrm>
            <a:off x="548640" y="148140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334880" y="153612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Conceptos básicos de ciberseguridad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804600" y="2066400"/>
            <a:ext cx="360" cy="274320"/>
          </a:xfrm>
          <a:prstGeom prst="line">
            <a:avLst/>
          </a:prstGeom>
          <a:ln w="19050">
            <a:solidFill>
              <a:srgbClr val="E1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548640" y="234072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/tmp/claude-0/-home-claude/9bf0f03d-08fd-5ce1-a49b-64caf671baf2/scratchpad/fucs_ut1_pptx/icons/bug.png"/>
          <p:cNvPicPr/>
          <p:nvPr/>
        </p:nvPicPr>
        <p:blipFill>
          <a:blip r:embed="rId2"/>
          <a:stretch/>
        </p:blipFill>
        <p:spPr>
          <a:xfrm>
            <a:off x="615240" y="240732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6"/>
          <p:cNvSpPr/>
          <p:nvPr/>
        </p:nvSpPr>
        <p:spPr>
          <a:xfrm>
            <a:off x="548640" y="226764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1334880" y="232272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Clasificación de las principales amenazas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804600" y="2852640"/>
            <a:ext cx="360" cy="274320"/>
          </a:xfrm>
          <a:prstGeom prst="line">
            <a:avLst/>
          </a:prstGeom>
          <a:ln w="19050">
            <a:solidFill>
              <a:srgbClr val="E1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548640" y="312732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2" descr="/tmp/claude-0/-home-claude/9bf0f03d-08fd-5ce1-a49b-64caf671baf2/scratchpad/fucs_ut1_pptx/icons/warning.png"/>
          <p:cNvPicPr/>
          <p:nvPr/>
        </p:nvPicPr>
        <p:blipFill>
          <a:blip r:embed="rId3"/>
          <a:stretch/>
        </p:blipFill>
        <p:spPr>
          <a:xfrm>
            <a:off x="615240" y="319392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0"/>
          <p:cNvSpPr/>
          <p:nvPr/>
        </p:nvSpPr>
        <p:spPr>
          <a:xfrm>
            <a:off x="548640" y="305424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1334880" y="310896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Vulnerabilidades en sistemas, redes y aplicaciones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804600" y="3639240"/>
            <a:ext cx="360" cy="274320"/>
          </a:xfrm>
          <a:prstGeom prst="line">
            <a:avLst/>
          </a:prstGeom>
          <a:ln w="19050">
            <a:solidFill>
              <a:srgbClr val="E1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548640" y="391356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3" descr="/tmp/claude-0/-home-claude/9bf0f03d-08fd-5ce1-a49b-64caf671baf2/scratchpad/fucs_ut1_pptx/icons/flow.png"/>
          <p:cNvPicPr/>
          <p:nvPr/>
        </p:nvPicPr>
        <p:blipFill>
          <a:blip r:embed="rId4"/>
          <a:stretch/>
        </p:blipFill>
        <p:spPr>
          <a:xfrm>
            <a:off x="615240" y="398016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548640" y="384048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1334880" y="389520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De la vulnerabilidad al ataque: la explotación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804600" y="4425480"/>
            <a:ext cx="360" cy="274320"/>
          </a:xfrm>
          <a:prstGeom prst="line">
            <a:avLst/>
          </a:prstGeom>
          <a:ln w="19050">
            <a:solidFill>
              <a:srgbClr val="E1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548640" y="470016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4" descr="/tmp/claude-0/-home-claude/9bf0f03d-08fd-5ce1-a49b-64caf671baf2/scratchpad/fucs_ut1_pptx/icons/chart.png"/>
          <p:cNvPicPr/>
          <p:nvPr/>
        </p:nvPicPr>
        <p:blipFill>
          <a:blip r:embed="rId5"/>
          <a:stretch/>
        </p:blipFill>
        <p:spPr>
          <a:xfrm>
            <a:off x="615240" y="476676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8"/>
          <p:cNvSpPr/>
          <p:nvPr/>
        </p:nvSpPr>
        <p:spPr>
          <a:xfrm>
            <a:off x="548640" y="462672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1334880" y="468180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Consecuencias de las amenazas y vulnerabilidades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804600" y="5212080"/>
            <a:ext cx="360" cy="274320"/>
          </a:xfrm>
          <a:prstGeom prst="line">
            <a:avLst/>
          </a:prstGeom>
          <a:ln w="19050">
            <a:solidFill>
              <a:srgbClr val="E1E6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548640" y="5486400"/>
            <a:ext cx="511560" cy="51156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5" descr="/tmp/claude-0/-home-claude/9bf0f03d-08fd-5ce1-a49b-64caf671baf2/scratchpad/fucs_ut1_pptx/icons/siren.png"/>
          <p:cNvPicPr/>
          <p:nvPr/>
        </p:nvPicPr>
        <p:blipFill>
          <a:blip r:embed="rId6"/>
          <a:stretch/>
        </p:blipFill>
        <p:spPr>
          <a:xfrm>
            <a:off x="615240" y="5553000"/>
            <a:ext cx="378720" cy="37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22"/>
          <p:cNvSpPr/>
          <p:nvPr/>
        </p:nvSpPr>
        <p:spPr>
          <a:xfrm>
            <a:off x="548640" y="5413320"/>
            <a:ext cx="51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1334880" y="546804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Señales y síntomas de actividad maliciosa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1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Conceptos básicos de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ciberseguridad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¿Qué es la ciberseguridad?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Conjunto de políticas, procedimientos, herramientas y buenas prácticas orientadas a proteger sistemas, redes, programas y datos frente a accesos, usos o destrucciones no autorizadas.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No es solo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tecnología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: combina medidas técnicas (configuración, cifrado, cortafuegos), organizativas (políticas, procedimientos) y humanas (concienciación de las personas usuarias).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Las personas usuarias suelen ser el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eslabón más débil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de la cadena de seguridad.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Cinco conceptos que lo explican todo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486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1" descr="/tmp/claude-0/-home-claude/9bf0f03d-08fd-5ce1-a49b-64caf671baf2/scratchpad/fucs_ut1_pptx/icons/database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4"/>
          <p:cNvSpPr/>
          <p:nvPr/>
        </p:nvSpPr>
        <p:spPr>
          <a:xfrm>
            <a:off x="7315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Activo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315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Recurso de valor: equipos, datos, software, personas, reputación.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43322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45151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2" descr="/tmp/claude-0/-home-claude/9bf0f03d-08fd-5ce1-a49b-64caf671baf2/scratchpad/fucs_ut1_pptx/icons/skull.png"/>
          <p:cNvPicPr/>
          <p:nvPr/>
        </p:nvPicPr>
        <p:blipFill>
          <a:blip r:embed="rId3"/>
          <a:stretch/>
        </p:blipFill>
        <p:spPr>
          <a:xfrm>
            <a:off x="45745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8"/>
          <p:cNvSpPr/>
          <p:nvPr/>
        </p:nvSpPr>
        <p:spPr>
          <a:xfrm>
            <a:off x="45151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45151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Evento con potencial de causar daño a un activo.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811548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829836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/tmp/claude-0/-home-claude/9bf0f03d-08fd-5ce1-a49b-64caf671baf2/scratchpad/fucs_ut1_pptx/icons/bug.png"/>
          <p:cNvPicPr/>
          <p:nvPr/>
        </p:nvPicPr>
        <p:blipFill>
          <a:blip r:embed="rId4"/>
          <a:stretch/>
        </p:blipFill>
        <p:spPr>
          <a:xfrm>
            <a:off x="835776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2"/>
          <p:cNvSpPr/>
          <p:nvPr/>
        </p:nvSpPr>
        <p:spPr>
          <a:xfrm>
            <a:off x="829836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829836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Debilidad que una amenaza puede aprovechar.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5486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7315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4" descr="/tmp/claude-0/-home-claude/9bf0f03d-08fd-5ce1-a49b-64caf671baf2/scratchpad/fucs_ut1_pptx/icons/warning.png"/>
          <p:cNvPicPr/>
          <p:nvPr/>
        </p:nvPicPr>
        <p:blipFill>
          <a:blip r:embed="rId5"/>
          <a:stretch/>
        </p:blipFill>
        <p:spPr>
          <a:xfrm>
            <a:off x="7909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6"/>
          <p:cNvSpPr/>
          <p:nvPr/>
        </p:nvSpPr>
        <p:spPr>
          <a:xfrm>
            <a:off x="7315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Riesgo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7315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Probabilidad de que la amenaza explote la vulnerabilidad, combinada con el impacto.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43322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9"/>
          <p:cNvSpPr/>
          <p:nvPr/>
        </p:nvSpPr>
        <p:spPr>
          <a:xfrm>
            <a:off x="45151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5" descr="/tmp/claude-0/-home-claude/9bf0f03d-08fd-5ce1-a49b-64caf671baf2/scratchpad/fucs_ut1_pptx/icons/chart.png"/>
          <p:cNvPicPr/>
          <p:nvPr/>
        </p:nvPicPr>
        <p:blipFill>
          <a:blip r:embed="rId6"/>
          <a:stretch/>
        </p:blipFill>
        <p:spPr>
          <a:xfrm>
            <a:off x="45745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20"/>
          <p:cNvSpPr/>
          <p:nvPr/>
        </p:nvSpPr>
        <p:spPr>
          <a:xfrm>
            <a:off x="45151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Impacto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45151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Consecuencia económica, legal u operativa si el riesgo se materializa.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/tmp/claude-0/-home-claude/9bf0f03d-08fd-5ce1-a49b-64caf671baf2/scratchpad/fucs_ut1_pptx/icons/flow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Cómo se relacionan estos conceptos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1325880"/>
            <a:ext cx="11094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solo se convierte en un problema real cuando encuentra una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que puede explotar sobre un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activo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5486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7131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131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7131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ACTIVO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recurso de valor a proteger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31165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33908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35553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35553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35553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quiere causarle daño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59587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62330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63975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63975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63975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 la debilidad que aprovecha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88009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90752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92397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92397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92397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RIESGO + IMPACTO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probabilidad y gravedad del daño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/tmp/claude-0/-home-claude/9bf0f03d-08fd-5ce1-a49b-64caf671baf2/scratchpad/fucs_ut1_pptx/icons/ey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Amenazas activas y pasivas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54864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77240" y="1527120"/>
            <a:ext cx="438480" cy="43848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/tmp/claude-0/-home-claude/9bf0f03d-08fd-5ce1-a49b-64caf671baf2/scratchpad/fucs_ut1_pptx/icons/eye.png"/>
          <p:cNvPicPr/>
          <p:nvPr/>
        </p:nvPicPr>
        <p:blipFill>
          <a:blip r:embed="rId2"/>
          <a:stretch/>
        </p:blipFill>
        <p:spPr>
          <a:xfrm>
            <a:off x="83412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4"/>
          <p:cNvSpPr/>
          <p:nvPr/>
        </p:nvSpPr>
        <p:spPr>
          <a:xfrm>
            <a:off x="138060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Amenazas pasivas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82296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Observan o interceptan información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sin modificar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el sistema ni los datos.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Buscan pasar desapercibidas: muy difíciles de detectar.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Ejemplo: escucha de tráfico de red (sniffing).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632448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553080" y="1527120"/>
            <a:ext cx="438480" cy="43848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2" descr="/tmp/claude-0/-home-claude/9bf0f03d-08fd-5ce1-a49b-64caf671baf2/scratchpad/fucs_ut1_pptx/icons/warning.png"/>
          <p:cNvPicPr/>
          <p:nvPr/>
        </p:nvPicPr>
        <p:blipFill>
          <a:blip r:embed="rId3"/>
          <a:stretch/>
        </p:blipFill>
        <p:spPr>
          <a:xfrm>
            <a:off x="660996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8"/>
          <p:cNvSpPr/>
          <p:nvPr/>
        </p:nvSpPr>
        <p:spPr>
          <a:xfrm>
            <a:off x="715644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Amenazas activas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59880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Modifican, interrumpen o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destruyen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información o recursos.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Suplantación de identidad, denegación de servicio, malware.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Más fáciles de detectar, pero también más dañinas de forma inmediata.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 tríada de la seguridad: CIA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548640" y="1325880"/>
            <a:ext cx="3515040" cy="4983120"/>
          </a:xfrm>
          <a:prstGeom prst="roundRect">
            <a:avLst>
              <a:gd name="adj" fmla="val 1821"/>
            </a:avLst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2013840" y="1618560"/>
            <a:ext cx="585000" cy="5850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1" descr="/tmp/claude-0/-home-claude/9bf0f03d-08fd-5ce1-a49b-64caf671baf2/scratchpad/fucs_ut1_pptx/icons/lock.png"/>
          <p:cNvPicPr/>
          <p:nvPr/>
        </p:nvPicPr>
        <p:blipFill>
          <a:blip r:embed="rId2"/>
          <a:stretch/>
        </p:blipFill>
        <p:spPr>
          <a:xfrm>
            <a:off x="2089800" y="1694520"/>
            <a:ext cx="432720" cy="43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4"/>
          <p:cNvSpPr/>
          <p:nvPr/>
        </p:nvSpPr>
        <p:spPr>
          <a:xfrm>
            <a:off x="713160" y="2377440"/>
            <a:ext cx="31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Confidencialidad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749880" y="2862000"/>
            <a:ext cx="3112560" cy="32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Solo accede a la información quien está autorizado a verla.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4338360" y="1325880"/>
            <a:ext cx="3515040" cy="4983120"/>
          </a:xfrm>
          <a:prstGeom prst="roundRect">
            <a:avLst>
              <a:gd name="adj" fmla="val 1821"/>
            </a:avLst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5803200" y="1618560"/>
            <a:ext cx="585000" cy="5850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2" descr="/tmp/claude-0/-home-claude/9bf0f03d-08fd-5ce1-a49b-64caf671baf2/scratchpad/fucs_ut1_pptx/icons/checklist.png"/>
          <p:cNvPicPr/>
          <p:nvPr/>
        </p:nvPicPr>
        <p:blipFill>
          <a:blip r:embed="rId3"/>
          <a:stretch/>
        </p:blipFill>
        <p:spPr>
          <a:xfrm>
            <a:off x="5879160" y="1694520"/>
            <a:ext cx="432720" cy="43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8"/>
          <p:cNvSpPr/>
          <p:nvPr/>
        </p:nvSpPr>
        <p:spPr>
          <a:xfrm>
            <a:off x="4502880" y="2377440"/>
            <a:ext cx="31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Integridad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539240" y="2862000"/>
            <a:ext cx="3112560" cy="32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La información no se modifica sin autorización, y se detecta si ocurre.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8127720" y="1325880"/>
            <a:ext cx="3515040" cy="4983120"/>
          </a:xfrm>
          <a:prstGeom prst="roundRect">
            <a:avLst>
              <a:gd name="adj" fmla="val 1821"/>
            </a:avLst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9592920" y="1618560"/>
            <a:ext cx="585000" cy="5850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3" descr="/tmp/claude-0/-home-claude/9bf0f03d-08fd-5ce1-a49b-64caf671baf2/scratchpad/fucs_ut1_pptx/icons/chart.png"/>
          <p:cNvPicPr/>
          <p:nvPr/>
        </p:nvPicPr>
        <p:blipFill>
          <a:blip r:embed="rId4"/>
          <a:stretch/>
        </p:blipFill>
        <p:spPr>
          <a:xfrm>
            <a:off x="9668880" y="1694520"/>
            <a:ext cx="432720" cy="43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2"/>
          <p:cNvSpPr/>
          <p:nvPr/>
        </p:nvSpPr>
        <p:spPr>
          <a:xfrm>
            <a:off x="8292240" y="2377440"/>
            <a:ext cx="31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Disponibilidad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8328960" y="2862000"/>
            <a:ext cx="3112560" cy="32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Los sistemas están accesibles cuando se necesitan.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0" descr="/tmp/claude-0/-home-claude/9bf0f03d-08fd-5ce1-a49b-64caf671baf2/scratchpad/fucs_ut1_pptx/icons/fingerprint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Dos principios complementarios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54864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777240" y="1527120"/>
            <a:ext cx="438480" cy="43848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" descr="/tmp/claude-0/-home-claude/9bf0f03d-08fd-5ce1-a49b-64caf671baf2/scratchpad/fucs_ut1_pptx/icons/fingerprint.png"/>
          <p:cNvPicPr/>
          <p:nvPr/>
        </p:nvPicPr>
        <p:blipFill>
          <a:blip r:embed="rId2"/>
          <a:stretch/>
        </p:blipFill>
        <p:spPr>
          <a:xfrm>
            <a:off x="83412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4"/>
          <p:cNvSpPr/>
          <p:nvPr/>
        </p:nvSpPr>
        <p:spPr>
          <a:xfrm>
            <a:off x="138060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Autenticidad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82296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Confirmar que el origen de una comunicación o un dato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 quien dice ser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Ejemplo: verificar que un correo procede realmente de quien lo firma.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632448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6553080" y="1527120"/>
            <a:ext cx="438480" cy="43848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2" descr="/tmp/claude-0/-home-claude/9bf0f03d-08fd-5ce1-a49b-64caf671baf2/scratchpad/fucs_ut1_pptx/icons/clipboard.png"/>
          <p:cNvPicPr/>
          <p:nvPr/>
        </p:nvPicPr>
        <p:blipFill>
          <a:blip r:embed="rId3"/>
          <a:stretch/>
        </p:blipFill>
        <p:spPr>
          <a:xfrm>
            <a:off x="660996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8"/>
          <p:cNvSpPr/>
          <p:nvPr/>
        </p:nvSpPr>
        <p:spPr>
          <a:xfrm>
            <a:off x="715644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No repudio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659880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Impide que alguien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niegue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haber realizado una acción que sí llevó a cabo.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Ejemplo: una firma electrónica sobre un documento o un envío.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0" descr="/tmp/claude-0/-home-claude/9bf0f03d-08fd-5ce1-a49b-64caf671baf2/scratchpad/fucs_ut1_pptx/icons/users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¿Quién hay detrás de los ataques?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5486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1" descr="/tmp/claude-0/-home-claude/9bf0f03d-08fd-5ce1-a49b-64caf671baf2/scratchpad/fucs_ut1_pptx/icons/terminal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4"/>
          <p:cNvSpPr/>
          <p:nvPr/>
        </p:nvSpPr>
        <p:spPr>
          <a:xfrm>
            <a:off x="7315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Script kiddie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7315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Curiosidad o notoriedad; usa herramientas ya creadas por otros.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43322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45151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2" descr="/tmp/claude-0/-home-claude/9bf0f03d-08fd-5ce1-a49b-64caf671baf2/scratchpad/fucs_ut1_pptx/icons/globe.png"/>
          <p:cNvPicPr/>
          <p:nvPr/>
        </p:nvPicPr>
        <p:blipFill>
          <a:blip r:embed="rId3"/>
          <a:stretch/>
        </p:blipFill>
        <p:spPr>
          <a:xfrm>
            <a:off x="45745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8"/>
          <p:cNvSpPr/>
          <p:nvPr/>
        </p:nvSpPr>
        <p:spPr>
          <a:xfrm>
            <a:off x="45151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Hacktivista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45151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Motivación ideológica, política o social.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811548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829836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3" descr="/tmp/claude-0/-home-claude/9bf0f03d-08fd-5ce1-a49b-64caf671baf2/scratchpad/fucs_ut1_pptx/icons/skull.png"/>
          <p:cNvPicPr/>
          <p:nvPr/>
        </p:nvPicPr>
        <p:blipFill>
          <a:blip r:embed="rId4"/>
          <a:stretch/>
        </p:blipFill>
        <p:spPr>
          <a:xfrm>
            <a:off x="835776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2"/>
          <p:cNvSpPr/>
          <p:nvPr/>
        </p:nvSpPr>
        <p:spPr>
          <a:xfrm>
            <a:off x="829836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Ciberdelincuencia organizada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829836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Beneficio económico: robo de datos, ransomware, fraude.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5486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7315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4" descr="/tmp/claude-0/-home-claude/9bf0f03d-08fd-5ce1-a49b-64caf671baf2/scratchpad/fucs_ut1_pptx/icons/userfocus.png"/>
          <p:cNvPicPr/>
          <p:nvPr/>
        </p:nvPicPr>
        <p:blipFill>
          <a:blip r:embed="rId5"/>
          <a:stretch/>
        </p:blipFill>
        <p:spPr>
          <a:xfrm>
            <a:off x="7909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16"/>
          <p:cNvSpPr/>
          <p:nvPr/>
        </p:nvSpPr>
        <p:spPr>
          <a:xfrm>
            <a:off x="7315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Amenaza interna (insider)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7315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Persona con acceso legítimo que causa un incidente.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43322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45151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5" descr="/tmp/claude-0/-home-claude/9bf0f03d-08fd-5ce1-a49b-64caf671baf2/scratchpad/fucs_ut1_pptx/icons/robot.png"/>
          <p:cNvPicPr/>
          <p:nvPr/>
        </p:nvPicPr>
        <p:blipFill>
          <a:blip r:embed="rId6"/>
          <a:stretch/>
        </p:blipFill>
        <p:spPr>
          <a:xfrm>
            <a:off x="45745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20"/>
          <p:cNvSpPr/>
          <p:nvPr/>
        </p:nvSpPr>
        <p:spPr>
          <a:xfrm>
            <a:off x="45151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Actores patrocinados por Estados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1"/>
          <p:cNvSpPr/>
          <p:nvPr/>
        </p:nvSpPr>
        <p:spPr>
          <a:xfrm>
            <a:off x="45151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Espionaje o sabotaje; ataques sofisticados y persistentes (APT).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0" descr="/tmp/claude-0/-home-claude/9bf0f03d-08fd-5ce1-a49b-64caf671baf2/scratchpad/fucs_ut1_pptx/icons/flow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Clasificación según origen y objetivo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548640" y="1325880"/>
            <a:ext cx="5409720" cy="2377080"/>
          </a:xfrm>
          <a:prstGeom prst="roundRect">
            <a:avLst>
              <a:gd name="adj" fmla="val 2308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731520" y="1490400"/>
            <a:ext cx="402120" cy="40212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1" descr="/tmp/claude-0/-home-claude/9bf0f03d-08fd-5ce1-a49b-64caf671baf2/scratchpad/fucs_ut1_pptx/icons/userfocus.png"/>
          <p:cNvPicPr/>
          <p:nvPr/>
        </p:nvPicPr>
        <p:blipFill>
          <a:blip r:embed="rId2"/>
          <a:stretch/>
        </p:blipFill>
        <p:spPr>
          <a:xfrm>
            <a:off x="783720" y="154260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4"/>
          <p:cNvSpPr/>
          <p:nvPr/>
        </p:nvSpPr>
        <p:spPr>
          <a:xfrm>
            <a:off x="1271160" y="1490400"/>
            <a:ext cx="4550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Internos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749880" y="1965960"/>
            <a:ext cx="500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Parten de dentro de la organización.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6233040" y="1325880"/>
            <a:ext cx="5409720" cy="2377080"/>
          </a:xfrm>
          <a:prstGeom prst="roundRect">
            <a:avLst>
              <a:gd name="adj" fmla="val 2308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6415920" y="1490400"/>
            <a:ext cx="402120" cy="40212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2" descr="/tmp/claude-0/-home-claude/9bf0f03d-08fd-5ce1-a49b-64caf671baf2/scratchpad/fucs_ut1_pptx/icons/globe.png"/>
          <p:cNvPicPr/>
          <p:nvPr/>
        </p:nvPicPr>
        <p:blipFill>
          <a:blip r:embed="rId3"/>
          <a:stretch/>
        </p:blipFill>
        <p:spPr>
          <a:xfrm>
            <a:off x="6468120" y="154260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8"/>
          <p:cNvSpPr/>
          <p:nvPr/>
        </p:nvSpPr>
        <p:spPr>
          <a:xfrm>
            <a:off x="6955560" y="1490400"/>
            <a:ext cx="4550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Externos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6434280" y="1965960"/>
            <a:ext cx="500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Parten de fuera de la organización.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548640" y="3977640"/>
            <a:ext cx="5409720" cy="2377080"/>
          </a:xfrm>
          <a:prstGeom prst="roundRect">
            <a:avLst>
              <a:gd name="adj" fmla="val 2308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731520" y="4142160"/>
            <a:ext cx="402120" cy="40212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3" descr="/tmp/claude-0/-home-claude/9bf0f03d-08fd-5ce1-a49b-64caf671baf2/scratchpad/fucs_ut1_pptx/icons/search.png"/>
          <p:cNvPicPr/>
          <p:nvPr/>
        </p:nvPicPr>
        <p:blipFill>
          <a:blip r:embed="rId4"/>
          <a:stretch/>
        </p:blipFill>
        <p:spPr>
          <a:xfrm>
            <a:off x="783720" y="419436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2"/>
          <p:cNvSpPr/>
          <p:nvPr/>
        </p:nvSpPr>
        <p:spPr>
          <a:xfrm>
            <a:off x="1271160" y="4142160"/>
            <a:ext cx="4550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Dirigidos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749880" y="4617720"/>
            <a:ext cx="500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Contra un objetivo concreto, cuidadosamente elegido.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6233040" y="3977640"/>
            <a:ext cx="5409720" cy="2377080"/>
          </a:xfrm>
          <a:prstGeom prst="roundRect">
            <a:avLst>
              <a:gd name="adj" fmla="val 2308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6415920" y="4142160"/>
            <a:ext cx="402120" cy="40212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4" descr="/tmp/claude-0/-home-claude/9bf0f03d-08fd-5ce1-a49b-64caf671baf2/scratchpad/fucs_ut1_pptx/icons/network.png"/>
          <p:cNvPicPr/>
          <p:nvPr/>
        </p:nvPicPr>
        <p:blipFill>
          <a:blip r:embed="rId5"/>
          <a:stretch/>
        </p:blipFill>
        <p:spPr>
          <a:xfrm>
            <a:off x="6468120" y="419436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16"/>
          <p:cNvSpPr/>
          <p:nvPr/>
        </p:nvSpPr>
        <p:spPr>
          <a:xfrm>
            <a:off x="6955560" y="4142160"/>
            <a:ext cx="4550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Masivos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6434280" y="4617720"/>
            <a:ext cx="500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Lanzados contra el mayor número posible de víctimas.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2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tmp/claude-0/-home-claude/9bf0f03d-08fd-5ce1-a49b-64caf671baf2/scratchpad/fucs_ut1_pptx/icons/bug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Clasificación y características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 las amenazas informáticas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0" descr="/tmp/claude-0/-home-claude/9bf0f03d-08fd-5ce1-a49b-64caf671baf2/scratchpad/fucs_ut1_pptx/icons/bug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Malware: software malicioso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Cualquier programa diseñado para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infiltrarse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en un sistema y causar daño, robar información o tomar el control del equipo sin consentimiento.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Existen numerosas familias de malware, que a menudo se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combinan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entre sí en el malware más moderno.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/tmp/claude-0/-home-claude/9bf0f03d-08fd-5ce1-a49b-64caf671baf2/scratchpad/fucs_ut1_pptx/icons/bug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Tipos de malware (I)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"/>
          <p:cNvSpPr/>
          <p:nvPr/>
        </p:nvSpPr>
        <p:spPr>
          <a:xfrm>
            <a:off x="5486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1" descr="/tmp/claude-0/-home-claude/9bf0f03d-08fd-5ce1-a49b-64caf671baf2/scratchpad/fucs_ut1_pptx/icons/bug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4"/>
          <p:cNvSpPr/>
          <p:nvPr/>
        </p:nvSpPr>
        <p:spPr>
          <a:xfrm>
            <a:off x="7315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Virus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7315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Se adjunta a un archivo legítimo; necesita ejecución de la persona usuaria.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433224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45151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2" descr="/tmp/claude-0/-home-claude/9bf0f03d-08fd-5ce1-a49b-64caf671baf2/scratchpad/fucs_ut1_pptx/icons/network.png"/>
          <p:cNvPicPr/>
          <p:nvPr/>
        </p:nvPicPr>
        <p:blipFill>
          <a:blip r:embed="rId3"/>
          <a:stretch/>
        </p:blipFill>
        <p:spPr>
          <a:xfrm>
            <a:off x="45745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8"/>
          <p:cNvSpPr/>
          <p:nvPr/>
        </p:nvSpPr>
        <p:spPr>
          <a:xfrm>
            <a:off x="45151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Gusano (worm)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451512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Se replica y propaga solo por la red, sin archivo anfitrión.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8115480" y="132588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829836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3" descr="/tmp/claude-0/-home-claude/9bf0f03d-08fd-5ce1-a49b-64caf671baf2/scratchpad/fucs_ut1_pptx/icons/puzzle.png"/>
          <p:cNvPicPr/>
          <p:nvPr/>
        </p:nvPicPr>
        <p:blipFill>
          <a:blip r:embed="rId4"/>
          <a:stretch/>
        </p:blipFill>
        <p:spPr>
          <a:xfrm>
            <a:off x="835776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12"/>
          <p:cNvSpPr/>
          <p:nvPr/>
        </p:nvSpPr>
        <p:spPr>
          <a:xfrm>
            <a:off x="829836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Troyano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8298360" y="240480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Parece un programa útil, pero oculta una función maliciosa.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4"/>
          <p:cNvSpPr/>
          <p:nvPr/>
        </p:nvSpPr>
        <p:spPr>
          <a:xfrm>
            <a:off x="5486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5"/>
          <p:cNvSpPr/>
          <p:nvPr/>
        </p:nvSpPr>
        <p:spPr>
          <a:xfrm>
            <a:off x="7315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4" descr="/tmp/claude-0/-home-claude/9bf0f03d-08fd-5ce1-a49b-64caf671baf2/scratchpad/fucs_ut1_pptx/icons/lock.png"/>
          <p:cNvPicPr/>
          <p:nvPr/>
        </p:nvPicPr>
        <p:blipFill>
          <a:blip r:embed="rId5"/>
          <a:stretch/>
        </p:blipFill>
        <p:spPr>
          <a:xfrm>
            <a:off x="7909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16"/>
          <p:cNvSpPr/>
          <p:nvPr/>
        </p:nvSpPr>
        <p:spPr>
          <a:xfrm>
            <a:off x="7315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Ransomware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7315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Cifra los archivos y exige un rescate por la clave.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4332240" y="3968640"/>
            <a:ext cx="3526920" cy="2386080"/>
          </a:xfrm>
          <a:prstGeom prst="roundRect">
            <a:avLst>
              <a:gd name="adj" fmla="val 2299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4515120" y="413316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5" descr="/tmp/claude-0/-home-claude/9bf0f03d-08fd-5ce1-a49b-64caf671baf2/scratchpad/fucs_ut1_pptx/icons/eye.png"/>
          <p:cNvPicPr/>
          <p:nvPr/>
        </p:nvPicPr>
        <p:blipFill>
          <a:blip r:embed="rId6"/>
          <a:stretch/>
        </p:blipFill>
        <p:spPr>
          <a:xfrm>
            <a:off x="4574520" y="4192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20"/>
          <p:cNvSpPr/>
          <p:nvPr/>
        </p:nvSpPr>
        <p:spPr>
          <a:xfrm>
            <a:off x="4515120" y="466344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Spyware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4515120" y="5047560"/>
            <a:ext cx="31611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Recopila la actividad de la persona usuaria sin su conocimiento.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0" descr="/tmp/claude-0/-home-claude/9bf0f03d-08fd-5ce1-a49b-64caf671baf2/scratchpad/fucs_ut1_pptx/icons/bug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Tipos de malware (II)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1" descr="/tmp/claude-0/-home-claude/9bf0f03d-08fd-5ce1-a49b-64caf671baf2/scratchpad/fucs_ut1_pptx/icons/chat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Adware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Publicidad no deseada de forma masiva.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2" descr="/tmp/claude-0/-home-claude/9bf0f03d-08fd-5ce1-a49b-64caf671baf2/scratchpad/fucs_ut1_pptx/icons/terminal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Rootkit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Se oculta a bajo nivel para mantener acceso persistente.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3" descr="/tmp/claude-0/-home-claude/9bf0f03d-08fd-5ce1-a49b-64caf671baf2/scratchpad/fucs_ut1_pptx/icons/key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Keylogger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Registra las pulsaciones de teclado (contraseñas, datos).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4" descr="/tmp/claude-0/-home-claude/9bf0f03d-08fd-5ce1-a49b-64caf671baf2/scratchpad/fucs_ut1_pptx/icons/robot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Bot / botnet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Red de equipos “zombi” controlada de forma remota.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/tmp/claude-0/-home-claude/9bf0f03d-08fd-5ce1-a49b-64caf671baf2/scratchpad/fucs_ut1_pptx/icons/users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Ingeniería social: el factor humano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No ataca a la máquina, sino a las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personas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: manipula psicológicamente a la víctima para que revele información o conceda accesos.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Una de las vías de entrada más eficaces, porque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elude las medidas técnicas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de protección.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0" descr="/tmp/claude-0/-home-claude/9bf0f03d-08fd-5ce1-a49b-64caf671baf2/scratchpad/fucs_ut1_pptx/icons/mai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Técnicas de ingeniería social (I)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4864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1" descr="/tmp/claude-0/-home-claude/9bf0f03d-08fd-5ce1-a49b-64caf671baf2/scratchpad/fucs_ut1_pptx/icons/mail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4"/>
          <p:cNvSpPr/>
          <p:nvPr/>
        </p:nvSpPr>
        <p:spPr>
          <a:xfrm>
            <a:off x="7315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Phishing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73152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Correos o webs que suplantan a una entidad legítima para robar credenciales.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433224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5151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2" descr="/tmp/claude-0/-home-claude/9bf0f03d-08fd-5ce1-a49b-64caf671baf2/scratchpad/fucs_ut1_pptx/icons/userfocus.png"/>
          <p:cNvPicPr/>
          <p:nvPr/>
        </p:nvPicPr>
        <p:blipFill>
          <a:blip r:embed="rId3"/>
          <a:stretch/>
        </p:blipFill>
        <p:spPr>
          <a:xfrm>
            <a:off x="45745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8"/>
          <p:cNvSpPr/>
          <p:nvPr/>
        </p:nvSpPr>
        <p:spPr>
          <a:xfrm>
            <a:off x="45151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Spear phishing / whaling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9"/>
          <p:cNvSpPr/>
          <p:nvPr/>
        </p:nvSpPr>
        <p:spPr>
          <a:xfrm>
            <a:off x="451512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Phishing dirigido y personalizado; el whaling apunta a altos cargos.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811548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829836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3" descr="/tmp/claude-0/-home-claude/9bf0f03d-08fd-5ce1-a49b-64caf671baf2/scratchpad/fucs_ut1_pptx/icons/phone.png"/>
          <p:cNvPicPr/>
          <p:nvPr/>
        </p:nvPicPr>
        <p:blipFill>
          <a:blip r:embed="rId4"/>
          <a:stretch/>
        </p:blipFill>
        <p:spPr>
          <a:xfrm>
            <a:off x="835776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12"/>
          <p:cNvSpPr/>
          <p:nvPr/>
        </p:nvSpPr>
        <p:spPr>
          <a:xfrm>
            <a:off x="829836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Vishing / smishing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3"/>
          <p:cNvSpPr/>
          <p:nvPr/>
        </p:nvSpPr>
        <p:spPr>
          <a:xfrm>
            <a:off x="829836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La misma técnica por llamada de voz o por SMS.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4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/tmp/claude-0/-home-claude/9bf0f03d-08fd-5ce1-a49b-64caf671baf2/scratchpad/fucs_ut1_pptx/icons/tap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Técnicas de ingeniería social (II)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54864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1" descr="/tmp/claude-0/-home-claude/9bf0f03d-08fd-5ce1-a49b-64caf671baf2/scratchpad/fucs_ut1_pptx/icons/chat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4"/>
          <p:cNvSpPr/>
          <p:nvPr/>
        </p:nvSpPr>
        <p:spPr>
          <a:xfrm>
            <a:off x="7315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Pretexting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73152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El atacante inventa una identidad o situación falsa para ganarse la confianza.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433224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45151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2" descr="/tmp/claude-0/-home-claude/9bf0f03d-08fd-5ce1-a49b-64caf671baf2/scratchpad/fucs_ut1_pptx/icons/puzzle.png"/>
          <p:cNvPicPr/>
          <p:nvPr/>
        </p:nvPicPr>
        <p:blipFill>
          <a:blip r:embed="rId3"/>
          <a:stretch/>
        </p:blipFill>
        <p:spPr>
          <a:xfrm>
            <a:off x="45745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8"/>
          <p:cNvSpPr/>
          <p:nvPr/>
        </p:nvSpPr>
        <p:spPr>
          <a:xfrm>
            <a:off x="451512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Baiting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"/>
          <p:cNvSpPr/>
          <p:nvPr/>
        </p:nvSpPr>
        <p:spPr>
          <a:xfrm>
            <a:off x="451512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Ofrece un “cebo” (descarga, USB) que en realidad contiene malware.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0"/>
          <p:cNvSpPr/>
          <p:nvPr/>
        </p:nvSpPr>
        <p:spPr>
          <a:xfrm>
            <a:off x="8115480" y="1325880"/>
            <a:ext cx="3526920" cy="5028840"/>
          </a:xfrm>
          <a:prstGeom prst="roundRect">
            <a:avLst>
              <a:gd name="adj" fmla="val 155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1"/>
          <p:cNvSpPr/>
          <p:nvPr/>
        </p:nvSpPr>
        <p:spPr>
          <a:xfrm>
            <a:off x="829836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3" descr="/tmp/claude-0/-home-claude/9bf0f03d-08fd-5ce1-a49b-64caf671baf2/scratchpad/fucs_ut1_pptx/icons/eye.png"/>
          <p:cNvPicPr/>
          <p:nvPr/>
        </p:nvPicPr>
        <p:blipFill>
          <a:blip r:embed="rId4"/>
          <a:stretch/>
        </p:blipFill>
        <p:spPr>
          <a:xfrm>
            <a:off x="835776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12"/>
          <p:cNvSpPr/>
          <p:nvPr/>
        </p:nvSpPr>
        <p:spPr>
          <a:xfrm>
            <a:off x="8298360" y="2020680"/>
            <a:ext cx="316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Shoulder surfing / tailgating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8298360" y="2404800"/>
            <a:ext cx="316116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Observar una contraseña, o colarse tras una persona autorizada.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0" descr="/tmp/claude-0/-home-claude/9bf0f03d-08fd-5ce1-a49b-64caf671baf2/scratchpad/fucs_ut1_pptx/icons/siren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Denegación de servicio: DoS y DDoS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"/>
          <p:cNvSpPr/>
          <p:nvPr/>
        </p:nvSpPr>
        <p:spPr>
          <a:xfrm>
            <a:off x="54864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"/>
          <p:cNvSpPr/>
          <p:nvPr/>
        </p:nvSpPr>
        <p:spPr>
          <a:xfrm>
            <a:off x="777240" y="1527120"/>
            <a:ext cx="438480" cy="43848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1" descr="/tmp/claude-0/-home-claude/9bf0f03d-08fd-5ce1-a49b-64caf671baf2/scratchpad/fucs_ut1_pptx/icons/warning.png"/>
          <p:cNvPicPr/>
          <p:nvPr/>
        </p:nvPicPr>
        <p:blipFill>
          <a:blip r:embed="rId2"/>
          <a:stretch/>
        </p:blipFill>
        <p:spPr>
          <a:xfrm>
            <a:off x="83412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4"/>
          <p:cNvSpPr/>
          <p:nvPr/>
        </p:nvSpPr>
        <p:spPr>
          <a:xfrm>
            <a:off x="138060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5"/>
          <p:cNvSpPr/>
          <p:nvPr/>
        </p:nvSpPr>
        <p:spPr>
          <a:xfrm>
            <a:off x="82296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 único origen satura los recursos de un sistema (ancho de banda, CPU, conexiones).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 servicio deja de atender peticiones legítimas.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6"/>
          <p:cNvSpPr/>
          <p:nvPr/>
        </p:nvSpPr>
        <p:spPr>
          <a:xfrm>
            <a:off x="632448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7"/>
          <p:cNvSpPr/>
          <p:nvPr/>
        </p:nvSpPr>
        <p:spPr>
          <a:xfrm>
            <a:off x="6553080" y="1527120"/>
            <a:ext cx="438480" cy="43848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0" name="Image 2" descr="/tmp/claude-0/-home-claude/9bf0f03d-08fd-5ce1-a49b-64caf671baf2/scratchpad/fucs_ut1_pptx/icons/network.png"/>
          <p:cNvPicPr/>
          <p:nvPr/>
        </p:nvPicPr>
        <p:blipFill>
          <a:blip r:embed="rId3"/>
          <a:stretch/>
        </p:blipFill>
        <p:spPr>
          <a:xfrm>
            <a:off x="660996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 8"/>
          <p:cNvSpPr/>
          <p:nvPr/>
        </p:nvSpPr>
        <p:spPr>
          <a:xfrm>
            <a:off x="715644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DDoS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659880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 ataque se lanza a la vez desde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miles de equipos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, normalmente una botnet.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Mucho más difícil de mitigar: el tráfico llega desde direcciones muy diversas.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0" descr="/tmp/claude-0/-home-claude/9bf0f03d-08fd-5ce1-a49b-64caf671baf2/scratchpad/fucs_ut1_pptx/icons/ey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Ataques Man-in-the-Middle (MITM)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 atacante se sitúa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entre dos partes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que se comunican, sin que ninguna lo perciba.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Puede leer, capturar o incluso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modificar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la información que intercambian.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0" descr="/tmp/claude-0/-home-claude/9bf0f03d-08fd-5ce1-a49b-64caf671baf2/scratchpad/fucs_ut1_pptx/icons/network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Técnicas para lograr un MITM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1" descr="/tmp/claude-0/-home-claude/9bf0f03d-08fd-5ce1-a49b-64caf671baf2/scratchpad/fucs_ut1_pptx/icons/wifi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Sniffing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Captura pasiva del tráfico, fácil en redes WiFi abiertas.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2" descr="/tmp/claude-0/-home-claude/9bf0f03d-08fd-5ce1-a49b-64caf671baf2/scratchpad/fucs_ut1_pptx/icons/network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Spoofing de ARP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Respuestas ARP falsas que desvían el tráfico de la red local.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3" descr="/tmp/claude-0/-home-claude/9bf0f03d-08fd-5ce1-a49b-64caf671baf2/scratchpad/fucs_ut1_pptx/icons/globe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Spoofing de DNS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Respuestas DNS falseadas que redirigen a un servidor malicioso.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4" descr="/tmp/claude-0/-home-claude/9bf0f03d-08fd-5ce1-a49b-64caf671baf2/scratchpad/fucs_ut1_pptx/icons/key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Secuestro de sesión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Robo del identificador de sesión ya autenticada.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/tmp/claude-0/-home-claude/9bf0f03d-08fd-5ce1-a49b-64caf671baf2/scratchpad/fucs_ut1_pptx/icons/puzzl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Exploits y aplicaciones web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exploit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es código o una técnica que aprovecha una vulnerabilidad concreta para provocar un comportamiento no previsto.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 inyección SQL y el Cross-Site Scripting aparecen sistemáticamente entre los riesgos más críticos del proyecto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OWASP Top 10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, la referencia internacional en seguridad de aplicaciones web.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/tmp/claude-0/-home-claude/9bf0f03d-08fd-5ce1-a49b-64caf671baf2/scratchpad/fucs_ut1_pptx/icons/databas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Inyección SQL (SQLi)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 produce cuando una aplicación construye una consulta a la base de datos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concatenando directamente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los datos que introduce la persona usuaria, sin validarlos.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 atacante puede escribir código SQL en un formulario para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eludir la autenticación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o forzar a la base de datos a devolver información a la que no debería acceder.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Consecuencias: desde el acceso no autorizado hasta la extracción o modificación completa de una base de datos.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0" descr="/tmp/claude-0/-home-claude/9bf0f03d-08fd-5ce1-a49b-64caf671baf2/scratchpad/fucs_ut1_pptx/icons/termina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Cross-Site Scripting (XSS)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6" name="Table 0"/>
          <p:cNvGraphicFramePr/>
          <p:nvPr/>
        </p:nvGraphicFramePr>
        <p:xfrm>
          <a:off x="548640" y="1325880"/>
          <a:ext cx="11094120" cy="1482480"/>
        </p:xfrm>
        <a:graphic>
          <a:graphicData uri="http://schemas.openxmlformats.org/drawingml/2006/table">
            <a:tbl>
              <a:tblPr/>
              <a:tblGrid>
                <a:gridCol w="3106080"/>
                <a:gridCol w="7987680"/>
              </a:tblGrid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Variante</a:t>
                      </a:r>
                      <a:endParaRPr lang="es-E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Cómo actúa</a:t>
                      </a:r>
                      <a:endParaRPr lang="es-E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Reflejado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código viaja en la petición (un enlace manipulado); requiere que la víctima haga clic.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Almacenado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código queda guardado en el servidor y se ejecuta para cualquiera que visite la página.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Basado en DOM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 vulnerabilidad está en el propio JavaScript del cliente, que manipula el DOM de forma insegura.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7" name="Text 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3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0" descr="/tmp/claude-0/-home-claude/9bf0f03d-08fd-5ce1-a49b-64caf671baf2/scratchpad/fucs_ut1_pptx/icons/warning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Vulnerabilidades en sistemas,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redes y aplicaciones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4" name="Image 0" descr="/tmp/claude-0/-home-claude/9bf0f03d-08fd-5ce1-a49b-64caf671baf2/scratchpad/fucs_ut1_pptx/icons/termina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Vulnerabilidades en sistemas operativos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1" descr="/tmp/claude-0/-home-claude/9bf0f03d-08fd-5ce1-a49b-64caf671baf2/scratchpad/fucs_ut1_pptx/icons/warning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Falta de actualizaciones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Mientras no se aplica el parche, el fallo conocido sigue siendo explotable.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2" descr="/tmp/claude-0/-home-claude/9bf0f03d-08fd-5ce1-a49b-64caf671baf2/scratchpad/fucs_ut1_pptx/icons/key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Configuraciones por defecto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Usuarios o contraseñas de fábrica, bien conocidos por los atacantes.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Image 3" descr="/tmp/claude-0/-home-claude/9bf0f03d-08fd-5ce1-a49b-64caf671baf2/scratchpad/fucs_ut1_pptx/icons/network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Servicios innecesarios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Cada servicio activo es una puerta de entrada adicional.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4" descr="/tmp/claude-0/-home-claude/9bf0f03d-08fd-5ce1-a49b-64caf671baf2/scratchpad/fucs_ut1_pptx/icons/userfocus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Permisos mal configurados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Cuentas con más privilegios de los que necesitan.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0" descr="/tmp/claude-0/-home-claude/9bf0f03d-08fd-5ce1-a49b-64caf671baf2/scratchpad/fucs_ut1_pptx/icons/puzzl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Vulnerabilidades en aplicaciones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Image 1" descr="/tmp/claude-0/-home-claude/9bf0f03d-08fd-5ce1-a49b-64caf671baf2/scratchpad/fucs_ut1_pptx/icons/bug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Validación de entradas insuficiente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Origen directo de la inyección SQL y el XSS.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2" descr="/tmp/claude-0/-home-claude/9bf0f03d-08fd-5ce1-a49b-64caf671baf2/scratchpad/fucs_ut1_pptx/icons/key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Gestión débil de sesiones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Identificadores predecibles, que no caducan o viajan sin cifrar.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3" descr="/tmp/claude-0/-home-claude/9bf0f03d-08fd-5ce1-a49b-64caf671baf2/scratchpad/fucs_ut1_pptx/icons/database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Dependencias desactualizadas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Una librería externa con un fallo conocido compromete toda la app.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4" descr="/tmp/claude-0/-home-claude/9bf0f03d-08fd-5ce1-a49b-64caf671baf2/scratchpad/fucs_ut1_pptx/icons/lock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Falta de control de acceso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Permite ver datos de otra persona usuaria cambiando un identificador.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0" descr="/tmp/claude-0/-home-claude/9bf0f03d-08fd-5ce1-a49b-64caf671baf2/scratchpad/fucs_ut1_pptx/icons/wifi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Vulnerabilidades en redes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6" name="Image 1" descr="/tmp/claude-0/-home-claude/9bf0f03d-08fd-5ce1-a49b-64caf671baf2/scratchpad/fucs_ut1_pptx/icons/globe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Protocolos inseguros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Telnet, FTP o HTTP transmiten la información sin cifrar.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1" name="Image 2" descr="/tmp/claude-0/-home-claude/9bf0f03d-08fd-5ce1-a49b-64caf671baf2/scratchpad/fucs_ut1_pptx/icons/wifi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WiFi mal protegida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Redes abiertas o con WEP, frente a los estándares actuales WPA2 / WPA3.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6" name="Image 3" descr="/tmp/claude-0/-home-claude/9bf0f03d-08fd-5ce1-a49b-64caf671baf2/scratchpad/fucs_ut1_pptx/icons/network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Segmentación deficiente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Un equipo comprometido sirve de puente para atacar al resto.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Image 4" descr="/tmp/claude-0/-home-claude/9bf0f03d-08fd-5ce1-a49b-64caf671baf2/scratchpad/fucs_ut1_pptx/icons/warning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Equipos de red desactualizados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Configuración de fábrica o firmware sin actualizar.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 0" descr="/tmp/claude-0/-home-claude/9bf0f03d-08fd-5ce1-a49b-64caf671baf2/scratchpad/fucs_ut1_pptx/icons/clipboard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Catalogar las vulnerabilidades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54864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777240" y="1527120"/>
            <a:ext cx="438480" cy="438480"/>
          </a:xfrm>
          <a:prstGeom prst="ellipse">
            <a:avLst/>
          </a:prstGeom>
          <a:solidFill>
            <a:srgbClr val="5C7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Image 1" descr="/tmp/claude-0/-home-claude/9bf0f03d-08fd-5ce1-a49b-64caf671baf2/scratchpad/fucs_ut1_pptx/icons/database.png"/>
          <p:cNvPicPr/>
          <p:nvPr/>
        </p:nvPicPr>
        <p:blipFill>
          <a:blip r:embed="rId2"/>
          <a:stretch/>
        </p:blipFill>
        <p:spPr>
          <a:xfrm>
            <a:off x="83412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4"/>
          <p:cNvSpPr/>
          <p:nvPr/>
        </p:nvSpPr>
        <p:spPr>
          <a:xfrm>
            <a:off x="138060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CVE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"/>
          <p:cNvSpPr/>
          <p:nvPr/>
        </p:nvSpPr>
        <p:spPr>
          <a:xfrm>
            <a:off x="82296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Common Vulnerabilities and Exposures.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Catálogo público que asigna un identificador único a cada vulnerabilidad descubierta.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6"/>
          <p:cNvSpPr/>
          <p:nvPr/>
        </p:nvSpPr>
        <p:spPr>
          <a:xfrm>
            <a:off x="6324480" y="1325880"/>
            <a:ext cx="5318280" cy="4983120"/>
          </a:xfrm>
          <a:prstGeom prst="roundRect">
            <a:avLst>
              <a:gd name="adj" fmla="val 1101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7"/>
          <p:cNvSpPr/>
          <p:nvPr/>
        </p:nvSpPr>
        <p:spPr>
          <a:xfrm>
            <a:off x="6553080" y="1527120"/>
            <a:ext cx="438480" cy="43848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2" descr="/tmp/claude-0/-home-claude/9bf0f03d-08fd-5ce1-a49b-64caf671baf2/scratchpad/fucs_ut1_pptx/icons/chart.png"/>
          <p:cNvPicPr/>
          <p:nvPr/>
        </p:nvPicPr>
        <p:blipFill>
          <a:blip r:embed="rId3"/>
          <a:stretch/>
        </p:blipFill>
        <p:spPr>
          <a:xfrm>
            <a:off x="6609960" y="158400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8"/>
          <p:cNvSpPr/>
          <p:nvPr/>
        </p:nvSpPr>
        <p:spPr>
          <a:xfrm>
            <a:off x="7156440" y="1527120"/>
            <a:ext cx="4422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CVSS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9"/>
          <p:cNvSpPr/>
          <p:nvPr/>
        </p:nvSpPr>
        <p:spPr>
          <a:xfrm>
            <a:off x="6598800" y="2103120"/>
            <a:ext cx="47696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Common Vulnerability Scoring System.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Sistema de puntuación que valora la gravedad de cada vulnerabilidad de 0 a 10.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4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2" name="Image 0" descr="/tmp/claude-0/-home-claude/9bf0f03d-08fd-5ce1-a49b-64caf671baf2/scratchpad/fucs_ut1_pptx/icons/flow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 la vulnerabilidad al ataque: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la mecánica de la explotación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5" name="Image 0" descr="/tmp/claude-0/-home-claude/9bf0f03d-08fd-5ce1-a49b-64caf671baf2/scratchpad/fucs_ut1_pptx/icons/flow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Fases habituales de una intrusión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1299600" y="1783080"/>
            <a:ext cx="511560" cy="511560"/>
          </a:xfrm>
          <a:prstGeom prst="ellipse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3"/>
          <p:cNvSpPr/>
          <p:nvPr/>
        </p:nvSpPr>
        <p:spPr>
          <a:xfrm>
            <a:off x="1299600" y="1783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4"/>
          <p:cNvSpPr/>
          <p:nvPr/>
        </p:nvSpPr>
        <p:spPr>
          <a:xfrm>
            <a:off x="1866240" y="2039040"/>
            <a:ext cx="146520" cy="360"/>
          </a:xfrm>
          <a:prstGeom prst="line">
            <a:avLst/>
          </a:prstGeom>
          <a:ln w="25400">
            <a:solidFill>
              <a:srgbClr val="CBD8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548640" y="2477880"/>
            <a:ext cx="2013840" cy="2322360"/>
          </a:xfrm>
          <a:prstGeom prst="roundRect">
            <a:avLst>
              <a:gd name="adj" fmla="val 2724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676800" y="2587680"/>
            <a:ext cx="175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Reconocimiento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7"/>
          <p:cNvSpPr/>
          <p:nvPr/>
        </p:nvSpPr>
        <p:spPr>
          <a:xfrm>
            <a:off x="676800" y="3008520"/>
            <a:ext cx="175752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Recopilar información del objetivo: dominios, IPs, tecnologías, personas.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3569760" y="1783080"/>
            <a:ext cx="511560" cy="511560"/>
          </a:xfrm>
          <a:prstGeom prst="ellipse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9"/>
          <p:cNvSpPr/>
          <p:nvPr/>
        </p:nvSpPr>
        <p:spPr>
          <a:xfrm>
            <a:off x="3569760" y="1783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0"/>
          <p:cNvSpPr/>
          <p:nvPr/>
        </p:nvSpPr>
        <p:spPr>
          <a:xfrm>
            <a:off x="4136400" y="2039040"/>
            <a:ext cx="146520" cy="360"/>
          </a:xfrm>
          <a:prstGeom prst="line">
            <a:avLst/>
          </a:prstGeom>
          <a:ln w="25400">
            <a:solidFill>
              <a:srgbClr val="CBD8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1"/>
          <p:cNvSpPr/>
          <p:nvPr/>
        </p:nvSpPr>
        <p:spPr>
          <a:xfrm>
            <a:off x="2818800" y="2477880"/>
            <a:ext cx="2013840" cy="2322360"/>
          </a:xfrm>
          <a:prstGeom prst="roundRect">
            <a:avLst>
              <a:gd name="adj" fmla="val 2724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2"/>
          <p:cNvSpPr/>
          <p:nvPr/>
        </p:nvSpPr>
        <p:spPr>
          <a:xfrm>
            <a:off x="2946600" y="2587680"/>
            <a:ext cx="175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Escaneo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3"/>
          <p:cNvSpPr/>
          <p:nvPr/>
        </p:nvSpPr>
        <p:spPr>
          <a:xfrm>
            <a:off x="2946600" y="3008520"/>
            <a:ext cx="175752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Identificar puertos abiertos y vulnerabilidades, con herramientas automáticas.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4"/>
          <p:cNvSpPr/>
          <p:nvPr/>
        </p:nvSpPr>
        <p:spPr>
          <a:xfrm>
            <a:off x="5839920" y="1783080"/>
            <a:ext cx="511560" cy="511560"/>
          </a:xfrm>
          <a:prstGeom prst="ellipse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5"/>
          <p:cNvSpPr/>
          <p:nvPr/>
        </p:nvSpPr>
        <p:spPr>
          <a:xfrm>
            <a:off x="5839920" y="1783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6406560" y="2039040"/>
            <a:ext cx="146160" cy="360"/>
          </a:xfrm>
          <a:prstGeom prst="line">
            <a:avLst/>
          </a:prstGeom>
          <a:ln w="25400">
            <a:solidFill>
              <a:srgbClr val="CBD8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7"/>
          <p:cNvSpPr/>
          <p:nvPr/>
        </p:nvSpPr>
        <p:spPr>
          <a:xfrm>
            <a:off x="5088960" y="2477880"/>
            <a:ext cx="2013840" cy="2322360"/>
          </a:xfrm>
          <a:prstGeom prst="roundRect">
            <a:avLst>
              <a:gd name="adj" fmla="val 2724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8"/>
          <p:cNvSpPr/>
          <p:nvPr/>
        </p:nvSpPr>
        <p:spPr>
          <a:xfrm>
            <a:off x="5216760" y="2587680"/>
            <a:ext cx="175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Explotación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9"/>
          <p:cNvSpPr/>
          <p:nvPr/>
        </p:nvSpPr>
        <p:spPr>
          <a:xfrm>
            <a:off x="5216760" y="3008520"/>
            <a:ext cx="175752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Usar un exploit para aprovechar una vulnerabilidad y obtener acceso.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0"/>
          <p:cNvSpPr/>
          <p:nvPr/>
        </p:nvSpPr>
        <p:spPr>
          <a:xfrm>
            <a:off x="8110080" y="1783080"/>
            <a:ext cx="511560" cy="511560"/>
          </a:xfrm>
          <a:prstGeom prst="ellipse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1"/>
          <p:cNvSpPr/>
          <p:nvPr/>
        </p:nvSpPr>
        <p:spPr>
          <a:xfrm>
            <a:off x="8110080" y="1783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2"/>
          <p:cNvSpPr/>
          <p:nvPr/>
        </p:nvSpPr>
        <p:spPr>
          <a:xfrm>
            <a:off x="8676720" y="2039040"/>
            <a:ext cx="146160" cy="360"/>
          </a:xfrm>
          <a:prstGeom prst="line">
            <a:avLst/>
          </a:prstGeom>
          <a:ln w="25400">
            <a:solidFill>
              <a:srgbClr val="CBD8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3"/>
          <p:cNvSpPr/>
          <p:nvPr/>
        </p:nvSpPr>
        <p:spPr>
          <a:xfrm>
            <a:off x="7358760" y="2477880"/>
            <a:ext cx="2013840" cy="2322360"/>
          </a:xfrm>
          <a:prstGeom prst="roundRect">
            <a:avLst>
              <a:gd name="adj" fmla="val 2724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4"/>
          <p:cNvSpPr/>
          <p:nvPr/>
        </p:nvSpPr>
        <p:spPr>
          <a:xfrm>
            <a:off x="7486920" y="2587680"/>
            <a:ext cx="175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Mantenimiento del acceso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5"/>
          <p:cNvSpPr/>
          <p:nvPr/>
        </p:nvSpPr>
        <p:spPr>
          <a:xfrm>
            <a:off x="7486920" y="3008520"/>
            <a:ext cx="175752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Conservar el acceso conseguido, p. ej. con una puerta trasera.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10379880" y="1783080"/>
            <a:ext cx="511560" cy="511560"/>
          </a:xfrm>
          <a:prstGeom prst="ellipse">
            <a:avLst/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7"/>
          <p:cNvSpPr/>
          <p:nvPr/>
        </p:nvSpPr>
        <p:spPr>
          <a:xfrm>
            <a:off x="10379880" y="1783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8"/>
          <p:cNvSpPr/>
          <p:nvPr/>
        </p:nvSpPr>
        <p:spPr>
          <a:xfrm>
            <a:off x="9628920" y="2477880"/>
            <a:ext cx="2013840" cy="2322360"/>
          </a:xfrm>
          <a:prstGeom prst="roundRect">
            <a:avLst>
              <a:gd name="adj" fmla="val 2724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9"/>
          <p:cNvSpPr/>
          <p:nvPr/>
        </p:nvSpPr>
        <p:spPr>
          <a:xfrm>
            <a:off x="9757080" y="2587680"/>
            <a:ext cx="175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Eliminación de rastros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0"/>
          <p:cNvSpPr/>
          <p:nvPr/>
        </p:nvSpPr>
        <p:spPr>
          <a:xfrm>
            <a:off x="9757080" y="3008520"/>
            <a:ext cx="175752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Borrar o alterar registros para dificultar la detección.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1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8" name="Image 0" descr="/tmp/claude-0/-home-claude/9bf0f03d-08fd-5ce1-a49b-64caf671baf2/scratchpad/fucs_ut1_pptx/icons/termina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Herramientas automatizadas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Existen herramientas capaces de rastrear grandes rangos de direcciones en busca de vulnerabilidades conocidas y, en algunos casos, de lanzar el exploit de forma casi automática.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Esas mismas herramientas, usadas de forma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autorizada y ética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, son las que se emplean en las auditorías de seguridad.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contexto y la autorización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son lo que diferencia una prueba de seguridad legítima de un delito informático.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3" name="Image 0" descr="/tmp/claude-0/-home-claude/9bf0f03d-08fd-5ce1-a49b-64caf671baf2/scratchpad/fucs_ut1_pptx/icons/skul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Caso práctico · Ransomware WannaCry (2017)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"/>
          <p:cNvSpPr/>
          <p:nvPr/>
        </p:nvSpPr>
        <p:spPr>
          <a:xfrm>
            <a:off x="548640" y="1325880"/>
            <a:ext cx="11094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 propagó explotando una vulnerabilidad del protocolo SMB de Windows para la que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ya existía un parche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disponible desde meses antes.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"/>
          <p:cNvSpPr/>
          <p:nvPr/>
        </p:nvSpPr>
        <p:spPr>
          <a:xfrm>
            <a:off x="5486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4"/>
          <p:cNvSpPr/>
          <p:nvPr/>
        </p:nvSpPr>
        <p:spPr>
          <a:xfrm>
            <a:off x="7131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5"/>
          <p:cNvSpPr/>
          <p:nvPr/>
        </p:nvSpPr>
        <p:spPr>
          <a:xfrm>
            <a:off x="7131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6"/>
          <p:cNvSpPr/>
          <p:nvPr/>
        </p:nvSpPr>
        <p:spPr>
          <a:xfrm>
            <a:off x="7131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fallo conocido y sin corregir en miles de equipos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7"/>
          <p:cNvSpPr/>
          <p:nvPr/>
        </p:nvSpPr>
        <p:spPr>
          <a:xfrm>
            <a:off x="31165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8"/>
          <p:cNvSpPr/>
          <p:nvPr/>
        </p:nvSpPr>
        <p:spPr>
          <a:xfrm>
            <a:off x="33908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9"/>
          <p:cNvSpPr/>
          <p:nvPr/>
        </p:nvSpPr>
        <p:spPr>
          <a:xfrm>
            <a:off x="35553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0"/>
          <p:cNvSpPr/>
          <p:nvPr/>
        </p:nvSpPr>
        <p:spPr>
          <a:xfrm>
            <a:off x="35553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1"/>
          <p:cNvSpPr/>
          <p:nvPr/>
        </p:nvSpPr>
        <p:spPr>
          <a:xfrm>
            <a:off x="35553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EXPLOIT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público, permitía aprovecharla de forma remota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2"/>
          <p:cNvSpPr/>
          <p:nvPr/>
        </p:nvSpPr>
        <p:spPr>
          <a:xfrm>
            <a:off x="59587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3"/>
          <p:cNvSpPr/>
          <p:nvPr/>
        </p:nvSpPr>
        <p:spPr>
          <a:xfrm>
            <a:off x="62330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4"/>
          <p:cNvSpPr/>
          <p:nvPr/>
        </p:nvSpPr>
        <p:spPr>
          <a:xfrm>
            <a:off x="63975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5"/>
          <p:cNvSpPr/>
          <p:nvPr/>
        </p:nvSpPr>
        <p:spPr>
          <a:xfrm>
            <a:off x="63975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6"/>
          <p:cNvSpPr/>
          <p:nvPr/>
        </p:nvSpPr>
        <p:spPr>
          <a:xfrm>
            <a:off x="63975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MALWARE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cifra los archivos de la víctima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7"/>
          <p:cNvSpPr/>
          <p:nvPr/>
        </p:nvSpPr>
        <p:spPr>
          <a:xfrm>
            <a:off x="88009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8"/>
          <p:cNvSpPr/>
          <p:nvPr/>
        </p:nvSpPr>
        <p:spPr>
          <a:xfrm>
            <a:off x="90752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9"/>
          <p:cNvSpPr/>
          <p:nvPr/>
        </p:nvSpPr>
        <p:spPr>
          <a:xfrm>
            <a:off x="92397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0"/>
          <p:cNvSpPr/>
          <p:nvPr/>
        </p:nvSpPr>
        <p:spPr>
          <a:xfrm>
            <a:off x="92397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1"/>
          <p:cNvSpPr/>
          <p:nvPr/>
        </p:nvSpPr>
        <p:spPr>
          <a:xfrm>
            <a:off x="92397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RESCATE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 exige el pago para recuperar el acceso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7" name="Image 0" descr="/tmp/claude-0/-home-claude/9bf0f03d-08fd-5ce1-a49b-64caf671baf2/scratchpad/fucs_ut1_pptx/icons/databas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Caso práctico · Inyección SQL en un login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2"/>
          <p:cNvSpPr/>
          <p:nvPr/>
        </p:nvSpPr>
        <p:spPr>
          <a:xfrm>
            <a:off x="548640" y="1325880"/>
            <a:ext cx="11094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Un formulario de acceso construye la consulta </a:t>
            </a:r>
            <a:r>
              <a:rPr lang="en-US" sz="15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sin validar</a:t>
            </a: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los datos introducidos por la persona usuaria.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"/>
          <p:cNvSpPr/>
          <p:nvPr/>
        </p:nvSpPr>
        <p:spPr>
          <a:xfrm>
            <a:off x="5486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4"/>
          <p:cNvSpPr/>
          <p:nvPr/>
        </p:nvSpPr>
        <p:spPr>
          <a:xfrm>
            <a:off x="7131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5"/>
          <p:cNvSpPr/>
          <p:nvPr/>
        </p:nvSpPr>
        <p:spPr>
          <a:xfrm>
            <a:off x="7131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6"/>
          <p:cNvSpPr/>
          <p:nvPr/>
        </p:nvSpPr>
        <p:spPr>
          <a:xfrm>
            <a:off x="7131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VULNERABILIDAD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falta de validación de entradas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7"/>
          <p:cNvSpPr/>
          <p:nvPr/>
        </p:nvSpPr>
        <p:spPr>
          <a:xfrm>
            <a:off x="31165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8"/>
          <p:cNvSpPr/>
          <p:nvPr/>
        </p:nvSpPr>
        <p:spPr>
          <a:xfrm>
            <a:off x="33908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9"/>
          <p:cNvSpPr/>
          <p:nvPr/>
        </p:nvSpPr>
        <p:spPr>
          <a:xfrm>
            <a:off x="35553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0"/>
          <p:cNvSpPr/>
          <p:nvPr/>
        </p:nvSpPr>
        <p:spPr>
          <a:xfrm>
            <a:off x="35553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1"/>
          <p:cNvSpPr/>
          <p:nvPr/>
        </p:nvSpPr>
        <p:spPr>
          <a:xfrm>
            <a:off x="35553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EXPLOIT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código SQL introducido en el propio formulario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2"/>
          <p:cNvSpPr/>
          <p:nvPr/>
        </p:nvSpPr>
        <p:spPr>
          <a:xfrm>
            <a:off x="59587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3"/>
          <p:cNvSpPr/>
          <p:nvPr/>
        </p:nvSpPr>
        <p:spPr>
          <a:xfrm>
            <a:off x="62330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4"/>
          <p:cNvSpPr/>
          <p:nvPr/>
        </p:nvSpPr>
        <p:spPr>
          <a:xfrm>
            <a:off x="63975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5"/>
          <p:cNvSpPr/>
          <p:nvPr/>
        </p:nvSpPr>
        <p:spPr>
          <a:xfrm>
            <a:off x="63975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6"/>
          <p:cNvSpPr/>
          <p:nvPr/>
        </p:nvSpPr>
        <p:spPr>
          <a:xfrm>
            <a:off x="63975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CONSECUENCIA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 condición de la consulta se vuelve siempre cierta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7"/>
          <p:cNvSpPr/>
          <p:nvPr/>
        </p:nvSpPr>
        <p:spPr>
          <a:xfrm>
            <a:off x="8800920" y="2514600"/>
            <a:ext cx="27396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8"/>
          <p:cNvSpPr/>
          <p:nvPr/>
        </p:nvSpPr>
        <p:spPr>
          <a:xfrm>
            <a:off x="9075240" y="2514600"/>
            <a:ext cx="2567520" cy="3794400"/>
          </a:xfrm>
          <a:prstGeom prst="roundRect">
            <a:avLst>
              <a:gd name="adj" fmla="val 2137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9"/>
          <p:cNvSpPr/>
          <p:nvPr/>
        </p:nvSpPr>
        <p:spPr>
          <a:xfrm>
            <a:off x="9239760" y="2679120"/>
            <a:ext cx="365400" cy="36540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0"/>
          <p:cNvSpPr/>
          <p:nvPr/>
        </p:nvSpPr>
        <p:spPr>
          <a:xfrm>
            <a:off x="9239760" y="2679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1"/>
          <p:cNvSpPr/>
          <p:nvPr/>
        </p:nvSpPr>
        <p:spPr>
          <a:xfrm>
            <a:off x="9239760" y="3154680"/>
            <a:ext cx="22384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RESULTADO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acceso sin conocer ninguna contraseña válida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5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3" name="Image 0" descr="/tmp/claude-0/-home-claude/9bf0f03d-08fd-5ce1-a49b-64caf671baf2/scratchpad/fucs_ut1_pptx/icons/chart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Consecuencias de las amenazas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 vulnerabilidades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Impacto sobre la tríada CIA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8" name="Table 0"/>
          <p:cNvGraphicFramePr/>
          <p:nvPr/>
        </p:nvGraphicFramePr>
        <p:xfrm>
          <a:off x="548640" y="1325880"/>
          <a:ext cx="11094120" cy="1899720"/>
        </p:xfrm>
        <a:graphic>
          <a:graphicData uri="http://schemas.openxmlformats.org/drawingml/2006/table">
            <a:tbl>
              <a:tblPr/>
              <a:tblGrid>
                <a:gridCol w="3772080"/>
                <a:gridCol w="3328200"/>
                <a:gridCol w="3993840"/>
              </a:tblGrid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Amenaza</a:t>
                      </a:r>
                      <a:endParaRPr lang="es-E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Principio afectado</a:t>
                      </a:r>
                      <a:endParaRPr lang="es-E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Ejemplo</a:t>
                      </a:r>
                      <a:endParaRPr lang="es-E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Robo de datos / spyware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Confidencialidad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Exposición de datos de clientes.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Modificación no autorizada / MITM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Integridad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Alteración del importe de una transferencia.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DoS / DDoS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Disponibilidad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Una tienda online deja de estar accesible.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Ransomware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Integridad y disponibilidad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Archivos cifrados e inaccesibles.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Phishing con robo de credenciales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Confidencialidad e integridad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Acceso y modificación de una cuenta.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E1E6EB"/>
                      </a:solidFill>
                      <a:prstDash val="solid"/>
                    </a:lnL>
                    <a:lnR w="9360">
                      <a:solidFill>
                        <a:srgbClr val="E1E6EB"/>
                      </a:solidFill>
                      <a:prstDash val="solid"/>
                    </a:lnR>
                    <a:lnT w="9360">
                      <a:solidFill>
                        <a:srgbClr val="E1E6EB"/>
                      </a:solidFill>
                      <a:prstDash val="solid"/>
                    </a:lnT>
                    <a:lnB w="9360">
                      <a:solidFill>
                        <a:srgbClr val="E1E6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9" name="Text 2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1" name="Image 0" descr="/tmp/claude-0/-home-claude/9bf0f03d-08fd-5ce1-a49b-64caf671baf2/scratchpad/fucs_ut1_pptx/icons/chart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Más allá del CIA: otras consecuencias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"/>
          <p:cNvSpPr/>
          <p:nvPr/>
        </p:nvSpPr>
        <p:spPr>
          <a:xfrm>
            <a:off x="5486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3"/>
          <p:cNvSpPr/>
          <p:nvPr/>
        </p:nvSpPr>
        <p:spPr>
          <a:xfrm>
            <a:off x="7315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Image 1" descr="/tmp/claude-0/-home-claude/9bf0f03d-08fd-5ce1-a49b-64caf671baf2/scratchpad/fucs_ut1_pptx/icons/chart.png"/>
          <p:cNvPicPr/>
          <p:nvPr/>
        </p:nvPicPr>
        <p:blipFill>
          <a:blip r:embed="rId2"/>
          <a:stretch/>
        </p:blipFill>
        <p:spPr>
          <a:xfrm>
            <a:off x="7909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Text 4"/>
          <p:cNvSpPr/>
          <p:nvPr/>
        </p:nvSpPr>
        <p:spPr>
          <a:xfrm>
            <a:off x="7315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Económico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5"/>
          <p:cNvSpPr/>
          <p:nvPr/>
        </p:nvSpPr>
        <p:spPr>
          <a:xfrm>
            <a:off x="7315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Coste de respuesta, recuperación, rescates o pérdida de negocio.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6"/>
          <p:cNvSpPr/>
          <p:nvPr/>
        </p:nvSpPr>
        <p:spPr>
          <a:xfrm>
            <a:off x="33861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7"/>
          <p:cNvSpPr/>
          <p:nvPr/>
        </p:nvSpPr>
        <p:spPr>
          <a:xfrm>
            <a:off x="35690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2" descr="/tmp/claude-0/-home-claude/9bf0f03d-08fd-5ce1-a49b-64caf671baf2/scratchpad/fucs_ut1_pptx/icons/users.png"/>
          <p:cNvPicPr/>
          <p:nvPr/>
        </p:nvPicPr>
        <p:blipFill>
          <a:blip r:embed="rId3"/>
          <a:stretch/>
        </p:blipFill>
        <p:spPr>
          <a:xfrm>
            <a:off x="36284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8"/>
          <p:cNvSpPr/>
          <p:nvPr/>
        </p:nvSpPr>
        <p:spPr>
          <a:xfrm>
            <a:off x="35690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Reputacional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9"/>
          <p:cNvSpPr/>
          <p:nvPr/>
        </p:nvSpPr>
        <p:spPr>
          <a:xfrm>
            <a:off x="35690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Pérdida de confianza de clientes, usuarios o socios.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0"/>
          <p:cNvSpPr/>
          <p:nvPr/>
        </p:nvSpPr>
        <p:spPr>
          <a:xfrm>
            <a:off x="622404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11"/>
          <p:cNvSpPr/>
          <p:nvPr/>
        </p:nvSpPr>
        <p:spPr>
          <a:xfrm>
            <a:off x="640692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5" name="Image 3" descr="/tmp/claude-0/-home-claude/9bf0f03d-08fd-5ce1-a49b-64caf671baf2/scratchpad/fucs_ut1_pptx/icons/gavel.png"/>
          <p:cNvPicPr/>
          <p:nvPr/>
        </p:nvPicPr>
        <p:blipFill>
          <a:blip r:embed="rId4"/>
          <a:stretch/>
        </p:blipFill>
        <p:spPr>
          <a:xfrm>
            <a:off x="646632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 12"/>
          <p:cNvSpPr/>
          <p:nvPr/>
        </p:nvSpPr>
        <p:spPr>
          <a:xfrm>
            <a:off x="640692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Legal y normativo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3"/>
          <p:cNvSpPr/>
          <p:nvPr/>
        </p:nvSpPr>
        <p:spPr>
          <a:xfrm>
            <a:off x="640692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Posibles sanciones por incumplimiento normativo.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4"/>
          <p:cNvSpPr/>
          <p:nvPr/>
        </p:nvSpPr>
        <p:spPr>
          <a:xfrm>
            <a:off x="9061560" y="1325880"/>
            <a:ext cx="2581200" cy="5028840"/>
          </a:xfrm>
          <a:prstGeom prst="roundRect">
            <a:avLst>
              <a:gd name="adj" fmla="val 2125"/>
            </a:avLst>
          </a:prstGeom>
          <a:solidFill>
            <a:srgbClr val="F3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5"/>
          <p:cNvSpPr/>
          <p:nvPr/>
        </p:nvSpPr>
        <p:spPr>
          <a:xfrm>
            <a:off x="9244440" y="1490400"/>
            <a:ext cx="456840" cy="4568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0" name="Image 4" descr="/tmp/claude-0/-home-claude/9bf0f03d-08fd-5ce1-a49b-64caf671baf2/scratchpad/fucs_ut1_pptx/icons/warning.png"/>
          <p:cNvPicPr/>
          <p:nvPr/>
        </p:nvPicPr>
        <p:blipFill>
          <a:blip r:embed="rId5"/>
          <a:stretch/>
        </p:blipFill>
        <p:spPr>
          <a:xfrm>
            <a:off x="9303840" y="15498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Text 16"/>
          <p:cNvSpPr/>
          <p:nvPr/>
        </p:nvSpPr>
        <p:spPr>
          <a:xfrm>
            <a:off x="9244440" y="2020680"/>
            <a:ext cx="2215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Operativo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7"/>
          <p:cNvSpPr/>
          <p:nvPr/>
        </p:nvSpPr>
        <p:spPr>
          <a:xfrm>
            <a:off x="9244440" y="2404800"/>
            <a:ext cx="2215440" cy="38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Interrupción de la actividad y pérdida de productividad.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8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 0" descr="/tmp/claude-0/-home-claude/9bf0f03d-08fd-5ce1-a49b-64caf671baf2/scratchpad/fucs_ut1_pptx/icons/warning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 base de la gestión de riesgos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"/>
          <p:cNvSpPr/>
          <p:nvPr/>
        </p:nvSpPr>
        <p:spPr>
          <a:xfrm>
            <a:off x="548640" y="1508760"/>
            <a:ext cx="11094120" cy="1554120"/>
          </a:xfrm>
          <a:prstGeom prst="roundRect">
            <a:avLst>
              <a:gd name="adj" fmla="val 4706"/>
            </a:avLst>
          </a:prstGeom>
          <a:solidFill>
            <a:srgbClr val="1322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3"/>
          <p:cNvSpPr/>
          <p:nvPr/>
        </p:nvSpPr>
        <p:spPr>
          <a:xfrm>
            <a:off x="548640" y="1508760"/>
            <a:ext cx="11094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RIESGO  =  PROBABILIDAD  ×  IMPACTO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4"/>
          <p:cNvSpPr/>
          <p:nvPr/>
        </p:nvSpPr>
        <p:spPr>
          <a:xfrm>
            <a:off x="548640" y="3337560"/>
            <a:ext cx="1109412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Combinar la probabilidad de que una amenaza llegue a explotar una vulnerabilidad con la gravedad del impacto si eso ocurre es la base de la gestión de riesgos, un enfoque que se retomará al final del módulo.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5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9265680" y="3931920"/>
            <a:ext cx="4205880" cy="420588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548640" y="196596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UNIDAD 1 · BLOQUE 6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"/>
          <p:cNvSpPr/>
          <p:nvPr/>
        </p:nvSpPr>
        <p:spPr>
          <a:xfrm>
            <a:off x="548640" y="2423160"/>
            <a:ext cx="914040" cy="9140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 0" descr="/tmp/claude-0/-home-claude/9bf0f03d-08fd-5ce1-a49b-64caf671baf2/scratchpad/fucs_ut1_pptx/icons/siren.png"/>
          <p:cNvPicPr/>
          <p:nvPr/>
        </p:nvPicPr>
        <p:blipFill>
          <a:blip r:embed="rId1"/>
          <a:stretch/>
        </p:blipFill>
        <p:spPr>
          <a:xfrm>
            <a:off x="667440" y="254196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 3"/>
          <p:cNvSpPr/>
          <p:nvPr/>
        </p:nvSpPr>
        <p:spPr>
          <a:xfrm>
            <a:off x="548640" y="3520440"/>
            <a:ext cx="1109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Señales y síntomas de amenazas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 vulnerabilidades activas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7" name="Image 0" descr="/tmp/claude-0/-home-claude/9bf0f03d-08fd-5ce1-a49b-64caf671baf2/scratchpad/fucs_ut1_pptx/icons/eye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¿Por qué importa detectar a tiempo?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Cuanto antes se detecta un problema,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menor es su impacto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y más fácil resulta contenerlo.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Estas señales se observan tanto en los propios equipos como en el tráfico de la red.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2" name="Image 0" descr="/tmp/claude-0/-home-claude/9bf0f03d-08fd-5ce1-a49b-64caf671baf2/scratchpad/fucs_ut1_pptx/icons/terminal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Señales de actividad sospechosa en un sistema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"/>
          <p:cNvSpPr/>
          <p:nvPr/>
        </p:nvSpPr>
        <p:spPr>
          <a:xfrm>
            <a:off x="548640" y="1325880"/>
            <a:ext cx="531828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Lentitud o consumo anómalo de recursos (CPU, memoria, disco).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Procesos o programas desconocidos, o que se inician solos.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Archivos que se modifican o cifran de forma inesperada.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Cambios no autorizados en la configuración o el cortafuegos.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"/>
          <p:cNvSpPr/>
          <p:nvPr/>
        </p:nvSpPr>
        <p:spPr>
          <a:xfrm>
            <a:off x="6324480" y="1325880"/>
            <a:ext cx="531828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Cuentas de usuario nuevas o permisos que cambian sin motivo.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Mensajes o notas de rescate no generados voluntariamente.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Desactivación inesperada del antivirus.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4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8" name="Image 0" descr="/tmp/claude-0/-home-claude/9bf0f03d-08fd-5ce1-a49b-64caf671baf2/scratchpad/fucs_ut1_pptx/icons/network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Señales de actividad sospechosa en la red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8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Picos de tráfico inusuales, sobre todo hacia fuera de la red.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8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Conexiones hacia direcciones IP o dominios desconocidos.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8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Patrones compatibles con un escaneo de puertos.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8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Tráfico periódico hacia un mismo destino externo (posible C2).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8000"/>
              </a:lnSpc>
              <a:spcAft>
                <a:spcPts val="1199"/>
              </a:spcAft>
              <a:buClr>
                <a:srgbClr val="1F2A37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Múltiples intentos fallidos de inicio de sesión en poco tiempo.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0" descr="/tmp/claude-0/-home-claude/9bf0f03d-08fd-5ce1-a49b-64caf671baf2/scratchpad/fucs_ut1_pptx/icons/checklist.png"/>
          <p:cNvPicPr/>
          <p:nvPr/>
        </p:nvPicPr>
        <p:blipFill>
          <a:blip r:embed="rId1"/>
          <a:stretch/>
        </p:blipFill>
        <p:spPr>
          <a:xfrm>
            <a:off x="622440" y="5310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 1"/>
          <p:cNvSpPr/>
          <p:nvPr/>
        </p:nvSpPr>
        <p:spPr>
          <a:xfrm>
            <a:off x="1371600" y="402480"/>
            <a:ext cx="102711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Monitorización y registro: la primera línea de defensa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548640" y="1325880"/>
            <a:ext cx="11094120" cy="49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Ninguna señal es, por sí sola, una prueba definitiva: puede tener una explicación legítima.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monitorización continua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 y el registro sistemático de la actividad (los </a:t>
            </a:r>
            <a:r>
              <a:rPr lang="en-US" sz="1700" b="1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logs</a:t>
            </a: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) permiten comparar lo observado con el comportamiento habitual y detectar así las desviaciones.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1F2A37"/>
                </a:solidFill>
                <a:effectLst/>
                <a:uFillTx/>
                <a:latin typeface="Arial"/>
                <a:ea typeface="Arial"/>
              </a:rPr>
              <a:t>Las herramientas concretas para vigilar estas señales se estudiarán en la siguiente unidad de trabajo.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3"/>
          <p:cNvSpPr/>
          <p:nvPr/>
        </p:nvSpPr>
        <p:spPr>
          <a:xfrm>
            <a:off x="54864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677A"/>
                </a:solidFill>
                <a:effectLst/>
                <a:uFillTx/>
                <a:latin typeface="Arial"/>
                <a:ea typeface="Arial"/>
              </a:rPr>
              <a:t>UT1 · Amenazas y vulnerabilidades informáticas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0"/>
          <p:cNvSpPr/>
          <p:nvPr/>
        </p:nvSpPr>
        <p:spPr>
          <a:xfrm>
            <a:off x="-1828800" y="-1828800"/>
            <a:ext cx="4114440" cy="4114440"/>
          </a:xfrm>
          <a:prstGeom prst="ellipse">
            <a:avLst/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"/>
          <p:cNvSpPr/>
          <p:nvPr/>
        </p:nvSpPr>
        <p:spPr>
          <a:xfrm>
            <a:off x="548640" y="640080"/>
            <a:ext cx="639720" cy="639720"/>
          </a:xfrm>
          <a:prstGeom prst="ellipse">
            <a:avLst/>
          </a:prstGeom>
          <a:solidFill>
            <a:srgbClr val="B03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Image 0" descr="/tmp/claude-0/-home-claude/9bf0f03d-08fd-5ce1-a49b-64caf671baf2/scratchpad/fucs_ut1_pptx/icons/shield.png"/>
          <p:cNvPicPr/>
          <p:nvPr/>
        </p:nvPicPr>
        <p:blipFill>
          <a:blip r:embed="rId1"/>
          <a:stretch/>
        </p:blipFill>
        <p:spPr>
          <a:xfrm>
            <a:off x="631800" y="723240"/>
            <a:ext cx="473400" cy="47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 2"/>
          <p:cNvSpPr/>
          <p:nvPr/>
        </p:nvSpPr>
        <p:spPr>
          <a:xfrm>
            <a:off x="548640" y="1463040"/>
            <a:ext cx="1109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 síntesis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3"/>
          <p:cNvSpPr/>
          <p:nvPr/>
        </p:nvSpPr>
        <p:spPr>
          <a:xfrm>
            <a:off x="548640" y="2331720"/>
            <a:ext cx="110941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001"/>
              </a:spcAft>
              <a:buClr>
                <a:srgbClr val="CBD8E3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La ciberseguridad protege activos frente a amenazas que explotan vulnerabilidades, afectando a la confidencialidad, la integridad y la disponibilidad.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001"/>
              </a:spcAft>
              <a:buClr>
                <a:srgbClr val="CBD8E3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Conocer malware, ingeniería social, ataques de red y ataques web permite anticipar el tipo de amenaza al que se enfrenta un sistema.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001"/>
              </a:spcAft>
              <a:buClr>
                <a:srgbClr val="CBD8E3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Toda vulnerabilidad, en sistemas, redes o aplicaciones, es una puerta que un exploit puede llegar a atravesar.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001"/>
              </a:spcAft>
              <a:buClr>
                <a:srgbClr val="CBD8E3"/>
              </a:buClr>
              <a:buFont typeface="Wingdings" charset="2"/>
              <a:buChar char=""/>
            </a:pPr>
            <a:r>
              <a:rPr lang="en-US" sz="1600" b="0" u="none" strike="noStrike">
                <a:solidFill>
                  <a:srgbClr val="CBD8E3"/>
                </a:solidFill>
                <a:effectLst/>
                <a:uFillTx/>
                <a:latin typeface="Arial"/>
                <a:ea typeface="Arial"/>
              </a:rPr>
              <a:t>Reconocer las señales de actividad sospechosa a tiempo reduce el impacto de un incidente.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4"/>
          <p:cNvSpPr/>
          <p:nvPr/>
        </p:nvSpPr>
        <p:spPr>
          <a:xfrm>
            <a:off x="548640" y="5623560"/>
            <a:ext cx="11094120" cy="776880"/>
          </a:xfrm>
          <a:prstGeom prst="roundRect">
            <a:avLst>
              <a:gd name="adj" fmla="val 8235"/>
            </a:avLst>
          </a:prstGeom>
          <a:solidFill>
            <a:srgbClr val="1C30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5"/>
          <p:cNvSpPr/>
          <p:nvPr/>
        </p:nvSpPr>
        <p:spPr>
          <a:xfrm>
            <a:off x="777240" y="5623560"/>
            <a:ext cx="10636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03A2E"/>
                </a:solidFill>
                <a:effectLst/>
                <a:uFillTx/>
                <a:latin typeface="Arial"/>
                <a:ea typeface="Arial"/>
              </a:rPr>
              <a:t>Siguiente unidad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UT2 · Medidas de protección básicas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2026-09-22T19:06:43Z</dcterms:created>
  <dc:creator>CIFP Santa Catalina</dc:creator>
  <dc:description/>
  <dc:language>es-ES</dc:language>
  <cp:lastModifiedBy/>
  <dcterms:modified xsi:type="dcterms:W3CDTF">2026-10-02T11:27:07Z</dcterms:modified>
  <cp:revision>2</cp:revision>
  <dc:subject>PptxGenJS Presentation</dc:subject>
  <dc:title>UT1. Amenazas y vulnerabilidades informáticas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44</vt:i4>
  </property>
  <property fmtid="{D5CDD505-2E9C-101B-9397-08002B2CF9AE}" pid="3" name="PresentationFormat">
    <vt:lpwstr>On-screen Show (16:9)</vt:lpwstr>
  </property>
  <property fmtid="{D5CDD505-2E9C-101B-9397-08002B2CF9AE}" pid="4" name="Slides">
    <vt:i4>44</vt:i4>
  </property>
</Properties>
</file>