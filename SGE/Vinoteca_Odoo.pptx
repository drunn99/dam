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411DD3-7CB4-AABE-967B-71FD752D129A}" v="67" dt="2026-10-20T11:26:30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NÚÑEZ URIBE" userId="S::daniel.nunuri@educa.jcyl.es::2ac6ad9d-1410-4835-b9cc-bdc7e9280cdb" providerId="AD" clId="Web-{C2411DD3-7CB4-AABE-967B-71FD752D129A}"/>
    <pc:docChg chg="modSld">
      <pc:chgData name="DANIEL NÚÑEZ URIBE" userId="S::daniel.nunuri@educa.jcyl.es::2ac6ad9d-1410-4835-b9cc-bdc7e9280cdb" providerId="AD" clId="Web-{C2411DD3-7CB4-AABE-967B-71FD752D129A}" dt="2026-10-20T11:26:30.743" v="66" actId="1076"/>
      <pc:docMkLst>
        <pc:docMk/>
      </pc:docMkLst>
      <pc:sldChg chg="modSp">
        <pc:chgData name="DANIEL NÚÑEZ URIBE" userId="S::daniel.nunuri@educa.jcyl.es::2ac6ad9d-1410-4835-b9cc-bdc7e9280cdb" providerId="AD" clId="Web-{C2411DD3-7CB4-AABE-967B-71FD752D129A}" dt="2026-10-20T11:26:30.743" v="66" actId="1076"/>
        <pc:sldMkLst>
          <pc:docMk/>
          <pc:sldMk cId="0" sldId="256"/>
        </pc:sldMkLst>
        <pc:spChg chg="mod">
          <ac:chgData name="DANIEL NÚÑEZ URIBE" userId="S::daniel.nunuri@educa.jcyl.es::2ac6ad9d-1410-4835-b9cc-bdc7e9280cdb" providerId="AD" clId="Web-{C2411DD3-7CB4-AABE-967B-71FD752D129A}" dt="2026-10-20T11:26:30.743" v="66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862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46120"/>
            <a:ext cx="1463040" cy="54864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Vinoteca en Odoo</a:t>
            </a:r>
            <a:endParaRPr lang="en-US" sz="540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F0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almacenes, productos, compras, ventas, TPV y tienda online</a:t>
            </a:r>
            <a:endParaRPr lang="en-US" sz="2200"/>
          </a:p>
        </p:txBody>
      </p:sp>
      <p:sp>
        <p:nvSpPr>
          <p:cNvPr id="5" name="Text 3"/>
          <p:cNvSpPr txBox="1"/>
          <p:nvPr/>
        </p:nvSpPr>
        <p:spPr>
          <a:xfrm>
            <a:off x="731520" y="5090160"/>
            <a:ext cx="73152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C9A24D"/>
                </a:solidFill>
                <a:ea typeface="Calibri"/>
                <a:cs typeface="Calibri"/>
              </a:rPr>
              <a:t>Fouad </a:t>
            </a:r>
            <a:r>
              <a:rPr lang="en-US" sz="1400" err="1">
                <a:solidFill>
                  <a:srgbClr val="C9A24D"/>
                </a:solidFill>
                <a:ea typeface="Calibri"/>
                <a:cs typeface="Calibri"/>
              </a:rPr>
              <a:t>Zaroual</a:t>
            </a:r>
            <a:endParaRPr lang="en-US" sz="1400">
              <a:solidFill>
                <a:srgbClr val="C9A24D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C9A24D"/>
                </a:solidFill>
                <a:ea typeface="Calibri"/>
                <a:cs typeface="Calibri"/>
              </a:rPr>
              <a:t>Denis Mesa Cañete</a:t>
            </a:r>
          </a:p>
          <a:p>
            <a:r>
              <a:rPr lang="en-US" sz="1400">
                <a:solidFill>
                  <a:srgbClr val="C9A24D"/>
                </a:solidFill>
                <a:ea typeface="Calibri"/>
                <a:cs typeface="Calibri"/>
              </a:rPr>
              <a:t>Alan Mesa Cañete</a:t>
            </a:r>
          </a:p>
          <a:p>
            <a:r>
              <a:rPr lang="en-US" sz="1400">
                <a:solidFill>
                  <a:srgbClr val="C9A24D"/>
                </a:solidFill>
                <a:ea typeface="Calibri"/>
                <a:cs typeface="Calibri"/>
              </a:rPr>
              <a:t>Olena </a:t>
            </a:r>
            <a:r>
              <a:rPr lang="en-US" sz="1400" err="1">
                <a:solidFill>
                  <a:srgbClr val="C9A24D"/>
                </a:solidFill>
                <a:ea typeface="Calibri"/>
                <a:cs typeface="Calibri"/>
              </a:rPr>
              <a:t>Prestynska</a:t>
            </a:r>
          </a:p>
          <a:p>
            <a:r>
              <a:rPr lang="en-US" sz="1400">
                <a:solidFill>
                  <a:srgbClr val="C9A24D"/>
                </a:solidFill>
                <a:ea typeface="Calibri"/>
                <a:cs typeface="Calibri"/>
              </a:rPr>
              <a:t>Daniel Núñez Uribe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 de la memoria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45720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/>
          </a:p>
        </p:txBody>
      </p:sp>
      <p:sp>
        <p:nvSpPr>
          <p:cNvPr id="8" name="Text 6"/>
          <p:cNvSpPr txBox="1"/>
          <p:nvPr/>
        </p:nvSpPr>
        <p:spPr>
          <a:xfrm>
            <a:off x="141732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Almacenes (WH, RJ, RD) y traslados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/>
          </a:p>
        </p:txBody>
      </p:sp>
      <p:sp>
        <p:nvSpPr>
          <p:cNvPr id="11" name="Text 9"/>
          <p:cNvSpPr txBox="1"/>
          <p:nvPr/>
        </p:nvSpPr>
        <p:spPr>
          <a:xfrm>
            <a:off x="141732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 especial IEV 5%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/>
          </a:p>
        </p:txBody>
      </p:sp>
      <p:sp>
        <p:nvSpPr>
          <p:cNvPr id="14" name="Text 12"/>
          <p:cNvSpPr txBox="1"/>
          <p:nvPr/>
        </p:nvSpPr>
        <p:spPr>
          <a:xfrm>
            <a:off x="141732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variantes y maridajes</a:t>
            </a:r>
            <a:endParaRPr lang="en-US" sz="180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/>
          </a:p>
        </p:txBody>
      </p:sp>
      <p:sp>
        <p:nvSpPr>
          <p:cNvPr id="17" name="Text 15"/>
          <p:cNvSpPr txBox="1"/>
          <p:nvPr/>
        </p:nvSpPr>
        <p:spPr>
          <a:xfrm>
            <a:off x="141732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compra al proveedor</a:t>
            </a:r>
            <a:endParaRPr lang="en-US" sz="1800"/>
          </a:p>
        </p:txBody>
      </p:sp>
      <p:sp>
        <p:nvSpPr>
          <p:cNvPr id="18" name="Shape 16"/>
          <p:cNvSpPr/>
          <p:nvPr/>
        </p:nvSpPr>
        <p:spPr>
          <a:xfrm>
            <a:off x="6309360" y="1645920"/>
            <a:ext cx="548640" cy="54864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/>
          </a:p>
        </p:txBody>
      </p:sp>
      <p:sp>
        <p:nvSpPr>
          <p:cNvPr id="20" name="Text 18"/>
          <p:cNvSpPr txBox="1"/>
          <p:nvPr/>
        </p:nvSpPr>
        <p:spPr>
          <a:xfrm>
            <a:off x="708660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presupuestos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6309360" y="2743200"/>
            <a:ext cx="548640" cy="54864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/>
          </a:p>
        </p:txBody>
      </p:sp>
      <p:sp>
        <p:nvSpPr>
          <p:cNvPr id="23" name="Text 21"/>
          <p:cNvSpPr txBox="1"/>
          <p:nvPr/>
        </p:nvSpPr>
        <p:spPr>
          <a:xfrm>
            <a:off x="708660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TPV: ventas cruzadas y códigos QR</a:t>
            </a:r>
            <a:endParaRPr lang="en-US" sz="180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548640" cy="54864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/>
          </a:p>
        </p:txBody>
      </p:sp>
      <p:sp>
        <p:nvSpPr>
          <p:cNvPr id="26" name="Text 24"/>
          <p:cNvSpPr txBox="1"/>
          <p:nvPr/>
        </p:nvSpPr>
        <p:spPr>
          <a:xfrm>
            <a:off x="70866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en el TPV</a:t>
            </a:r>
            <a:endParaRPr lang="en-US" sz="1800"/>
          </a:p>
        </p:txBody>
      </p:sp>
      <p:sp>
        <p:nvSpPr>
          <p:cNvPr id="27" name="Shape 25"/>
          <p:cNvSpPr/>
          <p:nvPr/>
        </p:nvSpPr>
        <p:spPr>
          <a:xfrm>
            <a:off x="6309360" y="4937760"/>
            <a:ext cx="548640" cy="54864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/>
          </a:p>
        </p:txBody>
      </p:sp>
      <p:sp>
        <p:nvSpPr>
          <p:cNvPr id="29" name="Text 27"/>
          <p:cNvSpPr txBox="1"/>
          <p:nvPr/>
        </p:nvSpPr>
        <p:spPr>
          <a:xfrm>
            <a:off x="708660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en la tienda online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Almacenes y traslados internos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45720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85216" y="1363058"/>
            <a:ext cx="5504688" cy="23945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7" name="Image 0" descr="x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922"/>
            <a:ext cx="5394960" cy="22847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29175" y="1316736"/>
            <a:ext cx="4972451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9" name="Image 1" descr="x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039" y="1371600"/>
            <a:ext cx="4862723" cy="23774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39319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WH/INT/00001: traslado de WH/Stock a RJ/Stock (Rioja) con Trumpeter Malbec y las dos variantes de Yllera Verdejo, 6 uds. de cada uno.</a:t>
            </a:r>
            <a:endParaRPr lang="en-US" sz="1400"/>
          </a:p>
        </p:txBody>
      </p:sp>
      <p:sp>
        <p:nvSpPr>
          <p:cNvPr id="11" name="Text 7"/>
          <p:cNvSpPr txBox="1"/>
          <p:nvPr/>
        </p:nvSpPr>
        <p:spPr>
          <a:xfrm>
            <a:off x="6217920" y="39319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WH/INT/00002: traslado de WH/Stock a RD/Stock (Ribera del Duero) con Chivite Rosado, La Felisa y Menade Verdejo, 6 uds. de cada variante.</a:t>
            </a:r>
            <a:endParaRPr lang="en-US" sz="1400"/>
          </a:p>
        </p:txBody>
      </p:sp>
      <p:sp>
        <p:nvSpPr>
          <p:cNvPr id="12" name="Shape 8"/>
          <p:cNvSpPr/>
          <p:nvPr/>
        </p:nvSpPr>
        <p:spPr>
          <a:xfrm>
            <a:off x="585216" y="5200907"/>
            <a:ext cx="3950208" cy="7081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13" name="Image 2" descr="x/media/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255771"/>
            <a:ext cx="3840480" cy="5984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54880" y="53035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traslados: WH → RJ y WH → RD, ambos registrados.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Impuesto especial IEV 5%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45720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1317709" y="1316736"/>
            <a:ext cx="952610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7" name="Image 0" descr="x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73" y="1371600"/>
            <a:ext cx="9416374" cy="1828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337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impuesto "IEV 5%": cálculo por porcentaje, importe del 5%, tipo Ventas y descripción "Impuesto especial para bebidas alcohólicas".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585216" y="4228151"/>
            <a:ext cx="6693408" cy="1876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10" name="Image 1" descr="x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83015"/>
            <a:ext cx="6583680" cy="17666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42976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en el producto La Felisa: precio de venta 26,95 € con los impuestos "21% B" e "IEV 5%" a la vez (26% en total).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Productos, variantes y maridajes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45720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85216" y="1322228"/>
            <a:ext cx="10991088" cy="2064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7" name="Image 0" descr="x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7092"/>
            <a:ext cx="10881360" cy="19549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productos con foto, nombre y precio. Los vinos con variantes muestran "2 Variantes".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640080" y="4069080"/>
            <a:ext cx="5303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Vinos</a:t>
            </a:r>
            <a:endParaRPr lang="en-US" sz="1800"/>
          </a:p>
        </p:txBody>
      </p:sp>
      <p:sp>
        <p:nvSpPr>
          <p:cNvPr id="11" name="Text 8"/>
          <p:cNvSpPr txBox="1"/>
          <p:nvPr/>
        </p:nvSpPr>
        <p:spPr>
          <a:xfrm>
            <a:off x="914400" y="470916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Tintos: La Felisa, Protos Roble, Trumpeter Malbec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Blancos: Yllera Verdejo, Menade Verdejo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Rosado: Chivite Colección 125</a:t>
            </a:r>
            <a:endParaRPr lang="en-US" sz="1500"/>
          </a:p>
        </p:txBody>
      </p:sp>
      <p:sp>
        <p:nvSpPr>
          <p:cNvPr id="12" name="Shape 9"/>
          <p:cNvSpPr/>
          <p:nvPr/>
        </p:nvSpPr>
        <p:spPr>
          <a:xfrm>
            <a:off x="6217920" y="4069080"/>
            <a:ext cx="5303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Maridajes</a:t>
            </a:r>
            <a:endParaRPr lang="en-US" sz="1800"/>
          </a:p>
        </p:txBody>
      </p:sp>
      <p:sp>
        <p:nvSpPr>
          <p:cNvPr id="14" name="Text 11"/>
          <p:cNvSpPr txBox="1"/>
          <p:nvPr/>
        </p:nvSpPr>
        <p:spPr>
          <a:xfrm>
            <a:off x="6492240" y="470916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Quesos: duro, curado, semicurado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Ibéricos: jamón, fuet, lomo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Gourmet: aceite de oliva, pan de cristal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Pedido de compra al proveedor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45720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85216" y="1322359"/>
            <a:ext cx="4681728" cy="5036241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7" name="Image 0" descr="x/media/imag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7223"/>
            <a:ext cx="4572000" cy="492651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0" y="15544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compra P00034 a Distribuciones Vinícolas del Norte, con entrega en Almacén Principal.</a:t>
            </a:r>
            <a:endParaRPr lang="en-US" sz="1600"/>
          </a:p>
        </p:txBody>
      </p:sp>
      <p:sp>
        <p:nvSpPr>
          <p:cNvPr id="9" name="Text 6"/>
          <p:cNvSpPr txBox="1"/>
          <p:nvPr/>
        </p:nvSpPr>
        <p:spPr>
          <a:xfrm>
            <a:off x="5669280" y="265176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Comprador: Administrator · fecha 19/10/2026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unidades de cada producto y variante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líneas con IVA 21% B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Productos: vinos, quesos, ibéricos y complementos</a:t>
            </a:r>
            <a:endParaRPr lang="en-US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Clientes y presupuestos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45720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68096" y="1371600"/>
            <a:ext cx="3520000" cy="209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7" name="Image 0" descr="x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26464"/>
            <a:ext cx="3410272" cy="198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00000" y="1371600"/>
            <a:ext cx="68214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clientes creados en Odoo, uno por tipo:</a:t>
            </a:r>
            <a:endParaRPr lang="en-US" sz="1600"/>
          </a:p>
        </p:txBody>
      </p:sp>
      <p:sp>
        <p:nvSpPr>
          <p:cNvPr id="9" name="Text 6"/>
          <p:cNvSpPr txBox="1"/>
          <p:nvPr/>
        </p:nvSpPr>
        <p:spPr>
          <a:xfrm>
            <a:off x="4700000" y="1950000"/>
            <a:ext cx="682144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individual: Óscar Berrojo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empresa: Mercadona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tienda: Restaurante Chuleta</a:t>
            </a:r>
            <a:endParaRPr lang="en-US" sz="1500"/>
          </a:p>
        </p:txBody>
      </p:sp>
      <p:sp>
        <p:nvSpPr>
          <p:cNvPr id="10" name="Text 7"/>
          <p:cNvSpPr txBox="1"/>
          <p:nvPr/>
        </p:nvSpPr>
        <p:spPr>
          <a:xfrm>
            <a:off x="768096" y="5300000"/>
            <a:ext cx="10753344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cliente se prepararon dos presupuestos: lote premium y lote económico. En la captura, los de Óscar Berrojo: S00036 (147,81 €, premium) y S00037 (21,74 €, económico), ambos en estado Presupuesto y con un total de 169,55 €.</a:t>
            </a:r>
            <a:endParaRPr lang="en-US" sz="1400"/>
          </a:p>
        </p:txBody>
      </p:sp>
      <p:sp>
        <p:nvSpPr>
          <p:cNvPr id="11" name="Text 8"/>
          <p:cNvSpPr txBox="1"/>
          <p:nvPr/>
        </p:nvSpPr>
        <p:spPr>
          <a:xfrm>
            <a:off x="768096" y="3680000"/>
            <a:ext cx="10753344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Presupuestos de los clientes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BC9D93-F08A-4141-8BE5-BB28A21A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96" y="4086233"/>
            <a:ext cx="7728373" cy="113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TPV: ventas cruzadas (maridajes)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45720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85216" y="1564293"/>
            <a:ext cx="7059168" cy="25406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7" name="Image 0" descr="x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19157"/>
            <a:ext cx="6949440" cy="243096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63840" y="15544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añadir un vino rosado (Chivite Colección 125) al ticket, el TPV muestra la ventana "Productos opcionales" y sugiere el aceite de oliva.</a:t>
            </a:r>
            <a:endParaRPr lang="en-US" sz="1400"/>
          </a:p>
        </p:txBody>
      </p:sp>
      <p:sp>
        <p:nvSpPr>
          <p:cNvPr id="9" name="Text 6"/>
          <p:cNvSpPr txBox="1"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 tinto → jamón ibérico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 blanco → queso semicurado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 rosado → aceite gourmet</a:t>
            </a:r>
            <a:endParaRPr lang="en-US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TPV: códigos QR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45720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85216" y="1324581"/>
            <a:ext cx="6693408" cy="25629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7" name="Image 0" descr="x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9445"/>
            <a:ext cx="6583680" cy="245319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0" y="155448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del TPV, sección "Facturas y recibos": activada la "Autofacturación" con impresión de "Código QR y URL".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639058" y="3922776"/>
            <a:ext cx="210516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10" name="Image 1" descr="x/media/imag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22" y="3977640"/>
            <a:ext cx="1995436" cy="22860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17520" y="420624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la venta: factura simplificada de 13,99 € con IVA 21%, pagada con tarjeta. Incluye el QR y la URL con el código para pedir la factura.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Venta en el TPV y su factura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45720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85216" y="1850457"/>
            <a:ext cx="4864608" cy="388860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7" name="Image 0" descr="x/media/imag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05321"/>
            <a:ext cx="4754880" cy="37788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60720" y="15544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POSS/2026/00002 generada desde la venta del TPV.</a:t>
            </a:r>
            <a:endParaRPr lang="en-US" sz="1600"/>
          </a:p>
        </p:txBody>
      </p:sp>
      <p:sp>
        <p:nvSpPr>
          <p:cNvPr id="9" name="Text 6"/>
          <p:cNvSpPr txBox="1"/>
          <p:nvPr/>
        </p:nvSpPr>
        <p:spPr>
          <a:xfrm>
            <a:off x="5760720" y="246888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aceite de oliva, 1 ud. a 13,99 €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11,56 € + IVA 21% 2,43 € = 13,99 €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Pagada el 19/10/2026: importe adeudado 0,00 €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ticket 261-2-000003</a:t>
            </a:r>
            <a:endParaRPr lang="en-US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Venta en la tienda online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45720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85216" y="1322251"/>
            <a:ext cx="5596128" cy="40306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7" name="Image 0" descr="x/media/imag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7115"/>
            <a:ext cx="5486400" cy="39208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0216" y="1745965"/>
            <a:ext cx="5321808" cy="3183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C3"/>
            </a:solidFill>
            <a:prstDash val="solid"/>
          </a:ln>
        </p:spPr>
      </p:sp>
      <p:pic>
        <p:nvPicPr>
          <p:cNvPr id="9" name="Image 1" descr="x/media/imag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00829"/>
            <a:ext cx="5212080" cy="30734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486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S00044 de la tienda: 2 uds. de Protos Roble (Crianza) con IVA 21% e IEV 5%, más la entrega estándar. Total 19,80 €.</a:t>
            </a:r>
            <a:endParaRPr lang="en-US" sz="1300"/>
          </a:p>
        </p:txBody>
      </p:sp>
      <p:sp>
        <p:nvSpPr>
          <p:cNvPr id="11" name="Text 7"/>
          <p:cNvSpPr txBox="1"/>
          <p:nvPr/>
        </p:nvSpPr>
        <p:spPr>
          <a:xfrm>
            <a:off x="6355080" y="5486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"Gracias por su pedido" del cliente web: pedido S00044 por 19,80 € con datos de entrega y facturación.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00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</a:rPr>
              <a:t>Gracias por </a:t>
            </a:r>
            <a:r>
              <a:rPr lang="en-US" sz="4400" b="1" err="1">
                <a:solidFill>
                  <a:srgbClr val="FFFFFF"/>
                </a:solidFill>
                <a:latin typeface="Georgia" pitchFamily="34" charset="0"/>
              </a:rPr>
              <a:t>vuestra</a:t>
            </a:r>
            <a:r>
              <a:rPr lang="en-US" sz="4400" b="1">
                <a:solidFill>
                  <a:srgbClr val="FFFFFF"/>
                </a:solidFill>
                <a:latin typeface="Georgia" pitchFamily="34" charset="0"/>
              </a:rPr>
              <a:t> </a:t>
            </a:r>
            <a:r>
              <a:rPr lang="en-US" sz="4400" b="1" err="1">
                <a:solidFill>
                  <a:srgbClr val="FFFFFF"/>
                </a:solidFill>
                <a:latin typeface="Georgia" pitchFamily="34" charset="0"/>
              </a:rPr>
              <a:t>atención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731520" y="2514600"/>
            <a:ext cx="1463040" cy="54864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Vinoteca en Odoo</dc:title>
  <dc:subject>PptxGenJS Presentation</dc:subject>
  <dc:creator>PptxGenJS</dc:creator>
  <cp:revision>1</cp:revision>
  <dcterms:created xsi:type="dcterms:W3CDTF">2026-10-19T07:51:11Z</dcterms:created>
  <dcterms:modified xsi:type="dcterms:W3CDTF">2026-10-20T11:26:34Z</dcterms:modified>
</cp:coreProperties>
</file>