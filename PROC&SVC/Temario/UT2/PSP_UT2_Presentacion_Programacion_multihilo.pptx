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</p:sldIdLst>
  <p:notesMasterIdLst>
    <p:notesMasterId r:id="rId1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notesMaster" Target="notesMasters/notesMaster1.xml"/><Relationship Id="rId111" Type="http://schemas.openxmlformats.org/officeDocument/2006/relationships/presProps" Target="presProps.xml"/><Relationship Id="rId112" Type="http://schemas.openxmlformats.org/officeDocument/2006/relationships/viewProps" Target="viewProps.xml"/><Relationship Id="rId113" Type="http://schemas.openxmlformats.org/officeDocument/2006/relationships/theme" Target="theme/theme1.xml"/><Relationship Id="rId1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el guion, S1, actividad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el guion, S1, actividad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 (VerHilosJVM y jcmd).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D2: ejecutar CrearHilos varias veces.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D4: SumaParalela y PrimosHilos en sus tres modos.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el guion, S1, actividad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D5 (EstadosHilo).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el guion, S2, actividad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D6: ejecutar Prioridades en el equipo del aula (Windows) y comparar con Linux.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D7 (Interrupciones y sus variantes).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el guion, S2, actividad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D8: CondicionCarrera varias veces, después volatile (sigue fallando) y synchronized (400000).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D9: quitar volatile y el programa no termina.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D10: Interbloqueo + jcmd Thread.print; después con el argumento ordenado.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el guion, S3, actividad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D12 con la actividad 8: cambiar while por 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D13: quitar release() y el programa se cuelga; probar con 1 permiso.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el guion, S3, actividad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Solución: Act08CuentaCompartida. Se corrige con la demostración D12.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D14: PrimosConPool con 4, 16 y 64 tareas.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D11 si no se hizo en la S3 (ContadoresSeguros).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D15: FrecuenciaRota rota y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D16: lanzar primero la versión plataforma (tarda 50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Solución: Act09SumaParalelaPool.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D17: BufferMonitor y ProductorConsumidorCola.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D18: LectoresEscritores.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D19: Act10Filosofos ingenuo + jcmd, y ordenado.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Solución: Act10Filosofos.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Demostraciones D20 (depurador de NetBeans) y D21 (Check for Deadlock).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image" Target="../media/image-104-3.png"/><Relationship Id="rId4" Type="http://schemas.openxmlformats.org/officeDocument/2006/relationships/image" Target="../media/image-104-4.png"/><Relationship Id="rId5" Type="http://schemas.openxmlformats.org/officeDocument/2006/relationships/image" Target="../media/image-10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840480"/>
            <a:ext cx="3291840" cy="329184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DE TRABAJO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multihilo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· 2º Desarrollo de Aplicaciones Multiplataforma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CIFP Santa Catalina · Aranda de Duero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vas a aprender en esta unidad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conviene usar varios hilos y qué comparten entre sí.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9884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749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iniciar, esperar, interrumpir y finalizar hilos. Estados y prioridades.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4788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72821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2396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de carrera, visibilidad, interbloqueo e inanición.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10565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2588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5720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synchronized, monitores, cerrojos y semáforos.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498848" y="39959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10565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07492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java.util.concurrent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526280" y="45720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Ejecutores, Callable y Future, atómicas, colecciones concurrentes e hilos virtuales.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804672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247888" y="39959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4105656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82396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clásicos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8275320" y="45720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Productor-consumidor, lectores-escritores, filósofos. Depurar y documentar.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procesos a hilos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software real hace varias cosas a la vez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procesos a hilos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UT1 · Varios procesos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hijo arranca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propia JVM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aislada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nada se comparte.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con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la entrada y la salida estándar.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proceso es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63640" y="14173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64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4088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UT2 · Varios hilos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22860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dentro de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proceso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Comparten la memoria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heap y los atributos static.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través de objetos.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hilo es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 más barato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ventaja de compartir memoria es también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gran peligro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esta unidad: dos hilos pueden estropear el mismo dato.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software real hace varias cosas a la vez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móviles y de escritorio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hilo para la interfaz. Si se bloquea, la app se congela: en Android aparece «La aplicación no responde» (ANR).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172200" y="141732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7336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4944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web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219456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 atiende cada petición en un hilo distinto: cientos de usuarios a la vez.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5137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4023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Videojuegos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461772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Dibujado, física, audio y red en hilos separados.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6172200" y="38404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73368" y="404164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15137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4023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0" y="461772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NetBeans compila y analiza tu código mientras escribes.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 de los hilos y contexto de ejecución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conviene usar varios hilos?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 frente a I/O-bound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 ejecución: qué es privado y qué se comparte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conviene usar varios hilos?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receptiva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tareas largas, fuera del hilo de la interfaz.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9884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749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clientes a la vez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hilo por cliente conectado (UT3).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804672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4788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72821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2396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Aprovechar los núcleos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cálculo dividido en partes independientes.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242316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624328" y="39959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410565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20040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Solapar esperas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265176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descargas a la vez, no una detrás de otra.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617220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73368" y="39959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10565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4944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en segundo plano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640080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Autoguardado, actualizaciones, limpieza.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 frente a I/O-bound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limita la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del procesador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comprimir vídeo, buscar primos, filtros de imagen.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Hilos: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aprox. el número de núcleos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Más no acelera.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63640" y="14173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64808" y="1618488"/>
            <a:ext cx="457200" cy="4572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4088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I/O-bound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22860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limita la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la red o al disco.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descargar ficheros, consultar una API o una base de datos.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Hilos: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más que núcleos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Ideal: hilos virtuales.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5257800"/>
            <a:ext cx="11109960" cy="640080"/>
          </a:xfrm>
          <a:prstGeom prst="roundRect">
            <a:avLst>
              <a:gd name="adj" fmla="val 8571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5394960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nucleos = Runtime.getRuntime().availableProcessors();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núcleos lógicos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no compensa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hilo de plataforma cuesta tiempo y memoria: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reserva su pila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(del orden de 1 MB).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contexto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consume CPU.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concurrente es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difícil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escribir, probar y mantener.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0" y="146304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16276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 · No compensa si…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121408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tarea es tan corta que coordinar los hilos cuesta más que hacerla.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todo el trabajo es secuencial (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Amdahl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UT1).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hilos necesitan el mismo recurso protegido: harán cola.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1 · ¿Merece la pena usar hilos?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109960" cy="4754880"/>
          </a:xfrm>
          <a:prstGeom prst="roundRect">
            <a:avLst>
              <a:gd name="adj" fmla="val 1538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1. ¿Merece la pena usar hilos?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75688"/>
            <a:ext cx="10561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¿Usarías varios hilos? ¿CPU-bound o I/O-bound? ¿Cuántos, con 8 núcleos lógicos? Justifícalo.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un vídeo de 2 GB mostrando una barra de progreso.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dos números y mostrar su suma.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Comprobar si funcionan los 400 enlaces de una web.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el SHA-256 de un único fichero de 20 GB.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un filtro de desenfoque a 3 000 fotografías.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de chat con 200 usuarios conectados.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 ejecución de un hilo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información que necesita un hilo para ejecutarse y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 donde se quedó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3957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50545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2377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de programa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9718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siguiente instrucción que va a ejecutar.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64992" y="219456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23957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50545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142232" y="2377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93592" y="29718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valores con los que trabaja el procesador.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181344" y="219456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82512" y="23957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50545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58584" y="2377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 (stack)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09944" y="29718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marco por cada método en curso: parámetros y variables locales.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997696" y="219456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98864" y="23957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50545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774936" y="2377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gestión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226296" y="29718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nombre, estado, prioridad… En Java, el objeto Thread.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demás es del proceso y lo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comparten todos sus hilos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código, heap, atributos static, ficheros y sockets. Por eso cambiar entre hilos es más barato que entre procesos.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privado y qué se comparte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pic>
        <p:nvPicPr>
          <p:cNvPr id="7" name="Image 0" descr="/home/claude/fig/f1_memo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896" y="1280160"/>
            <a:ext cx="9593728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vive cada dato?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94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vive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 comparten los hilos?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 locales y parámetros primitivos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la pila de cada hilo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No: cada hilo tiene su copia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 locales que son referencias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Referencia en la pila; objeto en el heap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objeto sí, si otro hilo llega a él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Atributos de un objeto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heap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si varios hilos usan el mismo objeto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Atributos static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heap (clase)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siempre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 </a:t>
                      </a: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ThreadLocal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copia por hilo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clave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109960" cy="2194560"/>
          </a:xfrm>
          <a:prstGeom prst="roundRect">
            <a:avLst>
              <a:gd name="adj" fmla="val 3333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2763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¿Puede otro hilo llegar a este dato?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1408"/>
            <a:ext cx="10561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(variable local, objeto creado y usado dentro de un método): no hay nada que proteger.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y alguien lo modifica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acceso debe estar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965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 · Los objetos inmutables se comparten sin peligro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90288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los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atributos inmutables y las listas de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se pueden modificar: ningún hilo puede estropearlos.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 · ¿Compartido o privado?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6766560" cy="4846320"/>
          </a:xfrm>
          <a:prstGeom prst="roundRect">
            <a:avLst>
              <a:gd name="adj" fmla="val 1132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6309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Tarea implements Runnable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int totalGlobal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procesados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List&lt;String&gt; lista;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Tarea(List&lt;String&gt; lista) { this.lista = lista;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run()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contador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(String s : lista) { contador++; procesados++; totalGlobal++;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main: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 t = new Tarea(datos);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Thread(t).start();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Thread(t).start();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Thread(new Tarea(datos)).start();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43800" y="1371600"/>
            <a:ext cx="4114800" cy="4846320"/>
          </a:xfrm>
          <a:prstGeom prst="roundRect">
            <a:avLst>
              <a:gd name="adj" fmla="val 1778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1536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029968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procesados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totalGlobal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hilos acceden a cada copia?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¿Necesita sincronización?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valores finales podrían tener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procesados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totalGlobal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hilos en la JVM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 main y los de la JVM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1945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ejecuta el método main. La JVM crea más: recolector de basura, compilador JIT, Reference Handler… Se ven con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jcmd &lt;PID&gt; Thread.print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315968" y="14173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17136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7282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93208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y virtuales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544568" y="21945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uno por cada hilo del sistema operativo; caros.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Virtuales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(Java 21): los gestiona la JVM; se pueden crear millones (apartado 8.5).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8092440" y="14173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936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7282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6968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y daemon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321040" y="21945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JVM termina cuando acaban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hilos de usuario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aunque queden hilos daemon. main y los hilos que creas son de usuario.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Creación, inicio y finalización de hilos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Thread, Runnable y Thread.Builder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start() frente a run()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con join()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termina un hilo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1 · Heredar de Thread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7680960" cy="3657600"/>
          </a:xfrm>
          <a:prstGeom prst="roundRect">
            <a:avLst>
              <a:gd name="adj" fmla="val 15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54480"/>
            <a:ext cx="7223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Saludador extends Thread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run() {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trabajo del hilo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System.out.println("Hola desde " + getName());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main: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h = new Saludador();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h.start();             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 el hilo y ejecuta run()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58200" y="14173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3252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2075688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tarea es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crea el hilo es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2 · Implementar Runnable (o una lambda)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109960" cy="4297680"/>
          </a:xfrm>
          <a:prstGeom prst="roundRect">
            <a:avLst>
              <a:gd name="adj" fmla="val 127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54480"/>
            <a:ext cx="106527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Tarea implements Runnable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run()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System.out.println("Hola desde " + Thread.currentThread().getName());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h1 = new Thread(new Tarea(), "Trabajador-1");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nombre del hilo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 lambda = () -&gt; System.out.println("Soy una lambda");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h2 = new Thread(lambda, "Trabajador-2");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h1.start();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h2.start();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Thread.currentThread()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devuelve el hilo que está ejecutando ese código: así sabe la tarea «quién soy».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frente a Runnable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89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Heredar de Thread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Implementar Runnable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Herencia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clase ya no puede heredar de otra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Puede heredar de la que necesite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Mezcla la tarea con el hilo que la ejecuta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 la tarea del hilo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Pools de hilos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puede enviar a un ejecutor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envía directamente a un ExecutorService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Recomendado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 sencillos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Siempre que sea posible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3 · Thread.Builder (Java 21)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109960" cy="3566160"/>
          </a:xfrm>
          <a:prstGeom prst="roundRect">
            <a:avLst>
              <a:gd name="adj" fmla="val 1538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54480"/>
            <a:ext cx="10652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h = Thread.ofPlatform()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.name("descarga-", 1)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descarga-1, descarga-2... en los siguientes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.daemon(false)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.start(tarea);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 y arranca en una instrucción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v = Thread.ofVirtual()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hilo virtual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.name("virtual-1")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.unstarted(tarea);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 crea sin arrancarlo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v.start();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ofPlatform()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 hilos de plataforma y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ofVirtual()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hilos virtuales.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de ejecución no está garantizado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CrearHilos.java · una ejecución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28800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ha lanzado todos los hilos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 desde Hilo-C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Hilo-D -&gt; vuelta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Hilo-D -&gt; vuelta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Hilo-B -&gt; vuelta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Hilo-B -&gt; vuelta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Hilo-A -&gt; vuelta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main: todos los hilos han terminado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141732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5819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075688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el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planificador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sistema operativo: el orden cambia en cada ejecución, equipo y carga.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escribas código que dependa del orden. Si lo necesitas,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imponlo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sincronización.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funcione 10 veces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demuestra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sea correcto.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start() no es lo mismo que run()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109960" cy="2194560"/>
          </a:xfrm>
          <a:prstGeom prst="roundRect">
            <a:avLst>
              <a:gd name="adj" fmla="val 25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10652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 tarea = () -&gt;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System.out.println("Ejecutando en: " + Thread.currentThread().getName());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t = new Thread(tarea, "Trabajador");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t.run();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llamada normal; NO crea un hilo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t.start();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correcto: hilo nuevo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5120640" cy="1280160"/>
          </a:xfrm>
          <a:prstGeom prst="roundRect">
            <a:avLst>
              <a:gd name="adj" fmla="val 4286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931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251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Ejecutando en: main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Ejecutando en: Trabajador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0" y="3840480"/>
            <a:ext cx="5715000" cy="1737360"/>
          </a:xfrm>
          <a:prstGeom prst="roundRect">
            <a:avLst>
              <a:gd name="adj" fmla="val 4211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4005072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Un hilo solo se arranca una vez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4498848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segundo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lanza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IllegalThreadStateException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a que un hilo termine: join()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h.join()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bloquea al hilo que lo llama hasta que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termina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Como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UT1.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join(ms)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join(Duration)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espera como máximo ese tiempo.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isAlive()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¿sigue vivo el hilo?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 hilo que espera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todo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que escribió 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3158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343400"/>
            <a:ext cx="10652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t = new Thread(tarea);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t.join(2000);       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espera como máximo 2 segundos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(t.isAlive()) System.out.println("Sigue trabajando");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patrón: dividir, lanzar, esperar y combinar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Dividir el trabajo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136392" y="1920240"/>
            <a:ext cx="201168" cy="274320"/>
          </a:xfrm>
          <a:prstGeom prst="rtTriangl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14630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Lanzar todos los hilos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971032" y="1920240"/>
            <a:ext cx="201168" cy="274320"/>
          </a:xfrm>
          <a:prstGeom prst="rtTriangl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14630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Esperar a todos con join()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805672" y="1920240"/>
            <a:ext cx="201168" cy="274320"/>
          </a:xfrm>
          <a:prstGeom prst="rtTriangl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52560" y="14630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Combinar los resultados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2971800"/>
            <a:ext cx="11109960" cy="1371600"/>
          </a:xfrm>
          <a:prstGeom prst="roundRect">
            <a:avLst>
              <a:gd name="adj" fmla="val 40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108960"/>
            <a:ext cx="10652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 hilos[i] = new Sumador(datos, desde, hasta); hilos[i].start();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total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(Sumador h : hilos) { h.join(); total += h.getResultado(); }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57200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73659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Lanzar y esperar en el mismo bucle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230368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haces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misma vuelta, el programa se vuelve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secuencial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termina un hilo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run() termina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forma correcta y la única que deberías buscar.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64992" y="14173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42232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Excepción no capturada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93592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</a:t>
            </a: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hilo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el programa. Los demás siguen.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181344" y="14173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82512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2821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58584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System.exit()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409944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el proceso entero, con todos sus hilos.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997696" y="14173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98864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72821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774936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daemon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226296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JVM lo detiene cuando acaban los hilos de usuario.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4343400"/>
            <a:ext cx="11109960" cy="1783080"/>
          </a:xfrm>
          <a:prstGeom prst="roundRect">
            <a:avLst>
              <a:gd name="adj" fmla="val 4103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450799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No se puede matar un hilo desde fuera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001768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dejaba datos a medias: desde Java 20 lanza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UnsupportedOperationException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 le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pare con una interrupción (apartado 5.4).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una excepción no pase desapercibida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109960" cy="2743200"/>
          </a:xfrm>
          <a:prstGeom prst="roundRect">
            <a:avLst>
              <a:gd name="adj" fmla="val 20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54480"/>
            <a:ext cx="10652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h = new Thread(() -&gt;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IllegalStateException("fallo en el cálculo");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"Calculador");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h.setUncaughtExceptionHandler((hilo, ex) -&gt;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System.err.println("El hilo " + hilo.getName() + " ha fallado: " + ex.getMessage()));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h.start();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3 · ¿Qué puede imprimir?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t = new Thread(() -&gt; System.out.print("A"));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System.out.print("B");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t.join();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System.out.print("C");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0" y="1417320"/>
            <a:ext cx="5715000" cy="4206240"/>
          </a:xfrm>
          <a:prstGeom prst="roundRect">
            <a:avLst>
              <a:gd name="adj" fmla="val 1739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581912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075688"/>
            <a:ext cx="5166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todas las salidas posibles. ¿Puede salir C antes que A?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cambiamos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t.run()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quitamos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t.join()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Compruébalo ejecutando cada versión varias veces.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hilo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Thread.State y getState()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con los estados del sistema operativo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hilo en Java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pic>
        <p:nvPicPr>
          <p:cNvPr id="8" name="Image 0" descr="/home/claude/fig/f2_est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757" y="1280160"/>
            <a:ext cx="952200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significa cada estado (1)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49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Creado, pero todavía no se ha llamado a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RUNNABLE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Puede ejecutarse. Incluye </a:t>
                      </a: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listo y en ejecución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Java no los distingue.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Quiere entrar en un bloque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synchronized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cuyo cerrojo tiene otro hilo.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significa cada estado (2)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49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indefinidamente a otro hilo: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LockSupport.park()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TIMED_WAITING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Igual, con tiempo máximo: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sleep(ms)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wait(ms)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join(ms)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TERMINATED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ha terminado. No se puede volver a arrancar.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37083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RUNNABLE no significa que esté trabajando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64608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hilo esperando datos de un socket o un fichero (E/S clásica) aparece como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aunque el sistema operativo lo tenga bloqueado.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los estados en directo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852160" cy="3657600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EstadosHilo.java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5394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de start():     NEW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Calculando:           RUNNABLE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Dentro de sleep():    TIMED_WAITING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 terminar:        TERMINATED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Esperando el cerrojo: BLOCKED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Bloqueado ha conseguido el cerrojo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Dentro de wait():     WAITING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417320"/>
            <a:ext cx="4983480" cy="3657600"/>
          </a:xfrm>
          <a:prstGeom prst="roundRect">
            <a:avLst>
              <a:gd name="adj" fmla="val 2000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5819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sleep() no sirve para sincronizar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075688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ejemplo usa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main para dar tiempo al otro hilo. En un equipo más lento los tiempos cambian y el programa falla.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4 · ¿En qué estado está?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109960" cy="4754880"/>
          </a:xfrm>
          <a:prstGeom prst="roundRect">
            <a:avLst>
              <a:gd name="adj" fmla="val 1538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4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75688"/>
            <a:ext cx="10561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ha ejecutado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Thread(tarea);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nada más.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dentro de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Thread.sleep(5000)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llamado 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otroHilo.join()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otroHilo sigue vivo.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 ejecutar un método synchronized de un objeto ocupado por otro hilo.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a que el usuario escriba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Scanner.nextLine()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Calculaba y el sistema le ha retirado la CPU (fin del quantum).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lanzado una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NullPointerException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capturada.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llamado 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cola.take()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sobre una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BlockingQueue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vacía.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hilos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y prioridades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Esperas e interrupciones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daemon y grupos de hilos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un hilo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78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Thread.currentThread()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hilo que ejecuta ese código: «quién soy»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getName()</a:t>
                      </a: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setName()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hilo. Ponlos siempre: ayuda mucho al depurar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threadId()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único (sustituye a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getId()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obsoleto)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isAlive()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si ha arrancado y no ha terminado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isDaemon()</a:t>
                      </a: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isVirtual()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es daemon o si es un hilo virtual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 10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MIN_PRIORITY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(1),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NORM_PRIORITY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(5),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MAX_PRIORITY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(10).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consultan con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getPriority()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se cambian con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setPriority()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 heredan del hilo creador.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solo una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sugerencia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el planificador:</a:t>
            </a:r>
            <a:endParaRPr lang="en-US" sz="20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 traducen a prioridades del sistema; suelen notarse si los núcleos están ocupados.</a:t>
            </a:r>
            <a:endParaRPr lang="en-US" sz="20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por defecto la JVM las ignora.</a:t>
            </a:r>
            <a:endParaRPr lang="en-US" sz="20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virtuales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siempre prioridad normal.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¿Sirven de algo las prioridades?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8521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Prioridades.java en Linux · el doble de hilos que núcleos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2880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Vueltas prioridad 10: 6,430,621,879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Vueltas prioridad 1:  6,364,884,293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1546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influyen cuando hay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hilos listos que núcleos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Prueba el mismo programa en Windows.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675120" y="1417320"/>
            <a:ext cx="4983480" cy="3657600"/>
          </a:xfrm>
          <a:prstGeom prst="roundRect">
            <a:avLst>
              <a:gd name="adj" fmla="val 2000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15819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Nunca dependas de las prioridades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075688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garantizan ningún orden.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Abusar de ellas puede provocar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inanición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 hilo de baja prioridad que no se ejecuta nunca.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26280"/>
                <a:gridCol w="2194560"/>
                <a:gridCol w="1737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¿Libera cerrojos?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Thread.sleep(ms)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 el hilo el tiempo indicado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TIMED_WAITING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Thread.yield()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Pista para ceder la CPU (casi no se usa)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RUNNABLE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h.join()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a que termine 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obj.wait()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a un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notify()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sobre obj (apartado 7.3)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Interrupciones: un mecanismo cooperativo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h.interrupt()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detiene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hilo: activa su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de interrupción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hilo está calculando, debe consultarlo: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Thread.currentThread().isInterrupted()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está en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 despierta con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InterruptedException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y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indicador se borra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para detener un hilo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109960" cy="4846320"/>
          </a:xfrm>
          <a:prstGeom prst="roundRect">
            <a:avLst>
              <a:gd name="adj" fmla="val 1132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106527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vigilante = new Thread(() -&gt;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(!Thread.currentThread().isInterrupted())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System.out.println("Ronda de vigilancia");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Thread.sleep(400);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 lo interrumpen aquí, salta la excepción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(InterruptedException e)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System.out.println("Me han interrumpido");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System.out.println("Libero recursos y termino");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vigilante.start();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Thread.sleep(1500);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vigilante.interrupt();   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 pedimos que pare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vigilante.join();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 tragues la InterruptedException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Un catch vacío es un error grave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75688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(InterruptedException e) { }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hace que el hilo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pierda la petición de parada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siga como si nada.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63016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739896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2588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206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Salir del bucle y acabar de forma ordenada.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297680" y="34290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98848" y="363016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373989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7492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Propagar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4206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Declarar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 InterruptedException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8046720" y="34290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47888" y="363016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373989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82396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Restaurar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275320" y="4206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Thread.currentThread().interrupt();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daemon y grupos de hilos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daemon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de servicio que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impiden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el programa termine. Se marcan con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setDaemon(true)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Útiles para un autoguardado o estadísticas. Nunca para tareas que deben completarse: la JVM los corta en seco. Los hilos virtuales siempre son daemon.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17920" y="141732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1908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9516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hilos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19456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ThreadGroup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histórico: muchas de sus operaciones están obsoletas o no hacen nada. Hoy, para manejar un conjunto de hilos se usa un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ejecutor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hilos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ExecutorService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que verás en el apartado 8.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5 · Un hilo que no se deja parar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6217920" cy="3840480"/>
          </a:xfrm>
          <a:prstGeom prst="roundRect">
            <a:avLst>
              <a:gd name="adj" fmla="val 1429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57607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descargador = new Thread(() -&gt;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(String url : urls)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System.out.println("Descargando " + url);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Thread.sleep(1000);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simula la descarga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(InterruptedException e)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hacemos nada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95160" y="1371600"/>
            <a:ext cx="4663440" cy="4754880"/>
          </a:xfrm>
          <a:prstGeom prst="roundRect">
            <a:avLst>
              <a:gd name="adj" fmla="val 1569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69480" y="1536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5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2029968"/>
            <a:ext cx="4114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lo interrumpe a los 2 s, pero sigue hasta el final.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por qué no se detiene.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Corrígelo de dos formas: saliendo del bucle y restaurando el indicador.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cuántos ficheros llegó a descargar.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Compartición de información entre hilos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de carrera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 y volatile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Interbloqueo, inanición y livelock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comparte la información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el constructor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pasa el mismo objeto a cada tarea.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172200" y="14173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7336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4944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lambda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2194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variables efectivamente final: la variable no cambia, el objeto sí.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381304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92277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3794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static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43891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Visibles para todos. La opción menos recomendable.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617220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73368" y="381304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92277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3794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cola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0" y="43891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Unos hilos dejan datos y otros los recogen (apartado 9.1).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es fácil. Lo difícil es que varios hilos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modifiquen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 estropear los datos.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de carrera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7223760" cy="4206240"/>
          </a:xfrm>
          <a:prstGeom prst="roundRect">
            <a:avLst>
              <a:gd name="adj" fmla="val 1304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6766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Contador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valor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incrementar() { valor++; }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leer, sumar y escribir: NO es atómico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 hilos x 100 000 incrementos sobre el MISMO contador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4; i++)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hilos[i] = new Thread(() -&gt;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100_000; j++) contador.incrementar();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hilos[i].start();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01000" y="137160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ejecuciones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1783080"/>
            <a:ext cx="3200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esperado: 400000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obtenido: 365925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obtenido: 348285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obtenido: 176672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43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una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de carrera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cuando el resultado depende del orden en que se intercalan los hilos.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se pierden incrementos?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pic>
        <p:nvPicPr>
          <p:cNvPr id="7" name="Image 0" descr="/home/claude/fig/f3_carr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138" y="1280160"/>
            <a:ext cx="1012924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atómica y sección crítica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atómica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 completa: ningún hilo ve un estado intermedio ni se cuela en medio.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valor++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17920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1908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9516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crítica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1945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que accede a datos compartidos y que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debe ejecutar más de un hilo a la vez.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3794760"/>
            <a:ext cx="11109960" cy="1737360"/>
          </a:xfrm>
          <a:prstGeom prst="roundRect">
            <a:avLst>
              <a:gd name="adj" fmla="val 3158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3931920"/>
            <a:ext cx="10652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Comprobar y después actuar: dos hilos retiran 80 € de una cuenta con 100 €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(saldo &gt;= cantidad) {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 dos comprueban: 100 &gt;= 80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saldo -= cantidad;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 dos retiran: saldo = -60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son tan peligrosas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109960" cy="3840480"/>
          </a:xfrm>
          <a:prstGeom prst="roundRect">
            <a:avLst>
              <a:gd name="adj" fmla="val 1905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2763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1408"/>
            <a:ext cx="10561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Pueden no aparecer durante semanas y surgir en el equipo de un cliente con más núcleos o más carga.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añadir mensajes para depurar, el error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desaparece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cambian los tiempos.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única forma fiable de evitarlas es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bien el acceso a los datos compartidos, no probar hasta que deje de fallar.</a:t>
            </a:r>
            <a:endParaRPr lang="en-US" sz="2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Visibilidad: un hilo que no ve los cambios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7223760" cy="3657600"/>
          </a:xfrm>
          <a:prstGeom prst="roundRect">
            <a:avLst>
              <a:gd name="adj" fmla="val 15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67665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volatile boolean ejecutando = true;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quita volatile...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trabajador = new Thread(() -&gt;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(ejecutando) { vueltas++;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System.out.println("Trabajador detenido");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trabajador.start();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Thread.sleep(1000);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ejecutando = false;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...y el trabajador puede no verlo nunca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137160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Cachés, registros y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reordenación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instrucciones.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sincronización, no hay garantía de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(ni si) un hilo ve lo que escribe otro.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lecturas y escrituras visibles para todos al instante.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volatile da visibilidad, no atomicidad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75688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volatile int valor;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contador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fallando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leer, sumar y escribir se pueden intercalar.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visibilidad (happens-before) que te interesan: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4904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escribe antes de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liberar un cerrojo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ve quien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adquiere ese cerrojo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después.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escrito antes de escribir una variable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volatile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ve quien la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después.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hecho antes de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h.start()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ve h. Lo que hace h lo ve quien hace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h.join()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Interbloqueo (deadlock)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  <p:pic>
        <p:nvPicPr>
          <p:cNvPr id="8" name="Image 0" descr="/home/claude/fig/f4_interbloqu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66560" cy="34165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1828800"/>
            <a:ext cx="4069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transferencias simultáneas en sentidos opuestos. Cada hilo bloquea su cuenta de origen y espera la de destino.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puede avanzar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de Coffman: basta romper una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51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romperla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Exclusión mutua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recurso, un hilo a la vez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compartibles (inmutables)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Retención y espera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Retiene uno mientras espera otro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Pedir todos a la vez o ninguno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expropiación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su dueño lo libera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tryLock()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con tiempo límite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circular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ciclo de hilos que se esperan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global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cerrojos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el interbloqueo: un orden global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109960" cy="3566160"/>
          </a:xfrm>
          <a:prstGeom prst="roundRect">
            <a:avLst>
              <a:gd name="adj" fmla="val 1538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10652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transferirOrdenado(Cuenta origen, Cuenta destino, int cantidad)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Cuenta primera = origen.id &lt; destino.id ? origen : destino;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Cuenta segunda = origen.id &lt; destino.id ? destino : origen;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synchronized (primera) {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todos bloquean primero la de id menor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synchronized (segunda)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origen.saldo -= cantidad;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destino.saldo += cantidad;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los cerrojos anidados y mantén cortas las secciones críticas.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llames a código ajeno mientras tienes un cerrojo.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Inanición y livelock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Inanición (starvation)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hilo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consigue el recurso porque siempre se lo lleva otro: prioridades, cerrojos no equitativos o políticas que favorecen a unos hilos. Se evita con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cerrojos equitativos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ReentrantLock(true)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Semaphore(n, true)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17920" y="14173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1908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9516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Livelock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194560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hilos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están bloqueados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reaccionan unos a otros y ninguno avanza. Como dos personas que se apartan hacia el mismo lado en un pasillo. Se evita con una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aleatoria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reintentar.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problemas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43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Síntoma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evita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 de carrera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Resultados incorrectos que cambian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Exclusión mutua, atómicas, colecciones concurrentes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Visibilidad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hilo no ve los cambios de otro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volatile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sincronización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Interbloqueo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programa se queda parado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global de cerrojos,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tryLock()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Inanición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hilo nunca progresa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Cerrojos equitativos; cuidado con prioridades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Livelock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Consumen CPU, nadie avanza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Esperas aleatorias al reintentar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6 · Encuentra el problema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7498080" cy="4023360"/>
          </a:xfrm>
          <a:prstGeom prst="roundRect">
            <a:avLst>
              <a:gd name="adj" fmla="val 1364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7040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A: reserva de butacas (boolean[] compartido)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(!butacas[n]) { butacas[n] = true;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B: registro de accesos (ArrayList compartido)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accesos.add(usuario + " " + LocalTime.now());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C: bandera de pausa (atributo boolean)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(pausado) {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procesarSiguiente();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D: dos métodos de la misma clase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(listaA) { synchronized (listaB) { mover(listaA, listaB); }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(listaB) { synchronized (listaA) { mover(listaB, listaA); } }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75320" y="137160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15361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2029968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fragmento: qué problema tiene, cuándo falla y qué consecuencia tendría.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de hilos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y monitores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ReentrantLock y Condition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Semáforos y otros sincronizadores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crítica y exclusión mutua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Exclusión mutua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máximo un hilo dentro.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9884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749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2194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está libre y alguien quiere entrar, alguno debe poder.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8046720" y="14173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4788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72821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2396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limitada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194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espera indefinidamente.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023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 básica es el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cerrojo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(lock): se adquiere al entrar y se libera al salir. Si otro hilo lo tiene, se espera.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synchronized: métodos y bloques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109960" cy="4389120"/>
          </a:xfrm>
          <a:prstGeom prst="roundRect">
            <a:avLst>
              <a:gd name="adj" fmla="val 125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10652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Contador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valor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synchronized void incrementar() { valor++; }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cerrojo: this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synchronized int getValor() { return valor; }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también la lectura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Registro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List&lt;String&gt; lineas = new ArrayList&lt;&gt;();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Object cerrojo = new Object();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cerrojo privado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anotar(String texto)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linea = LocalTime.now() + " " + texto;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fuera: nada compartido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synchronized (cerrojo) { lineas.add(linea); }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solo lo imprescindible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objeto tiene un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cerrojo interno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En un método static, el cerrojo es la clase.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synchronized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libera siempre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salir del bloque, también con una excepción.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172200" y="14173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7336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4944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reentrante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219456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hilo puede volver a coger el cerrojo que ya tiene.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05993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3931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visibilidad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45262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entra ve lo que escribió quien salió.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617220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73368" y="395020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05993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3931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interrumpe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0" y="45262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hilo espera en BLOCKED hasta conseguirlo.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para usar synchronized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109960" cy="4206240"/>
          </a:xfrm>
          <a:prstGeom prst="roundRect">
            <a:avLst>
              <a:gd name="adj" fmla="val 1739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2763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1408"/>
            <a:ext cx="10561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accesos,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lecturas incluidas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el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cerrojo.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Sincronizar sobre objetos distintos no protege nada (por ejemplo,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(this)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dentro de cada Runnable).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 críticas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sin esperas, E/S ni cálculos largos.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Cerrojo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Nunca cadenas literales ni objetos Integer.</a:t>
            </a:r>
            <a:endParaRPr 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Monitores: esperar a que se cumpla una condición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reúne los datos compartidos, los métodos que los usan en exclusión mutua y la forma de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y avisar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En Java, cualquier objeto:</a:t>
            </a:r>
            <a:endParaRPr lang="en-US" sz="19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32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 el cerrojo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 espera a que otro hilo lo notifique. Al despertar, vuelve a competir por el cerrojo.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notify()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Despierta a </a:t>
                      </a: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los que esperan, al azar.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notifyAll()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Despierta a </a:t>
                      </a: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cada uno vuelve a comprobar su condición.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dentro de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sobre el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objeto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si no,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IllegalMonitorStateException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del monitor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109960" cy="4754880"/>
          </a:xfrm>
          <a:prstGeom prst="roundRect">
            <a:avLst>
              <a:gd name="adj" fmla="val 1154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106527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Puerta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boolean abierta = false;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synchronized void esperarApertura() throws InterruptedException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(!abierta) {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SIEMPRE while, nunca if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wait();  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libera el cerrojo y espera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synchronized void abrir()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abierta = true;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cambiar el estado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notifyAll(); 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avisar a los que esperan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condición se comprueba en un while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109960" cy="2926080"/>
          </a:xfrm>
          <a:prstGeom prst="roundRect">
            <a:avLst>
              <a:gd name="adj" fmla="val 2500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Al salir de wait(), la condición puede no cumplirse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75688"/>
            <a:ext cx="10561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 hilo ha entrado antes y ha cambiado el estado.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notifyAll()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despiertan todos, pero quizá solo uno puede continuar.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 los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despertares espurios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salir de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 que nadie avise.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7315200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663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pasa con if en lugar de while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8348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Nomina ingresa 30 -&gt; saldo 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Cliente-1 retira 50 -&gt; saldo -20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Cliente-2 retira 50 -&gt; saldo -70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5720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notifyAll()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salvo que estés seguro de que cualquiera puede continuar.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Cerrojos explícitos: ReentrantLock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3657600"/>
          </a:xfrm>
          <a:prstGeom prst="roundRect">
            <a:avLst>
              <a:gd name="adj" fmla="val 15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5394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ReentrantLock cerrojo = new ReentrantLock();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incrementar()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cerrojo.lock();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valor++;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finally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cerrojo.unlock();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SIEMPRE en finally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371600"/>
            <a:ext cx="4983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tryLock(tiempo, unidad)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 esperar para siempre.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lockInterruptibly()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espera interrumpible.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ReentrantLock(true)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equitativo.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frente a ReentrantLock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77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synchronized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ReentrantLock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Sintaxis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Sencilla, se libera solo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Hay que liberarlo en finally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con tiempo límite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tryLock(t, u)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Interrumpir la espera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lockInterruptibly()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Equidad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Opcional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Condiciones de espera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Una: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notify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Varias: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Condition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defecto, casos sencillos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necesitas lo anterior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contador de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 hay uno libre, el hilo lo toma; si no, espera a que otro lo devuelva.</a:t>
            </a:r>
            <a:endParaRPr lang="en-US" sz="2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109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52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 Semaphore(n, true)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permisos; true = equitativo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acquire()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Toma un permiso o espera (operación P)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release()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 un permiso (operación V)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tryAcquire(t, u)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intenta con un tiempo máximo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availablePermits()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Permisos libres ahora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aparcamiento con 3 plazas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7223760" cy="4023360"/>
          </a:xfrm>
          <a:prstGeom prst="roundRect">
            <a:avLst>
              <a:gd name="adj" fmla="val 1364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6766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final Semaphore plazas = new Semaphore(3, true);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aparcar() throws InterruptedException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plazas.acquire();                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espera si no hay plazas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System.out.println(coche + " entra. Libres: " + plazas.availablePermits());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Thread.sleep(estancia);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finally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plazas.release();            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libera la plaza siempre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01000" y="1371600"/>
            <a:ext cx="3657600" cy="4023360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178308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Coche-1 entra. Libres: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Coche-3 entra. Libres: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Coche-2 entra. Libres: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Coche-2 sale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Coche-4 entra. Libres: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1 permiso es un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 binario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exclusión mutua, pero sin propietario.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sincronizadores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92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CountDownLatch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Esperar a que un contador llegue a cero (no se reinicia)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CyclicBarrier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hilos se esperan entre sí en un punto; reutilizable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Phaser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Barrera con participantes variables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Exchanger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 hilos intercambian un objeto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06240"/>
            <a:ext cx="11109960" cy="1371600"/>
          </a:xfrm>
          <a:prstGeom prst="roundRect">
            <a:avLst>
              <a:gd name="adj" fmla="val 40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343400"/>
            <a:ext cx="10652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CountDownLatch listos = new CountDownLatch(3);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cada servicio, al arrancar: listos.countDown();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listos.await();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espera a que llegue a 0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7 · Elige el mecanismo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109960" cy="4663440"/>
          </a:xfrm>
          <a:prstGeom prst="roundRect">
            <a:avLst>
              <a:gd name="adj" fmla="val 1569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7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75688"/>
            <a:ext cx="10561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mecanismo usarías y por qué?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10 conexiones simultáneas a la base de datos.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contador de visitas que actualizan cientos de hilos.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varios hilos de trabajo al pulsar Cancelar.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a que terminen 4 hilos de cálculo.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entre dos cuentas sin interbloqueo ni espera indefinida.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a que otro hilo deje un mensaje.</a:t>
            </a:r>
            <a:endParaRPr lang="en-US" sz="1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8 · Una cuenta que espera fondos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109960" cy="4663440"/>
          </a:xfrm>
          <a:prstGeom prst="roundRect">
            <a:avLst>
              <a:gd name="adj" fmla="val 1569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8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75688"/>
            <a:ext cx="10561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CuentaCompartida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un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retirar(cantidad)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espera hasta que haya saldo suficiente.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ingresar(cantidad)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suma y avisa a los que esperan.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Prueba: 3 hilos retiran 50 € y otro ingresa 30 € cada segundo, desde saldo 0.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pasaría con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lugar de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¿Y con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 de concurrencia de Java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Ejecutores y pools de hilos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Callable y Future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atómicas y colecciones concurrentes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virtuales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java.util.concurrent: la primera opción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18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Paquete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java.util.concurrent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Ejecutores, Callable, Future, CompletableFuture, colecciones concurrentes, colas bloqueantes, Semaphore, CountDownLatch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...concurrent.atomic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AtomicInteger, AtomicLong, AtomicBoolean, AtomicReference, LongAdder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...concurrent.locks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ReentrantLock, ReentrantReadWriteLock, Condition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probadas y optimizadas. Los mecanismos básicos (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se dejan para casos especiales.</a:t>
            </a:r>
            <a:endParaRPr lang="en-US" sz="1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Pools de hilos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  <p:pic>
        <p:nvPicPr>
          <p:cNvPr id="7" name="Image 0" descr="/home/claude/fig/f6_p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305" y="1280160"/>
            <a:ext cx="9768911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hilos se crean una vez y se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reutilizan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Las tareas esperan en una cola.</a:t>
            </a:r>
            <a:endParaRPr lang="en-US" sz="1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ejecutores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3337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 Executors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crea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newFixedThreadPool(n)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hilos fijos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CPU-bound: n = núcleos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newCachedThreadPool()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hilos según necesita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Muchas tareas cortas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newSingleThreadExecutor()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hilo, tareas en orden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Tareas que no deben solaparse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newScheduledThreadPool(n)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Tareas con retardo o periódicas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Autoguardado, comprobaciones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newVirtualThreadPerTaskExecutor()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hilo virtual por tarea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Muchas tareas I/O-bound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un ejecutor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109960" cy="2286000"/>
          </a:xfrm>
          <a:prstGeom prst="roundRect">
            <a:avLst>
              <a:gd name="adj" fmla="val 24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1065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(ExecutorService pool = Executors.newFixedThreadPool(4))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&lt;= 10; i++)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n = i;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pool.submit(() -&gt; System.out.println(Thread.currentThread().getName() + " -&gt; tarea " + n));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close(): espera a que terminen las 10 tareas y apaga el pool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execute(r)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submit(tarea)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envían tareas.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devuelve un Future.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shutdown()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 acepta más; termina las pendientes.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shutdownNow()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interrumpe.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awaitTermination(t, u)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espera a que acaben.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siempre el ejecutor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Si no lo cierras, el programa no termina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75688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hilos del pool son de usuario y se quedan esperando tareas: main acaba y la JVM sigue viva. Usa try-with-resources o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shutdown()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109960" cy="1920240"/>
          </a:xfrm>
          <a:prstGeom prst="roundRect">
            <a:avLst>
              <a:gd name="adj" fmla="val 285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periódicas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31920"/>
            <a:ext cx="10652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ScheduledExecutorService programador = Executors.newScheduledThreadPool(1);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programador.scheduleAtFixedRate(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() -&gt; System.out.println("Autoguardado a las " + LocalTime.now()),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5, 10, TimeUnit.SECONDS);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primera vez a los 5 s, después cada 10 s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con resultado: Callable y Future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77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Runnable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Callable&lt;V&gt;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void run()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 call() throws Exception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 resultado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Excepciones comprobadas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18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y devuelve el resultado. Si la tarea falló: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ExecutionException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get(t, u)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tiempo máximo: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TimeoutException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isDone()</a:t>
                      </a: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cancel(true)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¿Ha terminado? / Cancelar e interrumpir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primos de la UT1, ahora con un pool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109960" cy="3108960"/>
          </a:xfrm>
          <a:prstGeom prst="roundRect">
            <a:avLst>
              <a:gd name="adj" fmla="val 1765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10652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ContarPrimos(long desde, long hasta) implements Callable&lt;Long&gt;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Long call() { /* cuenta y devuelve */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(ExecutorService pool = Executors.newFixedThreadPool(nucleos))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List&lt;Future&lt;Long&gt;&gt; futuros = new ArrayList&lt;&gt;();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(...) futuros.add(pool.submit(new ContarPrimos(desde, fin)));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bloquea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(Future&lt;Long&gt; f : futuros) total += f.get();   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espera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66344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754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2 núcleos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0749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Secuencial:  216816 primos en 484 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el pool: 216816 primos en 267 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Aceleración: 1.81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466344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ProcessBuilder, sin leer la salida estándar y sin convertir texto: el resultado vuelve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CompletableFuture: encadenar tareas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109960" cy="2194560"/>
          </a:xfrm>
          <a:prstGeom prst="roundRect">
            <a:avLst>
              <a:gd name="adj" fmla="val 25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10652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.supplyAsync(() -&gt; descargar("https: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//ejemplo.com/datos.json"))   // en otro hilo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.thenApply(json -&gt; procesar(json))               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 terminar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.thenAccept(resultado -&gt; System.out.println("Listo: " + resultado))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.exceptionally(ex -&gt; { System.err.println("Error: " + ex); return null; });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usado en interfaces gráficas y servicios web para no bloquearse esperando cada resultado.</a:t>
            </a:r>
            <a:endParaRPr lang="en-US" sz="1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atómicas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atómicas sobre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variable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cerrojos, gracias a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(compare-and-swap): «cámbialo a 6 solo si sigue valiendo 5».</a:t>
            </a:r>
            <a:endParaRPr lang="en-US" sz="19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109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52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AtomicInteger</a:t>
                      </a: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AtomicLong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incrementAndGet()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addAndGet(n)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compareAndSet(e, n)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AtomicBoolean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Bandera que solo debe activar un hilo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LongAdder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increment()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sum()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muchas escrituras, pocas lecturas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434840"/>
            <a:ext cx="64008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5262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ContadoresSeguros.java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84632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valor = 4000000  (525 ms)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        valor = 4000000  (91 ms)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       valor = 4000000  (126 ms)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44348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una variable: si dos datos deben cambiar juntos, hace falta un cerrojo.</a:t>
            </a:r>
            <a:endParaRPr lang="en-US" sz="17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Colecciones concurrentes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37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Colección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Collections.synchronizedList(...)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antiguo, poca concurrencia (recorrer sincronizando a mano)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ConcurrentHashMap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Mapas compartidos: </a:t>
                      </a:r>
                      <a:r>
                        <a:rPr lang="en-US" sz="16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merge()</a:t>
                      </a: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compute()</a:t>
                      </a: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putIfAbsent()</a:t>
                      </a: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atómicos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CopyOnWriteArrayList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Muchas lecturas y muy pocas escrituras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ArrayBlockingQueue</a:t>
                      </a: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LinkedBlockingQueue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Comunicar productores y consumidores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ConcurrentLinkedQueue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 compartida sin esperas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seguras: se pierden elementos o saltan excepciones.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colección concurrente no hace atómico tu código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109960" cy="1828800"/>
          </a:xfrm>
          <a:prstGeom prst="roundRect">
            <a:avLst>
              <a:gd name="adj" fmla="val 30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08760"/>
            <a:ext cx="10652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 actual = mapa.get(k);    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dos hilos leen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mapa.put(k, actual == null ? 1 : actual + 1);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 dos escriben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mapa.merge(k, 1, Integer::sum);  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correcto: atómico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11109960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66160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tareas x 100 000 incrementos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86200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+ put -&gt; Total: 500437 (esperado 800000)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    -&gt; Total: 800000 (esperado 800000)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virtuales (Java 21)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gestiona la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sobre unos pocos hilos de plataforma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portadores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(carrier threads).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 hilo virtual espera (E/S,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la JVM lo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el portador queda libre.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Ocupan muy poca memoria: se pueden tener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millones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109960" cy="1828800"/>
          </a:xfrm>
          <a:prstGeom prst="roundRect">
            <a:avLst>
              <a:gd name="adj" fmla="val 300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297680"/>
            <a:ext cx="10652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v1 = Thread.ofVirtual().start(tarea);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v2 = Thread.startVirtualThread(tarea);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(ExecutorService ex = Executors.newVirtualThreadPerTaskExecutor())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ex.submit(tarea);         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 hilo virtual por tarea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tareas que esperan 1 segundo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40680" cy="2560320"/>
          </a:xfrm>
          <a:prstGeom prst="roundRect">
            <a:avLst>
              <a:gd name="adj" fmla="val 2857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4592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 s</a:t>
            </a:r>
            <a:endParaRPr lang="en-US" sz="6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0896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virtuales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172200" y="1463040"/>
            <a:ext cx="5440680" cy="2560320"/>
          </a:xfrm>
          <a:prstGeom prst="roundRect">
            <a:avLst>
              <a:gd name="adj" fmla="val 2857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164592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</a:t>
            </a:r>
            <a:endParaRPr lang="en-US" sz="66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310896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200 hilos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434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hilos solo pueden esperar 200 a la vez: 10 000 / 200 = 50 rondas de 1 s. Con hilos virtuales, las 10 000 esperas ocurren a la vez.</a:t>
            </a:r>
            <a:endParaRPr lang="en-US" sz="1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usar hilos virtuales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Úsalos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tareas que pasan el tiempo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esperando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peticiones a servidores, bases de datos, ficheros, servidores con muchos clientes.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17920" y="14173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19088" y="1618488"/>
            <a:ext cx="457200" cy="4572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9516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los uses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19456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tareas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 calculan más deprisa. Usa un pool fijo del tamaño de los núcleos.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06908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meten en un pool: uno nuevo por tarea. Para limitar el acceso a un recurso,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Semaphore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daemon y con prioridad normal. Cuidado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ThreadLocal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Java 24,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 no los fija (pinning) a su portador.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9 · De Thread a ExecutorService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109960" cy="4663440"/>
          </a:xfrm>
          <a:prstGeom prst="roundRect">
            <a:avLst>
              <a:gd name="adj" fmla="val 1569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9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75688"/>
            <a:ext cx="10561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Reescribe SumaParalela (apartado 3.5) para que: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tarea sea un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Callable&lt;Long&gt;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ejecute en un pool fijo con tantos hilos como núcleos, en un try-with-resources.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resultados se recojan con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 4 veces más tareas que núcleos.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ventajas tiene frente a la versión original?</a:t>
            </a:r>
            <a:endParaRPr lang="en-US" sz="2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clásicos de concurrencia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Productor-consumidor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Lectores-escritores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cena de los filósofos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Productor-consumidor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  <p:pic>
        <p:nvPicPr>
          <p:cNvPr id="8" name="Image 0" descr="/home/claude/fig/f5_prodc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602" y="1280160"/>
            <a:ext cx="8270317" cy="2926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3891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al buffer en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exclusión mutua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lleno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los productores esperan. Buffer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vacío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los consumidores esperan.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 cola de impresión, pedidos de una tienda, fotogramas de una cámara.</a:t>
            </a:r>
            <a:endParaRPr lang="en-US" sz="1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con un monitor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109960" cy="4846320"/>
          </a:xfrm>
          <a:prstGeom prst="roundRect">
            <a:avLst>
              <a:gd name="adj" fmla="val 1132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63040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BufferMonitor.java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83080"/>
            <a:ext cx="10652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synchronized void poner(int valor) throws InterruptedException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(cantidad == datos.length) wait();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lleno: espera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datos[entrada] = valor;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entrada = (entrada + 1) % datos.length;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cantidad++;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notifyAll();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synchronized int sacar() throws InterruptedException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(cantidad == 0) wait();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vacío: espera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valor = datos[salida];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salida = (salida + 1) % datos.length;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cantidad--;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notifyAll();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valor;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con una BlockingQueue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108960"/>
                <a:gridCol w="3063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Operación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bloquea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 sin esperar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un tiempo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Insertar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put(e)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offer(e)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offer(e, t, u)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take()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poll()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poll(t, u)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2926080"/>
            <a:ext cx="11109960" cy="1737360"/>
          </a:xfrm>
          <a:prstGeom prst="roundRect">
            <a:avLst>
              <a:gd name="adj" fmla="val 3158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063240"/>
            <a:ext cx="10652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BlockingQueue&lt;String&gt; cola = new ArrayBlockingQueue&lt;&gt;(5);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productores: cola.put(pedido);     consumidores: String p = cola.take();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(Thread t : productores) t.join();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c = 0; c &lt; consumidores; c++) cola.put(FIN);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píldora venenosa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Píldora venenosa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(poison pill): un valor especial que significa «no hay más datos». Una por consumidor.</a:t>
            </a:r>
            <a:endParaRPr lang="en-US" sz="1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Lectores-escritores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1945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lectores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vez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 escritor,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exclusiva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155448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ReentrantReadWriteLock rw = new ReentrantReadWriteLock(true);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rw.readLock().lock();   try { leer(); }     finally { rw.readLock().unlock();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rw.writeLock().lock();  try { escribir(); } finally { rw.writeLock().unlock(); }</a:t>
            </a:r>
            <a:endParaRPr lang="en-US" sz="13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109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37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Preferencia a los lectores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Inanición de los escritores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Preferencia a los escritores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lectores esperan demasiado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Equitativa (</a:t>
                      </a: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de llegada aproximado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cena de los filósofos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filósofos, cinco tenedores; para comer hacen falta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de los lados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 todos cogen el de la izquierda a la vez: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interbloqueo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80720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9169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de recursos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3832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Coger siempre primero el tenedor de número menor.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297680" y="26060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98848" y="280720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9169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7492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Limitar comensales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33832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semáforo con 4 permisos.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8046720" y="26060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47888" y="280720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9169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2396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o ninguno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75320" y="33832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tryLock()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y, si falla, soltar y reintentar tras una espera aleatoria.</a:t>
            </a:r>
            <a:endParaRPr lang="en-US" sz="17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10 · Los filósofos en Java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109960" cy="4023360"/>
          </a:xfrm>
          <a:prstGeom prst="roundRect">
            <a:avLst>
              <a:gd name="adj" fmla="val 1818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8191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10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75688"/>
            <a:ext cx="10561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tenedor, un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ReentrantLock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cada filósofo, un hilo que 5 veces piensa, coge los tenedores, come y los suelta.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ingenua: provoca el interbloqueo.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Detéctalo con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jcmd &lt;PID&gt; Thread.print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VisualVM.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Corrígelo y comprueba que todos comen 5 veces.</a:t>
            </a:r>
            <a:endParaRPr lang="en-US" sz="2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aplicaciones multihilo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 diseño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herramienta usar en cada caso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programar, diseña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2880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5544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tareas pueden avanzar a la vez? ¿CPU-bound o I/O-bound?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182880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5544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datos se comparten? ¿Quién los lee y quién los modifica?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38328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1089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puede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compartir? Datos propios o inmutables.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38328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1089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una herramienta de java.util.concurrent que lo resuelva?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93776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6634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hilo?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172200" y="45262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3368" y="493776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3368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46634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una tarea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Necesito… uso…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23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Necesito…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Uso…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Muchas tareas sin un hilo por tarea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ExecutorService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con pool fijo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Resultados de tareas en paralelo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Callable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Future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contador compartido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AtomicInteger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LongAdder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bandera para parar hilos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volatile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AtomicBoolean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interrupt()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mapa compartido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ConcurrentHashMap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con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merge()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 datos entre hilos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BlockingQueue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Necesito… uso… (2)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23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Necesito…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Uso…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Limitar el acceso a N recursos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Semaphore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Esperar a N tareas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join()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CountDownLatch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cerrar el ejecutor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 variables que cambian juntas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synchronized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ReentrantLock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Muchas lecturas, pocas escrituras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ReentrantReadWriteLock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CopyOnWriteArrayList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 de tareas que esperan E/S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Hilos virtuales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Tareas periódicas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ScheduledExecutorService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 y documentación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y herramientas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la concurrencia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 (1)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2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520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Síntoma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run()</a:t>
                      </a: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en vez de </a:t>
                      </a: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en main, secuencial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y join en el mismo bucle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gana velocidad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Lanzar todos, luego esperar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Lecturas sin proteger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Valores antiguos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Mismo cerrojo para todo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Cerrojos distintos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Carreras con synchronized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cerrojo común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unlock()</a:t>
                      </a: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fuera de finally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Hilos bloqueados tras un error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lock / try / finally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 (2)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20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520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Síntoma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wait()</a:t>
                      </a: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en un if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Fallos al despertar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wait()</a:t>
                      </a: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en un while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</a:t>
                      </a: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notify</a:t>
                      </a: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sin synchronized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IllegalMonitorStateException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Dentro de synchronized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 vacío de InterruptedException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detiene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Terminar, propagar o restaurar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Ejecutor sin cerrar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programa no termina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try-with-resources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ArrayList / HashMap compartidos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perdidos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Colecciones concurrentes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sleep()</a:t>
                      </a: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para sincronizar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Falla en otro equipo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join, colas, monitores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depuración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Nombra los hilos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1945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incluye el nombre en cada mensaje.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297680" y="14173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884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7282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749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Repite las pruebas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21945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ejecuciones descubren lo que una esconde.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046720" y="14173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47888" y="161848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7282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2396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Provoca el error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21945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6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sleep()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sección sospechosa.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242316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624328" y="39959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410565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20040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Depurador del IDE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265176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Hilos, estados y puntos de ruptura por hilo. Debug › Check for Deadlock.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17220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73368" y="3995928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10565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944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Volcado de hilos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40080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jcmd &lt;PID&gt; Thread.print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jstack, VisualVM: detectan interbloqueos.</a:t>
            </a:r>
            <a:endParaRPr lang="en-US" sz="1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un volcado de hilos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0" cy="4023360"/>
          </a:xfrm>
          <a:prstGeom prst="roundRect">
            <a:avLst>
              <a:gd name="adj" fmla="val 1364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630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jcmd &lt;PID&gt; Thread.print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83080"/>
            <a:ext cx="6858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one Java-level deadlock: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"Transferencia-A-B":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waiting to lock monitor ... (a psp.ut2.Interbloqueo$Cuenta),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which is held by "Transferencia-B-A"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"Transferencia-B-A":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waiting to lock monitor ... (a psp.ut2.Interbloqueo$Cuenta),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which is held by "Transferencia-A-B"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deadlock.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7160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to lock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cerrojo que espera.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by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quién lo tiene.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pila indica la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código.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hilos virtuales: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jcmd &lt;PID&gt; Thread.dump_to_file -format=json fichero.json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la concurrencia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109960" cy="2560320"/>
          </a:xfrm>
          <a:prstGeom prst="roundRect">
            <a:avLst>
              <a:gd name="adj" fmla="val 2143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10652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Buffer circular de capacidad fija para productores y consumidores.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Seguridad para hilos: thread-safe. Los métodos públicos están sincronizados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sobre this, que protege datos, entrada, salida y cantidad.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poner() bloquea mientras está lleno y sacar() mientras está vacío.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BufferMonitor { ... 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si cada clase es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lo es o es inmutable.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cerrojo protege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dato compartido.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la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hilos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cuáles se crean, cómo se comunican y cómo terminan.</a:t>
            </a:r>
            <a:endParaRPr lang="en-US" sz="1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tienes que llevar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UT2 Programación multihilo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Comparten heap y static; cada uno tiene su pila. </a:t>
            </a:r>
            <a:r>
              <a:rPr lang="en-US" sz="15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interrupt()</a:t>
            </a: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y prioridades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NEW, RUNNABLE, BLOCKED, WAITING, TIMED_WAITING, TERMINATED. Prioridad = sugerencia.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1945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Carrera, visibilidad, interbloqueo, inanición, livelock.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synchronized, monitores (while + notifyAll), ReentrantLock, Semaphore.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java.util.concurrent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Ejecutores, Callable/Future, atómicas, colecciones concurrentes, hilos virtuales.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5320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Depurar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Nombres, pruebas repetidas, depurador y volcados de hilos.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108</Slides>
  <Notes>108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UT2 · Programación multihilo</dc:title>
  <dc:subject>PptxGenJS Presentation</dc:subject>
  <dc:creator>Carlos Luque González</dc:creator>
  <cp:lastModifiedBy>Carlos Luque González</cp:lastModifiedBy>
  <cp:revision>1</cp:revision>
  <dcterms:created xsi:type="dcterms:W3CDTF">2026-10-18T21:38:08Z</dcterms:created>
  <dcterms:modified xsi:type="dcterms:W3CDTF">2026-10-18T21:38:08Z</dcterms:modified>
</cp:coreProperties>
</file>