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1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charts/chart2.xml" ContentType="application/vnd.openxmlformats-officedocument.drawingml.chart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6/11/relationships/changesInfo" Target="changesInfos/changesInfo1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LUQUE GONZÁLEZ" userId="0162aaa0-ca1e-4c39-97ae-e72016ccf12c" providerId="ADAL" clId="{40F50496-2754-4E6C-BE78-A36407827F7B}"/>
    <pc:docChg chg="undo custSel modSld">
      <pc:chgData name="CARLOS LUQUE GONZÁLEZ" userId="0162aaa0-ca1e-4c39-97ae-e72016ccf12c" providerId="ADAL" clId="{40F50496-2754-4E6C-BE78-A36407827F7B}" dt="2026-09-27T18:22:59.928" v="8" actId="20577"/>
      <pc:docMkLst>
        <pc:docMk/>
      </pc:docMkLst>
      <pc:sldChg chg="modSp mod">
        <pc:chgData name="CARLOS LUQUE GONZÁLEZ" userId="0162aaa0-ca1e-4c39-97ae-e72016ccf12c" providerId="ADAL" clId="{40F50496-2754-4E6C-BE78-A36407827F7B}" dt="2026-09-27T18:22:59.928" v="8" actId="20577"/>
        <pc:sldMkLst>
          <pc:docMk/>
          <pc:sldMk cId="0" sldId="281"/>
        </pc:sldMkLst>
        <pc:graphicFrameChg chg="modGraphic">
          <ac:chgData name="CARLOS LUQUE GONZÁLEZ" userId="0162aaa0-ca1e-4c39-97ae-e72016ccf12c" providerId="ADAL" clId="{40F50496-2754-4E6C-BE78-A36407827F7B}" dt="2026-09-27T18:22:59.928" v="8" actId="20577"/>
          <ac:graphicFrameMkLst>
            <pc:docMk/>
            <pc:sldMk cId="0" sldId="281"/>
            <ac:graphicFrameMk id="27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s-ES" sz="1600" b="0" i="0" u="none" strike="noStrike">
                <a:solidFill>
                  <a:srgbClr val="1F4E79"/>
                </a:solidFill>
                <a:latin typeface="Arial"/>
              </a:rPr>
              <a:t>Aceleración máxima según 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 = 0,50</c:v>
                </c:pt>
              </c:strCache>
            </c:strRef>
          </c:tx>
          <c:spPr>
            <a:ln w="38100" cap="flat">
              <a:solidFill>
                <a:srgbClr val="A5A5A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A5A5A5"/>
              </a:solidFill>
              <a:ln w="9525" cap="flat">
                <a:solidFill>
                  <a:srgbClr val="A5A5A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1.33</c:v>
                </c:pt>
                <c:pt idx="2">
                  <c:v>1.6</c:v>
                </c:pt>
                <c:pt idx="3">
                  <c:v>1.78</c:v>
                </c:pt>
                <c:pt idx="4">
                  <c:v>1.88</c:v>
                </c:pt>
                <c:pt idx="5">
                  <c:v>1.94</c:v>
                </c:pt>
                <c:pt idx="6">
                  <c:v>1.97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FB-45F1-A4B9-A1C7B962AB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 = 0,75</c:v>
                </c:pt>
              </c:strCache>
            </c:strRef>
          </c:tx>
          <c:spPr>
            <a:ln w="38100" cap="flat">
              <a:solidFill>
                <a:srgbClr val="548235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548235"/>
              </a:solidFill>
              <a:ln w="9525" cap="flat">
                <a:solidFill>
                  <a:srgbClr val="54823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1.6</c:v>
                </c:pt>
                <c:pt idx="2">
                  <c:v>2.29</c:v>
                </c:pt>
                <c:pt idx="3">
                  <c:v>2.91</c:v>
                </c:pt>
                <c:pt idx="4">
                  <c:v>3.37</c:v>
                </c:pt>
                <c:pt idx="5">
                  <c:v>3.66</c:v>
                </c:pt>
                <c:pt idx="6">
                  <c:v>3.82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FB-45F1-A4B9-A1C7B962AB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 = 0,90</c:v>
                </c:pt>
              </c:strCache>
            </c:strRef>
          </c:tx>
          <c:spPr>
            <a:ln w="381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1.82</c:v>
                </c:pt>
                <c:pt idx="2">
                  <c:v>3.08</c:v>
                </c:pt>
                <c:pt idx="3">
                  <c:v>4.71</c:v>
                </c:pt>
                <c:pt idx="4">
                  <c:v>6.4</c:v>
                </c:pt>
                <c:pt idx="5">
                  <c:v>7.8</c:v>
                </c:pt>
                <c:pt idx="6">
                  <c:v>8.77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FB-45F1-A4B9-A1C7B962AB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 = 0,95</c:v>
                </c:pt>
              </c:strCache>
            </c:strRef>
          </c:tx>
          <c:spPr>
            <a:ln w="38100" cap="flat">
              <a:solidFill>
                <a:srgbClr val="C55A1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</c:v>
                </c:pt>
                <c:pt idx="1">
                  <c:v>1.9</c:v>
                </c:pt>
                <c:pt idx="2">
                  <c:v>3.48</c:v>
                </c:pt>
                <c:pt idx="3">
                  <c:v>5.93</c:v>
                </c:pt>
                <c:pt idx="4">
                  <c:v>9.14</c:v>
                </c:pt>
                <c:pt idx="5">
                  <c:v>12.55</c:v>
                </c:pt>
                <c:pt idx="6">
                  <c:v>15.42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FB-45F1-A4B9-A1C7B962A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ES" sz="1400" b="0" i="0" u="none" strike="noStrike">
                    <a:solidFill>
                      <a:srgbClr val="000000"/>
                    </a:solidFill>
                    <a:latin typeface="Arial"/>
                  </a:rPr>
                  <a:t>Núcleos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s-ES" sz="1400" b="0" i="0" u="none" strike="noStrike">
                    <a:solidFill>
                      <a:srgbClr val="000000"/>
                    </a:solidFill>
                    <a:latin typeface="Arial"/>
                  </a:rPr>
                  <a:t>Aceleración 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F4E79"/>
                </a:solidFill>
                <a:latin typeface="Arial"/>
              </a:rPr>
              <a:t>Tiempo de ejecución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\ &quot;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262626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proceso</c:v>
                </c:pt>
                <c:pt idx="1">
                  <c:v>2 procesos</c:v>
                </c:pt>
                <c:pt idx="2">
                  <c:v>4 procesos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</c:v>
                </c:pt>
                <c:pt idx="1">
                  <c:v>5.5</c:v>
                </c:pt>
                <c:pt idx="2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AA-4EB5-BD99-05F487DAAF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6833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2E75B6">
              <a:alpha val="45000"/>
            </a:srgbClr>
          </a:solidFill>
          <a:ln w="12700">
            <a:solidFill>
              <a:srgbClr val="2E75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3291840" cy="3291840"/>
          </a:xfrm>
          <a:prstGeom prst="ellipse">
            <a:avLst/>
          </a:prstGeom>
          <a:solidFill>
            <a:srgbClr val="C55A11">
              <a:alpha val="70000"/>
            </a:srgbClr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DE TRABAJO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multiproceso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· 2º Desarrollo de Aplicaciones Multiplataforma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CIFP Santa Catalina · Aranda de Duero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vas a aprender en esta unidad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proceso, cómo lo gestiona el sistema operativo y en qué se diferencia de un hilo.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38218" y="13716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566818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2677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programación concurrente, paralela y distribuida, y cuándo usar cada una.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127797" y="13716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356397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170078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7917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Monitorización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2677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procesos con herramientas de Windows, Linux y el JDK.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2443429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2672029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0045" y="421538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403549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en Java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2717749" y="47823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procesos, comunicarte con ellos, esperarlos y recoger sus resultados.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623300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6461608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624" y="4215384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193128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6507328" y="47823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Repartir un trabajo entre varios procesos, depurarlo y documentarlo.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dividir una aplicación en varios procesos?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software real hace varias cosas a la vez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64328" cy="192024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Navegadores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4815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o Edge crean un proceso por sitio web. Si una pestaña falla, el resto sigue funcionando.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78728" y="1371600"/>
            <a:ext cx="5364328" cy="192024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Compilación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267712"/>
            <a:ext cx="4815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Gradle o Maven compilan varios módulos a la vez, uno en cada núcleo.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3520440"/>
            <a:ext cx="5364328" cy="192024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777240" y="372160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84962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370332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416552"/>
            <a:ext cx="4815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Atienden a cientos de usuarios simultáneamente sin hacerlos esperar.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278728" y="3520440"/>
            <a:ext cx="5364328" cy="192024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6507328" y="372160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344" y="384962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38848" y="370332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6553048" y="4416552"/>
            <a:ext cx="48156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Analiza, compila y sugiere correcciones mientras sigues escribiendo.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esta unidad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109441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 tus programas tenían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flujo de ejecución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del principio al final del </a:t>
            </a:r>
            <a:r>
              <a:rPr lang="en-US" sz="22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aprenderás la primera forma de hacer varias cosas a la vez: dividir una aplicación en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procesos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Veremos qué es un proceso y cómo lo gestiona el sistema operativo.</a:t>
            </a:r>
            <a:endParaRPr lang="en-US" sz="22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Después, cómo crear procesos desde Java,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comunicarte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ellos y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coordinarlos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terminar un trabajo antes.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Ejecutables, procesos y servicios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y ejecutable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Proceso: memoria, PCB, aislamiento y jerarquía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y ejecutable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658368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conjunto de instrucciones para resolver un problema.</a:t>
            </a:r>
            <a:endParaRPr lang="en-US" sz="22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ese programa en un formato que el sistema operativo sabe cargar y poner en marcha:</a:t>
            </a:r>
            <a:endParaRPr lang="en-US" sz="2200" dirty="0"/>
          </a:p>
          <a:p>
            <a:pPr marL="457200" lvl="1" indent="-228600" algn="l">
              <a:spcAft>
                <a:spcPts val="1200"/>
              </a:spcAft>
              <a:buSzPct val="100000"/>
              <a:buChar char="–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Windows (ficheros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  <a:p>
            <a:pPr marL="457200" lvl="1" indent="-228600" algn="l">
              <a:spcAft>
                <a:spcPts val="1200"/>
              </a:spcAft>
              <a:buSzPct val="100000"/>
              <a:buChar char="–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Linux</a:t>
            </a:r>
            <a:endParaRPr lang="en-US" sz="22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ejecutable es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pasivo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 un fichero en el disco que no hace nada hasta que alguien lo ejecuta.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589520" y="155448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81812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188366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549640" y="17373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Pasivo frente a activo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450592"/>
            <a:ext cx="34747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fichero guardado en disco.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ese fichero en ejecución, ocupando memoria y CPU.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de Java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Hola.java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fuente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71800" y="2011680"/>
            <a:ext cx="320040" cy="274320"/>
          </a:xfrm>
          <a:prstGeom prst="rightArrow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3383280" y="1554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Compilador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320040" cy="274320"/>
          </a:xfrm>
          <a:prstGeom prst="rightArrow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6217920" y="1554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Hola.class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Bytecode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41080" y="2011680"/>
            <a:ext cx="320040" cy="274320"/>
          </a:xfrm>
          <a:prstGeom prst="rightArrow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9052560" y="1554480"/>
            <a:ext cx="2331720" cy="1188720"/>
          </a:xfrm>
          <a:prstGeom prst="roundRect">
            <a:avLst>
              <a:gd name="adj" fmla="val 7692"/>
            </a:avLst>
          </a:prstGeom>
          <a:solidFill>
            <a:srgbClr val="1F4E79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9052560" y="1554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java.exe (JVM)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 y compila (JIT)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genera un ejecutable del sistema operativo, sino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bytecode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una máquina virtual.</a:t>
            </a:r>
            <a:endParaRPr lang="en-US" sz="20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realmente se ejecuta es la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java.exe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javaw.exe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4415" cy="1691640"/>
          </a:xfrm>
          <a:prstGeom prst="roundRect">
            <a:avLst>
              <a:gd name="adj" fmla="val 6486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 txBox="1"/>
          <p:nvPr/>
        </p:nvSpPr>
        <p:spPr>
          <a:xfrm>
            <a:off x="822960" y="4617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93208"/>
            <a:ext cx="1054577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Administrador de tareas tus programas Java aparecen como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java.exe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 «OpenJDK Platform binary», no con el nombre de tu clase. Para saber cuál es cuál hay que mirar su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comandos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576072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programa en ejecución: ocupa memoria, usa la CPU y tiene recursos asignados.</a:t>
            </a:r>
            <a:endParaRPr lang="en-US" sz="20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mismo ejecutable pueden salir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procesos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tres ventanas de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 tres procesos con tres identificadores distintos.</a:t>
            </a:r>
            <a:endParaRPr lang="en-US" sz="20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operativo le reserva 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de direcciones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propio.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675120" y="1371600"/>
            <a:ext cx="4937760" cy="1051560"/>
          </a:xfrm>
          <a:prstGeom prst="rect">
            <a:avLst/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6812280" y="137160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(text)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del programa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75120" y="2560320"/>
            <a:ext cx="4937760" cy="1051560"/>
          </a:xfrm>
          <a:prstGeom prst="rect">
            <a:avLst/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6812280" y="25603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globales y estáticas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120" y="3749040"/>
            <a:ext cx="4937760" cy="1051560"/>
          </a:xfrm>
          <a:prstGeom prst="rect">
            <a:avLst/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6812280" y="37490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Montículo (heap)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dinámica: objetos creados con new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4937760"/>
            <a:ext cx="4937760" cy="1051560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6812280" y="49377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 (stack)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en curso, parámetros y variables locales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de control de proceso (PCB)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operativo guarda en el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todo lo que necesita para gestionar cada proceso: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y PPID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del proceso y de su padre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90824" y="219456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3527984" y="219456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Listo, en ejecución, bloqueado…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33008" y="219456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6370168" y="219456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y registros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continuar donde se quedó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075191" y="219456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9212351" y="219456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otros datos de planificación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969732" y="420624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2106892" y="420624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de memoria asignadas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811916" y="420624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 txBox="1"/>
          <p:nvPr/>
        </p:nvSpPr>
        <p:spPr>
          <a:xfrm>
            <a:off x="4949076" y="420624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abiertos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Ficheros, conexiones, dispositivos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654100" y="4206240"/>
            <a:ext cx="2567864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7791260" y="4206240"/>
            <a:ext cx="2293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Propietario</a:t>
            </a:r>
            <a:endParaRPr lang="en-US" sz="19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y permisos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procesos están aislados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676656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proceso tiene su propia memoria: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puede leer ni modificar la de otro proceso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Ventaja: el sistema es más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seguro y robusto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 un proceso falla, los demás no se ven afectados.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Consecuencia: para intercambiar información, los procesos necesitan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de comunicación entre procesos (IPC)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ofrece el sistema operativo.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680960" y="16459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DEEAF6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680960" y="1645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875520" y="164592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BE5D6"/>
          </a:solidFill>
          <a:ln w="190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9875520" y="1645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B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B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80960" y="3749040"/>
            <a:ext cx="393192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7680960" y="3749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del sistema operativo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66760" y="3200400"/>
            <a:ext cx="365760" cy="457200"/>
          </a:xfrm>
          <a:prstGeom prst="down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0561320" y="3200400"/>
            <a:ext cx="365760" cy="457200"/>
          </a:xfrm>
          <a:prstGeom prst="downArrow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 txBox="1"/>
          <p:nvPr/>
        </p:nvSpPr>
        <p:spPr>
          <a:xfrm>
            <a:off x="7498080" y="4709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tuberías · ficheros · sockets · señales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de procesos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658368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proceso lo crea otro proceso: el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proceso creado es su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forma 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de procesos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 raíz es el proceso con PID 1 (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systemd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mayoría de distribuciones).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registra el PPID de cada proceso, pero si el padre termina, sus hijos siguen funcionando sin más.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esta unidad,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proceso hijo creado por nuestra aplicación.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778240" y="155448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8778240" y="15544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4120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347472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BE5D6"/>
          </a:solidFill>
          <a:ln w="190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7315200" y="34747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4188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flipH="1">
            <a:off x="7955280" y="2560320"/>
            <a:ext cx="1463040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778240" y="347472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BE5D6"/>
          </a:solidFill>
          <a:ln w="190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8778240" y="34747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4192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418320" y="2560320"/>
            <a:ext cx="914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0241280" y="347472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BE5D6"/>
          </a:solidFill>
          <a:ln w="190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10241280" y="347472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4196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18320" y="2560320"/>
            <a:ext cx="1463040" cy="9144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proceso que se ejecuta en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plano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interfaz, normalmente arrancado por el sistema, y que ofrece una funcionalidad a otros programas: servidor web, base de datos, cola de impresión…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64328" cy="3474720"/>
          </a:xfrm>
          <a:prstGeom prst="roundRect">
            <a:avLst>
              <a:gd name="adj" fmla="val 315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7240" y="299008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11810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97180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servicios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85032"/>
            <a:ext cx="481568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Gestionados por el Administrador de control de servicios.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services.msc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query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PowerShell: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Get-Service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78728" y="2788920"/>
            <a:ext cx="536432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507328" y="2990088"/>
            <a:ext cx="566928" cy="56692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311810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38848" y="297180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 demonios (daemons)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553048" y="3685032"/>
            <a:ext cx="481568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nombre suele acabar en «d»: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gestionan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status sshd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Ejecutable, proceso y servicio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343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Fichero listo para cargarse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 en ejecución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en segundo plano que ofrece una funcionalidad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está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disco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memoria y usando la CPU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memoria, normalmente de forma continua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Ninguna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Interfaz gráfica o consola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interfaz; responde a peticiones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notepad.exe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Bloc de notas abierto (PID 8412)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web Apache, Windows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proceso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cinco estados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Transiciones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en Linux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cinco estados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pic>
        <p:nvPicPr>
          <p:cNvPr id="7" name="Image 0" descr="img/es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25880"/>
            <a:ext cx="9601200" cy="45395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 cada estado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4988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está creando: el sistema le reserva memoria y crea su PCB.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Tiene todo lo necesario y solo espera a que le asignen un núcleo.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ejecución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 instrucciones se ejecutan en un núcleo. En cada núcleo solo hay uno a la vez.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algo externo: disco, teclado, red o que termine un hijo. Aunque la CPU esté libre, no puede avanzar.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 finalizado (normal, por error o porque lo han matado). Se liberan sus recursos.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Transiciones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→ En ejecución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371600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planificador lo elige y le asigna un núcleo.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548640" y="2587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ejecución → Listo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87752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 acaba el quantum o llega otro más prioritario (expropiación).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48640" y="380390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ejecución → Bloqueado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803904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algo que aún no está disponible: leer un fichero, esperar a un hijo 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5020056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548640" y="5020056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 → Listo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020056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Ocurre el evento esperado. No vuelve directamente a ejecución: espera su turno.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en Linux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columna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comando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muestra el estado con una letra: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5120640" cy="340156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ejecución o listo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Bloqueado (espera interrumpible)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Bloqueado esperando E/S de disco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Detenido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Zombi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2103120"/>
            <a:ext cx="5422392" cy="178308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6492240" y="228600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zombi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761488"/>
            <a:ext cx="4873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ha terminado, pero su padre aún no ha recogido su código de salida.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17920" y="4114800"/>
            <a:ext cx="5422392" cy="178308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6492240" y="429768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huérfano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4773168"/>
            <a:ext cx="48737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padre ha terminado antes que él. En Linux lo adopta el proceso con PID 1.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1 · Siguiendo la pista a un proceso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94415" cy="3840480"/>
          </a:xfrm>
          <a:prstGeom prst="roundRect">
            <a:avLst>
              <a:gd name="adj" fmla="val 2857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12848"/>
            <a:ext cx="10545775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Java arranca, pide al usuario su nombre por teclado, lo busca en un fichero de 2 GB y, mientras tanto, el sistema operativo le retira la CPU dos veces para dar paso a otros procesos. Al final muestra el resultado y termina.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 secuencia completa de estados por los que pasa el proceso e indica, en cada cambio, qué evento lo provoca.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de procesos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 y cambio de contexto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apropiativa y no apropiativa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Algoritmos: FCFS, SJF, Round Robin y prioridades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planificador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Cientos de procesos y pocos núcleos: el sistema reparte la CPU cambiando de proceso muchas veces por segundo (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multiprogramación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(scheduler) decide qué proceso listo pasa a ejecutarse.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es un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contexto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guardan los registros del proceso saliente en su PCB y se cargan los del entrante.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94415" cy="1645920"/>
          </a:xfrm>
          <a:prstGeom prst="roundRect">
            <a:avLst>
              <a:gd name="adj" fmla="val 6667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30368"/>
            <a:ext cx="1054577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 de contexto tiene un coste: mientras se hace, no se ejecuta código útil. Por eso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conviene crear muchos más procesos de los que el equipo puede ejecutar a la vez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Apropiativa y no apropiativa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apropiativa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48156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conserva la CPU hasta que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se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 sí mismo.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78728" y="155448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Apropiativa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450592"/>
            <a:ext cx="48156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puede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la CPU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un proceso en cualquier momento: fin de quantum o llegada de uno más prioritario.</a:t>
            </a:r>
            <a:endParaRPr lang="en-US" sz="20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usan Windows, Linux, macOS y Android.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de planificación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67864" cy="4846320"/>
          </a:xfrm>
          <a:prstGeom prst="roundRect">
            <a:avLst>
              <a:gd name="adj" fmla="val 356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2567864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548640" y="1371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endParaRPr lang="en-US" sz="21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Come, First Served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14600"/>
            <a:ext cx="229354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orden de llegada, hasta que terminan.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e inconvenientes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proceso largo hace esperar a todos (efecto convoy).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90824" y="1371600"/>
            <a:ext cx="2567864" cy="4846320"/>
          </a:xfrm>
          <a:prstGeom prst="roundRect">
            <a:avLst>
              <a:gd name="adj" fmla="val 356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390824" y="1371600"/>
            <a:ext cx="2567864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 txBox="1"/>
          <p:nvPr/>
        </p:nvSpPr>
        <p:spPr>
          <a:xfrm>
            <a:off x="3390824" y="1371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SJF</a:t>
            </a:r>
            <a:endParaRPr lang="en-US" sz="21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Job First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527984" y="2514600"/>
            <a:ext cx="229354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la ráfaga de CPU más corta.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e inconvenientes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Mínima espera media, pero hay que conocer las ráfagas. Riesgo de inanición.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33008" y="1371600"/>
            <a:ext cx="2567864" cy="4846320"/>
          </a:xfrm>
          <a:prstGeom prst="roundRect">
            <a:avLst>
              <a:gd name="adj" fmla="val 356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233008" y="1371600"/>
            <a:ext cx="2567864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6233008" y="1371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Robin</a:t>
            </a:r>
            <a:endParaRPr lang="en-US" sz="21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rotatorio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2514600"/>
            <a:ext cx="229354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proceso usa como máximo un quantum y vuelve al final de la cola.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e inconvenientes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Justo y con buen tiempo de respuesta. Quantum pequeño = muchos cambios de contexto.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75191" y="1371600"/>
            <a:ext cx="2567864" cy="4846320"/>
          </a:xfrm>
          <a:prstGeom prst="roundRect">
            <a:avLst>
              <a:gd name="adj" fmla="val 356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9075191" y="1371600"/>
            <a:ext cx="2567864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9075191" y="1371600"/>
            <a:ext cx="256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9212351" y="2514600"/>
            <a:ext cx="229354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el más prioritario.</a:t>
            </a:r>
            <a:endParaRPr lang="en-US" sz="1600" dirty="0"/>
          </a:p>
          <a:p>
            <a:pPr marL="0" indent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e inconvenientes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inanición; se evita con envejecimiento.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los sistemas operativos reales?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64328" cy="3474720"/>
          </a:xfrm>
          <a:prstGeom prst="roundRect">
            <a:avLst>
              <a:gd name="adj" fmla="val 3158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481568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niveles de prioridad.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rotatorio dentro de cada nivel.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temporalmente la prioridad de los procesos interactivos.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78728" y="1554480"/>
            <a:ext cx="5364328" cy="347472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450592"/>
            <a:ext cx="481568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núcleo 6.6 usa el planificador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EEVDF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Reparte la CPU de forma proporcional al peso (prioridad) de cada proceso.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sistemas reales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combinan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ideas de los algoritmos clásicos.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resuelto: Round Robin con quantum 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270060"/>
              </p:ext>
            </p:extLst>
          </p:nvPr>
        </p:nvGraphicFramePr>
        <p:xfrm>
          <a:off x="548640" y="1371600"/>
          <a:ext cx="384048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Llegada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Ráfaga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846320" y="13716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 proceso llega cuando otro agota su quantum, el que llega se coloca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delante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cola.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566160"/>
            <a:ext cx="2286000" cy="731520"/>
          </a:xfrm>
          <a:prstGeom prst="rect">
            <a:avLst/>
          </a:prstGeom>
          <a:solidFill>
            <a:srgbClr val="2E75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108960" y="3566160"/>
            <a:ext cx="2286000" cy="731520"/>
          </a:xfrm>
          <a:prstGeom prst="rect">
            <a:avLst/>
          </a:prstGeom>
          <a:solidFill>
            <a:srgbClr val="C55A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310896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394960" y="3566160"/>
            <a:ext cx="1143000" cy="731520"/>
          </a:xfrm>
          <a:prstGeom prst="rect">
            <a:avLst/>
          </a:prstGeom>
          <a:solidFill>
            <a:srgbClr val="54823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5394960" y="3566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537960" y="3566160"/>
            <a:ext cx="2286000" cy="731520"/>
          </a:xfrm>
          <a:prstGeom prst="rect">
            <a:avLst/>
          </a:prstGeom>
          <a:solidFill>
            <a:srgbClr val="2E75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653796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823960" y="3566160"/>
            <a:ext cx="1143000" cy="731520"/>
          </a:xfrm>
          <a:prstGeom prst="rect">
            <a:avLst/>
          </a:prstGeom>
          <a:solidFill>
            <a:srgbClr val="C55A1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8823960" y="3566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966960" y="3566160"/>
            <a:ext cx="1143000" cy="731520"/>
          </a:xfrm>
          <a:prstGeom prst="rect">
            <a:avLst/>
          </a:prstGeom>
          <a:solidFill>
            <a:srgbClr val="2E75B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 txBox="1"/>
          <p:nvPr/>
        </p:nvSpPr>
        <p:spPr>
          <a:xfrm>
            <a:off x="9966960" y="35661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880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738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24"/>
          <p:cNvSpPr txBox="1"/>
          <p:nvPr/>
        </p:nvSpPr>
        <p:spPr>
          <a:xfrm>
            <a:off x="1088136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resuelto: tiempos de retorno y de espera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Retorno (fin − llegada)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(retorno − ráfaga)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3776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22960" y="51206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596128"/>
            <a:ext cx="105457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tiempo total desde que llega hasta que termina.</a:t>
            </a:r>
            <a:endParaRPr lang="en-US" sz="1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tiempo que pasa en la cola de listos sin usar la CPU.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 · Comparando algoritmos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94415" cy="4206240"/>
          </a:xfrm>
          <a:prstGeom prst="roundRect">
            <a:avLst>
              <a:gd name="adj" fmla="val 2609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12848"/>
            <a:ext cx="10545775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mismos tres procesos del ejemplo, calcula el diagrama de ejecución y los tiempos medios de retorno y de espera usando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SJF no apropiativo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también, para los tres algoritmos, el </a:t>
            </a:r>
            <a:r>
              <a:rPr lang="en-US" sz="22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respuesta</a:t>
            </a: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cada proceso (desde que llega hasta que empieza a ejecutarse por primera vez).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algoritmo elegirías para un sistema interactivo? ¿Por qué?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hilo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comparten los hilos de un proceso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frente a hilos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hilo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(thread) es la unidad mínima de ejecución que planifica el sistema operativo.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es 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 de recursos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dentro se ejecutan uno o varios hilos.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proceso tiene al menos el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 principal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(en Java, el que ejecuta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2000" dirty="0"/>
          </a:p>
        </p:txBody>
      </p:sp>
      <p:pic>
        <p:nvPicPr>
          <p:cNvPr id="8" name="Image 0" descr="img/hi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383280"/>
            <a:ext cx="6700723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comparten y qué 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64328" cy="3566160"/>
          </a:xfrm>
          <a:prstGeom prst="roundRect">
            <a:avLst>
              <a:gd name="adj" fmla="val 307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Compartido por todos los hilos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481568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Montículo (heap)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Ficheros abiertos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78728" y="1554480"/>
            <a:ext cx="5364328" cy="3566160"/>
          </a:xfrm>
          <a:prstGeom prst="roundRect">
            <a:avLst>
              <a:gd name="adj" fmla="val 3077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Propio de cada hilo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450592"/>
            <a:ext cx="481568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de programa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949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hilo tiene su propia pila porque cada uno va por un punto distinto del código.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frente a hilos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4988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1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uno la suya, aislada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Comparten la del 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Costosa: espacio de direcciones completo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Ligera: solo pila y registros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IPC: tuberías, ficheros, sockets…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Directa: variables y objetos compartidos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Robustez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uno falla, los demás siguen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error grave puede tumbar todo el 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Sincronización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necesaria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Imprescindible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JVM ya tiene muchos hilos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tu programa no cree ningún hilo, la JVM crea varios por su cuenta: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recolector de basura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compilador JIT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gestor de referencias…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comprobarás en la actividad de monitorización. Los hilos se estudian a fondo en la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2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Cuidado con la traducción de Windows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07408"/>
            <a:ext cx="1054577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Windows en español, la columna del Administrador de tareas que cuenta los hilos se llama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«Subprocesos»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Ahí «subproceso» significa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proceso hijo.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concurrente, paralela y distribuida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 y paralelismo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distribuida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Ámbitos, ventajas e inconvenientes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Amdahl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 y paralelismo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pic>
        <p:nvPicPr>
          <p:cNvPr id="7" name="Image 0" descr="img/concurr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217920" cy="2597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40880" y="1371600"/>
            <a:ext cx="4599432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7315200" y="1554480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029968"/>
            <a:ext cx="40507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tareas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progresan en el mismo intervalo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tiempo. En un núcleo se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entrelazan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(pseudoparalelismo).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040880" y="3886200"/>
            <a:ext cx="4599432" cy="2286000"/>
          </a:xfrm>
          <a:prstGeom prst="roundRect">
            <a:avLst>
              <a:gd name="adj" fmla="val 48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 txBox="1"/>
          <p:nvPr/>
        </p:nvSpPr>
        <p:spPr>
          <a:xfrm>
            <a:off x="7315200" y="4069080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4544568"/>
            <a:ext cx="405079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tareas se ejecutan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vez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varios núcleos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mismo equipo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Necesita hardware.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29768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programa paralelo es concurrente, pero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 revés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clave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92024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</a:t>
            </a: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gestionar muchas tareas a la vez.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</a:t>
            </a:r>
            <a:r>
              <a:rPr lang="en-US" sz="3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ejecutar muchas tareas a la vez.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concurrencia es una forma de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programa en tareas independientes. Un programa bien estructurado así aprovechará el paralelismo automáticamente en un equipo con varios núcleos.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distribuida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componentes se ejecutan en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distintos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conectados por red.</a:t>
            </a:r>
            <a:endParaRPr lang="en-US" sz="21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comparten memoria: se comunican por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de mensajes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29652" y="3520440"/>
            <a:ext cx="1005840" cy="10058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252" y="374904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75488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3390824" y="310896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171836" y="3520440"/>
            <a:ext cx="1005840" cy="10058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436" y="37490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390824" y="475488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233008" y="310896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7014020" y="3520440"/>
            <a:ext cx="1005840" cy="10058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620" y="374904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33008" y="475488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en línea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9075191" y="3108960"/>
            <a:ext cx="2567864" cy="2560320"/>
          </a:xfrm>
          <a:prstGeom prst="roundRect">
            <a:avLst>
              <a:gd name="adj" fmla="val 357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9856203" y="3520440"/>
            <a:ext cx="1005840" cy="10058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803" y="37490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75191" y="4754880"/>
            <a:ext cx="256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Cadenas de bloques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Paralela frente a distribuida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480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Programación paralela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Programación distribuida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equipo con varios núcleos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Varios equipos en 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Normalmente compartida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equipo la suya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Rápida: memoria o IPC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Mensajes por la red: lenta y puede fallar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Escalabilidad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Limitada por los núcleos del equipo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alta: se añaden equipos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 a fallos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falla el equipo, falla todo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Puede seguir aunque caiga algún equipo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Sincronización y datos compartidos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Además: latencia, fallos de red, coherencia y seguridad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Ámbitos de aplicación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fluidas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no permite operaciones largas en el hilo de la interfaz.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38218" y="13716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566818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2677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clientes a la vez (unidades 3 y 4).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27797" y="13716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356397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170078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7917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intensivo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2677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3D, vídeo, simulaciones, IA.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777240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21538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Videojuegos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7823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Física, audio, IA y render en paralelo.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4566818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834" y="4215384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298338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volúmenes de datos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612538" y="47823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logs (tu práctica).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6"/>
          <p:cNvSpPr/>
          <p:nvPr/>
        </p:nvSpPr>
        <p:spPr>
          <a:xfrm>
            <a:off x="8356397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4413" y="4215384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87917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8402117" y="4782312"/>
            <a:ext cx="296661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pestaña o extensión en su propio proceso.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e inconvenientes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64328" cy="4846320"/>
          </a:xfrm>
          <a:prstGeom prst="roundRect">
            <a:avLst>
              <a:gd name="adj" fmla="val 2264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4815688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Aprovecha los procesadores multinúcleo.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tiempo de las tareas divisibles.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tiempo de respuesta.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modular.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procesos, los fallos quedan aislados.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78728" y="1371600"/>
            <a:ext cx="5364328" cy="4846320"/>
          </a:xfrm>
          <a:prstGeom prst="roundRect">
            <a:avLst>
              <a:gd name="adj" fmla="val 2264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57276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Inconvenientes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267712"/>
            <a:ext cx="4815688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y programación más complejos.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no determinista.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difíciles de reproducir: condiciones de carrera, interbloqueos, inanición.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comunicar procesos tiene un coste.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difícil de depurar y probar.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más rápido? La ley de Amdahl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ningún programa es 100 % paralelizable: leer la configuración, repartir el trabajo o combinar resultados es secuencial.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S(N) = 1 / ( (1 − p) + p / N )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fracción paralelizable ·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núcleos</a:t>
            </a:r>
            <a:endParaRPr lang="en-US" sz="18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 = 0,9 y N = 4: S = 1 / (0,1 + 0,225) ≈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3,08</a:t>
            </a:r>
            <a:endParaRPr lang="en-US" sz="18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infinitos núcleos: S = 1 / 0,1 =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como máximo</a:t>
            </a:r>
            <a:endParaRPr lang="en-US" sz="18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583680" y="1280160"/>
          <a:ext cx="5056632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la mejora: aceleración y eficiencia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64328" cy="2560320"/>
          </a:xfrm>
          <a:prstGeom prst="roundRect">
            <a:avLst>
              <a:gd name="adj" fmla="val 428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Aceleración (speedup)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48156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T₁ / Tₙ</a:t>
            </a:r>
            <a:endParaRPr lang="en-US" sz="20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Cuántas veces más rápido es con N procesos.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78728" y="1554480"/>
            <a:ext cx="5364328" cy="2560320"/>
          </a:xfrm>
          <a:prstGeom prst="roundRect">
            <a:avLst>
              <a:gd name="adj" fmla="val 4286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450592"/>
            <a:ext cx="481568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S / N</a:t>
            </a:r>
            <a:endParaRPr lang="en-US" sz="20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parte de cada núcleo se aprovecha. E = 0,77 → cada núcleo al 77 %.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 txBox="1"/>
          <p:nvPr/>
        </p:nvSpPr>
        <p:spPr>
          <a:xfrm>
            <a:off x="822960" y="4617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" y="5093208"/>
            <a:ext cx="105457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secuencial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marca el límite. Añadir núcleos compensa cada vez menos.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3 · ¿Concurrente, paralelo o distribuido?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892040"/>
          </a:xfrm>
          <a:prstGeom prst="roundRect">
            <a:avLst>
              <a:gd name="adj" fmla="val 2243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29968"/>
            <a:ext cx="10545775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 cada escenario y justifica tu respuesta. Puede haber más de una opción correcta.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06040"/>
            <a:ext cx="10545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editor corrige la ortografía mientras escribes, en un portátil con un solo núcleo.</a:t>
            </a:r>
            <a:endParaRPr lang="en-US" sz="19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convierte 500 fotos usando los 8 núcleos del equipo.</a:t>
            </a:r>
            <a:endParaRPr lang="en-US" sz="19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de mensajería envía un mensaje de tu móvil al de un amigo a través de un servidor.</a:t>
            </a:r>
            <a:endParaRPr lang="en-US" sz="19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codifica cada película repartiendo el trabajo entre miles de servidores.</a:t>
            </a:r>
            <a:endParaRPr lang="en-US" sz="19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IDE compila el proyecto mientras sigues escribiendo.</a:t>
            </a:r>
            <a:endParaRPr lang="en-US" sz="19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videojuego en red en el que el servidor sincroniza las partidas de los jugadores.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4 · Aplicando la ley de Amdahl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892040"/>
          </a:xfrm>
          <a:prstGeom prst="roundRect">
            <a:avLst>
              <a:gd name="adj" fmla="val 2243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29968"/>
            <a:ext cx="10545775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tarda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segundos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un solo proceso. 12 segundos corresponden a una parte que no se puede paralelizar.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34640"/>
            <a:ext cx="105457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la fracción paralelizable p.</a:t>
            </a:r>
            <a:endParaRPr lang="en-US" sz="21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el tiempo esperado y la aceleración con 2, 4 y 8 procesos.</a:t>
            </a:r>
            <a:endParaRPr lang="en-US" sz="21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 la eficiencia en cada caso. ¿Compensa pasar de 4 a 8 núcleos?</a:t>
            </a:r>
            <a:endParaRPr lang="en-US" sz="2100" dirty="0"/>
          </a:p>
          <a:p>
            <a:pPr marL="342900" indent="-342900" algn="l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aceleración máxima teórica?</a:t>
            </a:r>
            <a:endParaRPr lang="en-US" sz="2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monitorización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Administrador de tareas, Process Explorer y consola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del JDK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herramientas gráficas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64328" cy="4846320"/>
          </a:xfrm>
          <a:prstGeom prst="roundRect">
            <a:avLst>
              <a:gd name="adj" fmla="val 226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 tareas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4815688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abre con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Mayús + Esc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Pestaña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nombre, PID, estado, usuario, CPU y memoria.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columnas: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comandos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Subprocesos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(hilos).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finalizar un proceso o su árbol.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78728" y="1371600"/>
            <a:ext cx="5364328" cy="4846320"/>
          </a:xfrm>
          <a:prstGeom prst="roundRect">
            <a:avLst>
              <a:gd name="adj" fmla="val 2264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57276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Explorer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267712"/>
            <a:ext cx="4815688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Gratuita, del paquete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Sysinternals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Microsoft.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procesos como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padre-hijo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Hilos, ficheros abiertos y línea de comandos completa.</a:t>
            </a:r>
            <a:endParaRPr lang="en-US" sz="18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recomendable en esta unidad.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comandos (cmd)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66344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procesos con su PID y memoria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tasklist /fi "imagename eq java.exe"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los procesos de la JVM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taskkill /PID 8412 /F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 de forma forzada el PID 8412 (con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/T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también sus hijos)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taskkill /IM notepad.exe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 todos los procesos con ese nombre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 query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servicios y su 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PowerShell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6771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Get-Process java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Procesos Java con su CPU y memoria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Stop-Process -Id 8412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Finaliza un proceso por su 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servicios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023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PID, PID del padre y línea de comandos de cada proceso Java: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4572000"/>
            <a:ext cx="11094415" cy="892556"/>
          </a:xfrm>
          <a:prstGeom prst="roundRect">
            <a:avLst>
              <a:gd name="adj" fmla="val 819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777240" y="4709160"/>
            <a:ext cx="1063721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Get-CimInstance Win32_Process -Filter "Name='java.exe'" |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Select-Object ProcessId, ParentProcessId, CommandLine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(máquina virtual)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68172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-ef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aux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 los procesos con PID, PPID, usuario, estado y comando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 -eLf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También los hilos (columna LWP)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pstree -p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Árbol de procesos con sus 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Monitorización en tiempo real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pgrep -a java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Busca procesos por nombre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-15 PID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kill -9 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Terminación ordenada (SIGTERM) o forzada (SIGKILL)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nice -n 10 cmd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renice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Prioridad: de −20 (máxima) a 19 (mínima)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del JDK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C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371600"/>
            <a:ext cx="68881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las JVM en ejecución con su PID y clase principal. La forma más rápida de saber qué java.exe es cada programa.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C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jcmd PID Thread.print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017520"/>
            <a:ext cx="68881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todos los hilos de una JVM y qué está haciendo cada uno.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C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JConsole / VisualVM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663440"/>
            <a:ext cx="68881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Monitorización gráfica de CPU, memoria e hilos. VisualVM se descarga aparte.</a:t>
            </a:r>
            <a:endParaRPr lang="en-US" sz="1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5 · Monitorización guiada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892040"/>
          </a:xfrm>
          <a:prstGeom prst="roundRect">
            <a:avLst>
              <a:gd name="adj" fmla="val 2243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3120"/>
            <a:ext cx="10545775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tres ventanas de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Localiza sus PID en Detalles y compáralos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tasklist /fi "imagename eq cmd.exe"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las columnas «Línea de comandos» y «Subprocesos». ¿Cuántos hilos tiene cada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cmd.exe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¿Y el Bloc de notas?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desde el IDE un programa que espere a que pulses Intro. Localízalo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jps -l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Get-CimInstance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¿Quién es su padre?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sus hilos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jcmd PID Thread.print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¿Por qué tiene tantos?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 un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cmd.exe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taskkill /PID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otro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Stop-Process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Opcional: repite los pasos 3 y 4 en Linux con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-ef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pstree -p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-eLf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procesos en Java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ProcessBuilder, Process, ProcessHandle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procesos y lanzar otros programas Java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Finalizar y consultar procesos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principales (java.lang)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un proceso (comando, argumentos, directorio, entorno, redirecciones) y lo lanza con start().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78728" y="137160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6553048" y="15544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14884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un hijo ya lanzado: flujos, espera, código de salida y destrucción.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822960" y="38404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43484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y consulta cualquier proceso del sistema: PID, padre, hijos, comando…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78728" y="3657600"/>
            <a:ext cx="5364328" cy="201168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6553048" y="3840480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Runtime.exec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434840"/>
            <a:ext cx="48156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antigua. exec(String) está desaconsejado desde Java 18. Usa ProcessBuilder.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proceso con ProcessBuilder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504184"/>
          </a:xfrm>
          <a:prstGeom prst="roundRect">
            <a:avLst>
              <a:gd name="adj" fmla="val 208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EjemploLanzar.java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295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java.io.IOException;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EjemploLanzar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throws IOException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ProcessBuilder pb = new ProcessBuilder("notepad.exe", "notas.txt");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Process p = pb.start();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aquí se crea el hijo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System.out.println("Lanzado con PID " + p.pid());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System.out.println("¿Está vivo? " + p.isAlive());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System.out.println("El padre continúa sin esperar al hijo");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debes saber de start()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comando y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argumento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van como </a:t>
            </a: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independientes. Sin comillas para los espacios.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no existe hasta que se llama a </a:t>
            </a: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espera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padre e hijo se ejecutan desde ese momento de forma concurrente.</a:t>
            </a:r>
            <a:endParaRPr lang="en-US" sz="21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comando no existe: </a:t>
            </a: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IOException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«CreateProcess error=2».</a:t>
            </a:r>
            <a:endParaRPr lang="en-US" sz="2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internos de la consola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son programas: son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internos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cmd.exe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Hay que lanzar el intérprete con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4415" cy="629158"/>
          </a:xfrm>
          <a:prstGeom prst="roundRect">
            <a:avLst>
              <a:gd name="adj" fmla="val 1162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10637215" cy="40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 pb = new ProcessBuilder("cmd", "/c", "dir", "C:\\Windows");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LINUX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07408"/>
            <a:ext cx="10545775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lanza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además permite tuberías y redirecciones:</a:t>
            </a:r>
            <a:endParaRPr lang="en-US" sz="19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ProcessBuilder("bash", "-c", "ls -l | wc -l")</a:t>
            </a:r>
            <a:endParaRPr lang="en-US" sz="1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configuración de ProcessBuilder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command(...)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 o consulta el comando y sus argumentos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directory(File)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Directorio de trabajo del hijo (por defecto, el del padre)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environment()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con las variables de entorno que heredará 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redirectInput/Output/Error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Redirigen los flujos estándar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inheritIO()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hijo usa la misma consola que el padre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el proceso. Un ProcessBuilder se puede reutilizar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otro programa Java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Necesitas: la ruta de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classpath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el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completo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clase (con paquete). Lo más fiable es obtenerlos de la JVM del padre: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4415" cy="1853184"/>
          </a:xfrm>
          <a:prstGeom prst="roundRect">
            <a:avLst>
              <a:gd name="adj" fmla="val 394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10637215" cy="1624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java = Path.of(System.getProperty("java.home"), "bin", "java").toString();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classpath = System.getProperty("java.class.path");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 pb = new ProcessBuilder(java, "-cp", classpath,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"psp.ut1.ContadorPrimos", "1", "1000000");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hijo = pb.start();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funciona igual desde el IDE que desde la consola. Con un JAR: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aplicacion.jar args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Finalización de un proceso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64328" cy="2651760"/>
          </a:xfrm>
          <a:prstGeom prst="roundRect">
            <a:avLst>
              <a:gd name="adj" fmla="val 4138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sí mismo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48156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su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a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System.exit(codigo)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78728" y="1371600"/>
            <a:ext cx="5364328" cy="2651760"/>
          </a:xfrm>
          <a:prstGeom prst="roundRect">
            <a:avLst>
              <a:gd name="adj" fmla="val 4138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57276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5544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destruye el padre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267712"/>
            <a:ext cx="481568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terminación ordenada.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destroyForcibly()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inmediata.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Windows, ambos son inmediatos.</a:t>
            </a:r>
            <a:endParaRPr lang="en-US" sz="1900" dirty="0"/>
          </a:p>
        </p:txBody>
      </p:sp>
      <p:sp>
        <p:nvSpPr>
          <p:cNvPr id="17" name="Shape 13"/>
          <p:cNvSpPr/>
          <p:nvPr/>
        </p:nvSpPr>
        <p:spPr>
          <a:xfrm>
            <a:off x="548640" y="4251960"/>
            <a:ext cx="11094415" cy="1920240"/>
          </a:xfrm>
          <a:prstGeom prst="roundRect">
            <a:avLst>
              <a:gd name="adj" fmla="val 5714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 txBox="1"/>
          <p:nvPr/>
        </p:nvSpPr>
        <p:spPr>
          <a:xfrm>
            <a:off x="822960" y="443484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Los hijos no mueren con el padre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" y="4910328"/>
            <a:ext cx="1054577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padre termina, sus hijos siguen vivos. Para destruirlos: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ProcessHandle.current().descendants().forEach(ProcessHandle::destroy);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procesos con ProcessHandle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566160"/>
          </a:xfrm>
          <a:prstGeom prst="roundRect">
            <a:avLst>
              <a:gd name="adj" fmla="val 2051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InfoProcesos.java (fragmento)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 actual = ProcessHandle.current();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System.out.println("PID actual: " + actual.pid());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actual.parent().ifPresent(p -&gt; System.out.println("PID del padre: " + p.pid()));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ProcessHandle.Info info = actual.info();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System.out.println("Comando: " + info.command().orElse("desconocido"));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System.out.println("Usuario: " + info.user().orElse("desconocido"));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System.out.println("Núcleos: " + Runtime.getRuntime().availableProcessors());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javas = ProcessHandle.allProcesses()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.filter(ph -&gt; ph.info().command().orElse("").contains("java"))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.count();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ProcessHandle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ProcessHandle.current()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el actual ·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p.toHandle()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un hijo ·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ProcessHandle.of(pid)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cualquiera</a:t>
            </a:r>
            <a:endParaRPr lang="en-US" sz="18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pid()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identificador del proceso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parent()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 con el proceso padre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children()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descendants()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 con los hijos o con todos los descendientes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arguments()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startInstant()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 cada uno como Optional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isAlive()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destroy()</a:t>
                      </a: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r>
                        <a:rPr lang="en-US" sz="18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onExit()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Igual que en 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entre procesos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de parámetros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estándar y codificación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Redirecciones y tuberías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Ficheros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de comunicación padre-hijo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Argumentos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Padre → hijo, al arrancar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Datos de configuración breves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 estándar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Padre → hijo, en cualquier momento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Enviar datos durante la ejecución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estándar y de 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Hijo → padre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Devolver resultados y errores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Ficheros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ambos sentidos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volúmenes o resultados que se conservan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de salida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Hijo → padre, al terminar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Indicar si ha ido bien o qué error hubo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577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mecanismos: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sockets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(unidad 3), memoria compartida, señales.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de parámetros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154680"/>
          </a:xfrm>
          <a:prstGeom prst="roundRect">
            <a:avLst>
              <a:gd name="adj" fmla="val 2319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508760"/>
            <a:ext cx="106372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el padre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ProcessBuilder(java, "-cp", classpath, "psp.ut1.ContadorPrimos", "1", "500000").start();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el hijo (ContadorPrimos)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main(String[] args)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(args.length != 2)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System.err.println("Uso: ContadorPrimos &lt;desde&gt; &lt;hasta&gt;");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System.exit(1);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= argumentos incorrectos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desde = Long.parseLong(args[0]);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hasta = Long.parseLong(args[1]);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822960" y="4983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Limitaciones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58968"/>
            <a:ext cx="105457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Llegan siempre como </a:t>
            </a:r>
            <a:r>
              <a:rPr lang="en-US" sz="17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hay que convertir y validar. Solo al arrancar y en un sentido. Longitud limitada (Windows: unos 32.000 caracteres).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flujos estándar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pic>
        <p:nvPicPr>
          <p:cNvPr id="7" name="Image 0" descr="img/fluj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80160"/>
            <a:ext cx="9631924" cy="40233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349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 se conectan al padre con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tuberías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(pipes). Los nombres se dan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punto de vista del padre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métodos de Process para los flujos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en el padre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conecta con…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padre lo usa para…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getOutputStream()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OutputStream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entrada estándar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escribir datos que el hijo leerá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getInputStream()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InputStream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salida estándar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leer los resultados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getErrorStream()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InputStream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salida de error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leer los errores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89120"/>
            <a:ext cx="11094415" cy="1783080"/>
          </a:xfrm>
          <a:prstGeom prst="roundRect">
            <a:avLst>
              <a:gd name="adj" fmla="val 615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822960" y="45720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MÁS · Desde Java 17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047488"/>
            <a:ext cx="1054577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inputReader()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errorReader()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outputWriter()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devuelven directamente un BufferedReader o BufferedWriter y aceptan una codificación.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la salida de un comando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798570"/>
          </a:xfrm>
          <a:prstGeom prst="roundRect">
            <a:avLst>
              <a:gd name="adj" fmla="val 192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EjecutarComando.java (fragmento)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324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 pb = new ProcessBuilder("cmd", "/c", "dir");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pb.redirectErrorStream(true);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mezcla stderr con stdout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p = pb.start();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cmd.exe escribe con la página de códigos 850 en Windows en español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(BufferedReader br = new BufferedReader(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InputStreamReader(p.getInputStream(), Charset.forName("CP850"))))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linea;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((linea = br.readLine()) != null)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System.out.println(linea);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System.out.println("Código de salida: " + p.waitFor());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codificación de caracteres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¿Símbolos extraños en lugar de tildes o eñes? El padre debe leer con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codificación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la que escribe el hijo.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07238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9260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cmd.exe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39312"/>
            <a:ext cx="48156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Escriben en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CP850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(Windows en español).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Charset.forName("CP850")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278728" y="2743200"/>
            <a:ext cx="5364328" cy="3291840"/>
          </a:xfrm>
          <a:prstGeom prst="roundRect">
            <a:avLst>
              <a:gd name="adj" fmla="val 3333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507328" y="294436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307238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38848" y="292608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Hijos Java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553048" y="3639312"/>
            <a:ext cx="481568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Lanzarlos 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-Dstdout.encoding=UTF-8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-Dstderr.encoding=UTF-8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en el padre con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StandardCharsets.UTF_8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hijo: Mayusculas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líneas de su entrada estándar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que se acaban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las devuelve en mayúsculas.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094415" cy="3798570"/>
          </a:xfrm>
          <a:prstGeom prst="roundRect">
            <a:avLst>
              <a:gd name="adj" fmla="val 192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Mayusculas.java (hijo)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60320"/>
            <a:ext cx="10637215" cy="324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Mayusculas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throws IOException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BufferedReader entrada = new BufferedReader(new InputStreamReader(System.in));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linea;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contador = 0;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((linea = entrada.readLine()) != null) {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 = fin de la entrada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System.out.println(linea.toUpperCase());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contador++;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System.err.println("Líneas procesadas: " + contador);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System.exit(0);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padre (1): lanzar y escribir en el hijo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263390"/>
          </a:xfrm>
          <a:prstGeom prst="roundRect">
            <a:avLst>
              <a:gd name="adj" fmla="val 171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ComunicacionHijo.java (parte 1)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3714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java = Path.of(System.getProperty("java.home"), "bin", "java").toString();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 pb = new ProcessBuilder(java,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"-Dstdout.encoding=UTF-8", "-Dstderr.encoding=UTF-8",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"-cp", System.getProperty("java.class.path"), "psp.ut1.Mayusculas");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pb.redirectError(new File("errores_hijo.log"));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stderr a un fichero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hijo = pb.start();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Escribir en la entrada estándar del hijo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(BufferedWriter bw = new BufferedWriter(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OutputStreamWriter(hijo.getOutputStream(), StandardCharsets.UTF_8)))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bw.write("hola desde el proceso padre");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bw.newLine();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bw.write("programación de servicios y procesos");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bw.newLine();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 cerrar el flujo, el hijo recibe el fin de datos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padre (2): leer la respuesta y esperar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752088"/>
          </a:xfrm>
          <a:prstGeom prst="roundRect">
            <a:avLst>
              <a:gd name="adj" fmla="val 195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ComunicacionHijo.java (parte 2)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320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Leer la salida estándar del hijo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(BufferedReader br = new BufferedReader(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InputStreamReader(hijo.getInputStream(), StandardCharsets.UTF_8)))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linea;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((linea = br.readLine()) != null)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System.out.println("El hijo responde: " + linea);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Esperar a que termine y consultar su código de salida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codigo = hijo.waitFor();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System.out.println("El hijo ha terminado con código " + codigo);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detalles que causan muchos errores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64328" cy="4023360"/>
          </a:xfrm>
          <a:prstGeom prst="roundRect">
            <a:avLst>
              <a:gd name="adj" fmla="val 272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flush()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481568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escrito se queda en un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búfer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hasta que se llama a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se cierra el flujo.</a:t>
            </a:r>
            <a:endParaRPr lang="en-US" sz="19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lo haces, el hijo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recibe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datos.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78728" y="1554480"/>
            <a:ext cx="5364328" cy="4023360"/>
          </a:xfrm>
          <a:prstGeom prst="roundRect">
            <a:avLst>
              <a:gd name="adj" fmla="val 2727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close()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450592"/>
            <a:ext cx="4815688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hijo solo detecta el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datos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cuando el padre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flujo.</a:t>
            </a:r>
            <a:endParaRPr lang="en-US" sz="19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no, el hijo espera más datos y el padre espera al hijo: se quedan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Redirecciones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Redirección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Redirect.PIPE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defecto: tubería conectada con el padre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Redirect.INHERIT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hijo usa el flujo del padre (por ejemplo, su consola)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Redirect.DISCARD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salida se descarta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redirectOutput(fichero)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salida se escribe en un fichero (se sobrescribe)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Redirect.appendTo(fichero)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salida se añade al final de un fichero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redirectInput(fichero)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hijo lee su entrada de un fichero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redirectErrorStream(true)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stderr se mezcla con stdout: un solo flujo que leer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padre se queda colgado: el búfer lleno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1605280"/>
          </a:xfrm>
          <a:prstGeom prst="roundRect">
            <a:avLst>
              <a:gd name="adj" fmla="val 455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508760"/>
            <a:ext cx="10637215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 pb = new ProcessBuilder("cmd", "/c", "tasklist");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pb.redirectOutput(new File("procesos.txt"));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stdout a fichero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pb.redirectError(ProcessBuilder.Redirect.appendTo(new File("errores.log")));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p = pb.start();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p.waitFor();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4415" cy="2971800"/>
          </a:xfrm>
          <a:prstGeom prst="roundRect">
            <a:avLst>
              <a:gd name="adj" fmla="val 3692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 · Interbloqueo por búfer lleno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58768"/>
            <a:ext cx="10545775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tuberías tienen un búfer pequeño (en Windows, pocos KB). Si el hijo escribe mucho y nadie lee,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hijo se bloquea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 el padre está en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avanza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leer la salida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9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waitFor()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redirigirla a un fichero o descartarla. También la de error.</a:t>
            </a:r>
            <a:endParaRPr lang="en-US" sz="1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Tuberías entre procesos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Java 9,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ProcessBuilder.startPipeline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encadena procesos: la salida de cada uno es la entrada del siguiente, como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consola.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94415" cy="2348992"/>
          </a:xfrm>
          <a:prstGeom prst="roundRect">
            <a:avLst>
              <a:gd name="adj" fmla="val 311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10637215" cy="212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List&lt;Process&gt; cadena = ProcessBuilder.startPipeline(List.of(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ProcessBuilder("tasklist"),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ProcessBuilder("findstr", "java")));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tasklist | findstr java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ultimo = cadena.get(cadena.size() - 1);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(BufferedReader br = ultimo.inputReader(Charset.forName("CP850")))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br.lines().forEach(System.out::println);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Ficheros como medio de intercambio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Útiles para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volúmenes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datos o cuando el resultado debe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conservarse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Ten en cuenta que: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515258" cy="3566160"/>
          </a:xfrm>
          <a:prstGeom prst="roundRect">
            <a:avLst>
              <a:gd name="adj" fmla="val 312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7240" y="26700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79806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65176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364992"/>
            <a:ext cx="296661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leas el fichero de resultados hasta que el hijo haya terminado: podría estar incompleto.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38218" y="2468880"/>
            <a:ext cx="3515258" cy="3566160"/>
          </a:xfrm>
          <a:prstGeom prst="roundRect">
            <a:avLst>
              <a:gd name="adj" fmla="val 312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4566818" y="26700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279806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98338" y="265176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fichero por hijo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612538" y="3364992"/>
            <a:ext cx="296661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varios hijos escriben en el mismo fichero, los datos se mezclan o se pierden.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8127797" y="2468880"/>
            <a:ext cx="3515258" cy="3566160"/>
          </a:xfrm>
          <a:prstGeom prst="roundRect">
            <a:avLst>
              <a:gd name="adj" fmla="val 312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8356397" y="26700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279806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087917" y="265176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402117" y="3364992"/>
            <a:ext cx="296661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 los ficheros temporales al terminar.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entre procesos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a que un hijo termine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el valor devuelto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 a que un hijo termine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Process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Comportamiento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waitFor()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al padre hasta que el hijo termina. Devuelve el código de salida. No consume CPU mientras espera.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 waitFor(t, unidad)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Espera como máximo t. true si ha terminado, false si se agotó el tiempo.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exitValue()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de salida sin esperar. Si sigue vivo: IllegalThreadStateException.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 isAlive()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 si el hijo sigue en ejecución.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onExit()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CompletableFuture para reaccionar al final sin bloquear al padre.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esperes indefinidamente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333750"/>
          </a:xfrm>
          <a:prstGeom prst="roundRect">
            <a:avLst>
              <a:gd name="adj" fmla="val 219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EsperaConLimite.java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278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ProcessBuilder pb = new ProcessBuilder("ping", "-n", "10", "127.0.0.1");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pb.redirectOutput(ProcessBuilder.Redirect.DISCARD);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p = pb.start();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terminado = p.waitFor(3, TimeUnit.SECONDS);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(!terminado)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System.out.println("Tiempo agotado: se finaliza " + p.pid());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p.destroyForcibly();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p.waitFor();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esperamos a que el sistema lo elimine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System.out.println("Código de salida: " + p.exitValue());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1094415" cy="1242060"/>
          </a:xfrm>
          <a:prstGeom prst="roundRect">
            <a:avLst>
              <a:gd name="adj" fmla="val 589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777240" y="493776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asíncrona con onExit()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03520"/>
            <a:ext cx="1063721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p.onExit().thenAccept(proc -&gt;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System.out.println("El hijo " + proc.pid() + " terminó"));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de salida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número que el hijo pasa a </a:t>
            </a:r>
            <a:r>
              <a:rPr lang="en-US" sz="20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System.exit(n)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Por convención,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= todo bien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otro valor = error.</a:t>
            </a:r>
            <a:endParaRPr lang="en-US" sz="20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 (ejemplo)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Ejecución correcta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Argumentos incorrectos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al leer un fichero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ha recibido ningún dato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2468880"/>
            <a:ext cx="5330952" cy="3200400"/>
          </a:xfrm>
          <a:prstGeom prst="roundRect">
            <a:avLst>
              <a:gd name="adj" fmla="val 3429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6583680" y="265176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127248"/>
            <a:ext cx="4782312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indicar el </a:t>
            </a:r>
            <a:r>
              <a:rPr lang="en-US" sz="18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para devolver datos: en Linux solo llegan valores de 0 a 255. Un </a:t>
            </a:r>
            <a:r>
              <a:rPr lang="en-US" sz="18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System.exit(256)</a:t>
            </a: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llega como 0.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el resultado: combina dos mecanismos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005840" cy="100584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55448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hijo escribe el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su salida estándar (o en un fichero).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005840" cy="100584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01752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hijo indica con el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salida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ese resultado es válido.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005840" cy="100584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 txBox="1"/>
          <p:nvPr/>
        </p:nvSpPr>
        <p:spPr>
          <a:xfrm>
            <a:off x="548640" y="4480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480560"/>
            <a:ext cx="9814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padre lee la salida y comprueba el código con </a:t>
            </a: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waitFor()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antes de usar el resultado.</a:t>
            </a:r>
            <a:endParaRPr lang="en-US" sz="2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que comparten un recurso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94415" cy="4114800"/>
          </a:xfrm>
          <a:prstGeom prst="roundRect">
            <a:avLst>
              <a:gd name="adj" fmla="val 2667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82880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SABER MÁS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04288"/>
            <a:ext cx="10545775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varios procesos tuvieran que escribir en el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fichero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habría que evitar que lo hicieran a la vez: proteger una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crítica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 se puede bloquear un fichero con </a:t>
            </a: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FileChannel.lock()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secciones críticas y la exclusión mutua se estudian a fondo en la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2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 hilos, donde el problema es mucho más frecuente.</a:t>
            </a:r>
            <a:endParaRPr lang="en-US" sz="2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multiproceso: tareas en paralelo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6052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esquema de cuatro pasos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completo: contar primos en paralelo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y conclusiones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esquema de una aplicación multiproceso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pic>
        <p:nvPicPr>
          <p:cNvPr id="7" name="Image 0" descr="img/pat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583680" cy="29925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06640" y="1554480"/>
            <a:ext cx="4233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problema en partes independientes.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todos los hijos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esperar a ninguno.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cada hijo y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recoger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 resultado.</a:t>
            </a:r>
            <a:endParaRPr lang="en-US" sz="2000" dirty="0"/>
          </a:p>
          <a:p>
            <a:pPr marL="342900" indent="-342900" algn="l">
              <a:spcAft>
                <a:spcPts val="1600"/>
              </a:spcAft>
              <a:buSzPct val="100000"/>
              <a:buFont typeface="+mj-lt"/>
              <a:buAutoNum type="arabicPeriod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los resultados parciales.</a:t>
            </a:r>
            <a:endParaRPr lang="en-US" sz="2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más frecuente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64328" cy="2101088"/>
          </a:xfrm>
          <a:prstGeom prst="roundRect">
            <a:avLst>
              <a:gd name="adj" fmla="val 3482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508760"/>
            <a:ext cx="4907128" cy="187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MAL: ejecución secuencial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 p = crearHijo(i).start();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p.waitFor();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se lanza el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siguiente hasta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 acaba este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1371600"/>
            <a:ext cx="5364328" cy="2348992"/>
          </a:xfrm>
          <a:prstGeom prst="roundRect">
            <a:avLst>
              <a:gd name="adj" fmla="val 311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 txBox="1"/>
          <p:nvPr/>
        </p:nvSpPr>
        <p:spPr>
          <a:xfrm>
            <a:off x="6507328" y="1508760"/>
            <a:ext cx="4907128" cy="212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BIEN: lanzar todos y esperar después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List&lt;Process&gt; hijos = new ArrayList&lt;&gt;();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hijos.add(crearHijo(i).start());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(Process p : hijos)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p.waitFor();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94415" cy="1737360"/>
          </a:xfrm>
          <a:prstGeom prst="roundRect">
            <a:avLst>
              <a:gd name="adj" fmla="val 6316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822960" y="44805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56048"/>
            <a:ext cx="1054577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lanzas y esperas en el mismo bucle,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paralelismo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hijo empieza cuando el anterior ya ha terminado.</a:t>
            </a:r>
            <a:endParaRPr lang="en-US" sz="2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contar los primos entre 1 y 20.000.000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364328" cy="4297680"/>
          </a:xfrm>
          <a:prstGeom prst="roundRect">
            <a:avLst>
              <a:gd name="adj" fmla="val 255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Hijo: ContadorPrimos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4815688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un rango como argumentos.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 los primos del rango.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el total en su salida estándar.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con código 0 (o 1 si los argumentos no son válidos).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78728" y="1554480"/>
            <a:ext cx="5364328" cy="4297680"/>
          </a:xfrm>
          <a:prstGeom prst="roundRect">
            <a:avLst>
              <a:gd name="adj" fmla="val 2553"/>
            </a:avLst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17373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Padre: LanzadorPrimos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553048" y="2450592"/>
            <a:ext cx="4815688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el rango entre N procesos.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lanza todos.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resultado de cada uno y comprueba su código.</a:t>
            </a:r>
            <a:endParaRPr lang="en-US" sz="19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los resultados y mide el tiempo.</a:t>
            </a:r>
            <a:endParaRPr lang="en-US" sz="1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ContadorPrimos (hijo)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983480"/>
          </a:xfrm>
          <a:prstGeom prst="roundRect">
            <a:avLst>
              <a:gd name="adj" fmla="val 1468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ContadorPrimos.java · main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main(String[] args)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(args.length != 2)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System.err.println("Uso: ContadorPrimos &lt;desde&gt; &lt;hasta&gt;");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System.exit(1);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desde, hasta;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desde = Long.parseLong(args[0]);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hasta = Long.parseLong(args[1]);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(NumberFormatException e)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System.err.println("Los límites deben ser números enteros");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System.exit(1);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total = 0;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(long n = desde; n &lt;= hasta; n++)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(esPrimo(n)) total++;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System.out.println(total);  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resultado viaja por la salida estándar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System.exit(0);             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= todo ha ido bien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ContadorPrimos (hijo): esPrimo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2884424"/>
          </a:xfrm>
          <a:prstGeom prst="roundRect">
            <a:avLst>
              <a:gd name="adj" fmla="val 253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ContadorPrimos.java · esPrimo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233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boolean esPrimo(long n) {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 2) return false;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% 2 == 0) return n == 2;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(long d = 3; d * d &lt;= n; d += 2) {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(n % d == 0) return false;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comprueban solo los divisores impares hasta la raíz cuadrada de n. Cuanto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grande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n,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cuesta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comprobarlo: tenlo en cuenta al repartir el trabajo.</a:t>
            </a:r>
            <a:endParaRPr lang="en-US" sz="2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LanzadorPrimos (padre): dividir y lanzar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681728"/>
          </a:xfrm>
          <a:prstGeom prst="roundRect">
            <a:avLst>
              <a:gd name="adj" fmla="val 1563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LanzadorPrimos.java (parte 1)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413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numProcesos = args.length &gt; 0 ? Integer.parseInt(args[0])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: Runtime.getRuntime().availableProcessors();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java = Path.of(System.getProperty("java.home"), "bin", "java").toString();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classpath = System.getProperty("java.class.path");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inicio = System.nanoTime();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tramo = LIMITE / numProcesos;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List&lt;Process&gt; hijos = new ArrayList&lt;&gt;();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numProcesos; i++) {          </a:t>
            </a:r>
            <a:r>
              <a:rPr lang="en-US" sz="14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dividir y lanzar TODOS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desde = i * tramo + 1;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hasta = (i == numProcesos - 1) ? LIMITE : (i + 1) * tramo;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ProcessBuilder pb = new ProcessBuilder(java, "-cp", classpath,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"psp.ut1.ContadorPrimos", String.valueOf(desde), String.valueOf(hasta));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pb.redirectError(ProcessBuilder.Redirect.INHERIT);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 p = pb.start();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System.out.printf("Hijo %d (PID %d): %d - %d%n", i, p.pid(), desde, hasta);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hijos.add(p);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LanzadorPrimos (padre): recoger y combinar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263390"/>
          </a:xfrm>
          <a:prstGeom prst="roundRect">
            <a:avLst>
              <a:gd name="adj" fmla="val 171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LanzadorPrimos.java (parte 2)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3714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totalPrimos = 0;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(Process p : hijos) {                      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recoger y esperar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(BufferedReader br = p.inputReader())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linea = br.readLine();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codigo = p.waitFor();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(codigo == 0 &amp;&amp; linea != null)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totalPrimos += Long.parseLong(linea.trim());   </a:t>
            </a: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combinar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System.err.printf("El hijo %d ha fallado (código %d)%n", p.pid(), codigo);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ms = (System.nanoTime() - inicio) / 1_000_000;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System.out.printf("Primos hasta %d: %d%n", LIMITE, totalPrimos);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System.out.printf("Procesos: %d | Tiempo: %d ms%n", numProcesos, ms);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en un equipo de 2 núcleos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371600"/>
          <a:ext cx="57607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65192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Aceleración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675120" y="4389120"/>
            <a:ext cx="4965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tu equipo los tiempos serán distintos: </a:t>
            </a:r>
            <a:r>
              <a:rPr lang="en-US" sz="1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mídelos</a:t>
            </a: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no es el doble de rápido?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73736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desequilibrado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50592"/>
            <a:ext cx="296661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números grandes cuesta más: el último tramo tarda más y el padre espera al más lento.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38218" y="155448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566818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88366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73736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fijo de arranque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450592"/>
            <a:ext cx="296661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JVM tarda en cargarse, y eso no se paraleliza.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127797" y="1554480"/>
            <a:ext cx="3515258" cy="4480560"/>
          </a:xfrm>
          <a:prstGeom prst="roundRect">
            <a:avLst>
              <a:gd name="adj" fmla="val 3121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356397" y="17556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188366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7917" y="173736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procesos que núcleos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450592"/>
            <a:ext cx="296661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Compiten por los mismos núcleos y aumentan los cambios de contexto. Usa availableProcessors().</a:t>
            </a:r>
            <a:endParaRPr lang="en-US" sz="1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6 · ¿Qué falla en este código? (A y B)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qué problema tiene cada fragmento y propón una corrección.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94415" cy="2884424"/>
          </a:xfrm>
          <a:prstGeom prst="roundRect">
            <a:avLst>
              <a:gd name="adj" fmla="val 2536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21488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10637215" cy="233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Fragmento A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p = new ProcessBuilder("dir").start();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Fragmento B: el hijo escribe 100.000 líneas por su salida estándar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p = pb.start();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codigo = p.waitFor();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 br = new BufferedReader(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InputStreamReader(p.getInputStream()));</a:t>
            </a:r>
            <a:endParaRPr lang="en-US" sz="17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6 · ¿Qué falla en este código? (C y D)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3752088"/>
          </a:xfrm>
          <a:prstGeom prst="roundRect">
            <a:avLst>
              <a:gd name="adj" fmla="val 1950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777240" y="14630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10637215" cy="3203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Fragmento C: el hijo lee líneas de su entrada hasta que se acaban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BufferedWriter bw = new BufferedWriter(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OutputStreamWriter(p.getOutputStream()));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bw.write("datos");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bw.newLine();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resultado = p.inputReader().readLine();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Fragmento D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(String fichero : ficheros)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 p = new ProcessBuilder(java, "-cp", cp, "Analizador", fichero).start();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System.out.println(p.inputReader().readLine());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7 · Mejorando el reparto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094415" cy="4892040"/>
          </a:xfrm>
          <a:prstGeom prst="roundRect">
            <a:avLst>
              <a:gd name="adj" fmla="val 2243"/>
            </a:avLst>
          </a:prstGeom>
          <a:solidFill>
            <a:srgbClr val="E2EFDA"/>
          </a:solidFill>
          <a:ln w="12700">
            <a:solidFill>
              <a:srgbClr val="E2EFD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822960" y="1554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CLASE · 7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105457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 </a:t>
            </a:r>
            <a:r>
              <a:rPr lang="en-US" sz="21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LanzadorPrimos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repartir mejor: divide el rango en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de 100.000 números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haz que el hijo i procese los bloques i, i+N, i+2N… Compara los tiempos con la versión original para 2, 4 y el número de núcleos de tu equipo.</a:t>
            </a:r>
            <a:endParaRPr lang="en-US" sz="2100" dirty="0"/>
          </a:p>
          <a:p>
            <a:pPr marL="342900" indent="-342900" algn="l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compañero propone que el hijo i compruebe los números i+1, i+1+N, i+1+2N… ¿Qué ocurriría con 2 procesos? ¿Y con 4? Razónalo antes de probarlo.</a:t>
            </a:r>
            <a:endParaRPr lang="en-US" sz="2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y documentación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depuración</a:t>
            </a:r>
            <a:endParaRPr lang="en-US" sz="20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EE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(1)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 probable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IOException: CreateProcess error=2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comando no existe, no está en el PATH o es interno de cmd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 completa o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 /c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hijo termina con código 1 y no se ve ningún 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error está en su stderr y nadie lo lee (p. ej., ClassNotFoundException)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Redirigir siempre stderr; usar el nombre completo de la 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programa se queda colgado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Búfer lleno o hijo esperando el fin de su entrada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Leer antes de </a:t>
                      </a:r>
                      <a:r>
                        <a:rPr lang="en-US" sz="1700" dirty="0">
                          <a:solidFill>
                            <a:srgbClr val="A044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waitFor()</a:t>
                      </a: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 cerrar la entrada del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frecuentes (2)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graphicFrame>
        <p:nvGraphicFramePr>
          <p:cNvPr id="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Síntoma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 probable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Caracteres extraños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Codificación distinta en padre e hijo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 codificación en los dos extremos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tarda lo mismo con más procesos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lanza y se espera en el mismo bucle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Lanzar todos y esperar después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Procesos Java vivos al cerrar el programa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padre terminó sin destruir a sus hijos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Destruirlos al terminar o en caso de 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depuración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el hijo solo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296661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-cp out psp.ut1.ContadorPrimos 1 1000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6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datos.txt | java …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6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%errorlevel%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38218" y="137160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566818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34" y="170078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.err por hijo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12538" y="2267712"/>
            <a:ext cx="296661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la salida de error de cada hijo en su propio fichero.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127797" y="137160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356397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413" y="170078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7917" y="15544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Trazas con PID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02117" y="2267712"/>
            <a:ext cx="296661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</a:t>
            </a:r>
            <a:r>
              <a:rPr lang="en-US" sz="1600" dirty="0">
                <a:solidFill>
                  <a:srgbClr val="A044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ProcessHandle.current().pid()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los mensajes de error.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777240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21538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 el hijo en el IDE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782312"/>
            <a:ext cx="296661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programa independiente, con los mismos argumentos.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338218" y="388620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4566818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834" y="4215384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298338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612538" y="4782312"/>
            <a:ext cx="296661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Explorer: ¿se crean, trabajan a la vez y terminan?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8127797" y="3886200"/>
            <a:ext cx="3515258" cy="2331720"/>
          </a:xfrm>
          <a:prstGeom prst="roundRect">
            <a:avLst>
              <a:gd name="adj" fmla="val 4706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6"/>
          <p:cNvSpPr/>
          <p:nvPr/>
        </p:nvSpPr>
        <p:spPr>
          <a:xfrm>
            <a:off x="8356397" y="40873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4413" y="4215384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87917" y="4069080"/>
            <a:ext cx="232653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Ojo con el depurador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8402117" y="4782312"/>
            <a:ext cx="296661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los tiempos: algunos errores de concurrencia desaparecen.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Depuración remota de un proceso hijo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depurar el hijo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lo lanza el padre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Añade esta opción a su comando: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94415" cy="629158"/>
          </a:xfrm>
          <a:prstGeom prst="roundRect">
            <a:avLst>
              <a:gd name="adj" fmla="val 11627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10637215" cy="40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-agentlib:jdwp=transport=dt_socket,server=y,suspend=y,address=5005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hijo se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detiene al arrancar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espera a que el IDE se conecte al puerto 5005.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IntelliJ IDEA: configuración de tipo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JVM Debug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ahí, puntos de ruptura en el código del hijo como siempre.</a:t>
            </a:r>
            <a:endParaRPr lang="en-US" sz="2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383280" cy="4800600"/>
          </a:xfrm>
          <a:prstGeom prst="roundRect">
            <a:avLst>
              <a:gd name="adj" fmla="val 3243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7007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15544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imprescindible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267712"/>
            <a:ext cx="283464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Javadoc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clases y métodos públicos.</a:t>
            </a:r>
            <a:endParaRPr lang="en-US" sz="17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padre-hijo: argumentos, entrada, formato de salida y códigos.</a:t>
            </a:r>
            <a:endParaRPr lang="en-US" sz="1700" dirty="0"/>
          </a:p>
          <a:p>
            <a:pPr marL="254000" indent="-254000" algn="l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7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compilar y ejecutar.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206240" y="1371600"/>
            <a:ext cx="7434072" cy="3333750"/>
          </a:xfrm>
          <a:prstGeom prst="roundRect">
            <a:avLst>
              <a:gd name="adj" fmla="val 2194"/>
            </a:avLst>
          </a:prstGeom>
          <a:solidFill>
            <a:srgbClr val="14283F"/>
          </a:solidFill>
          <a:ln w="12700">
            <a:solidFill>
              <a:srgbClr val="1428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4434840" y="1463040"/>
            <a:ext cx="6976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es el «contrato» entre programas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34840" y="1828800"/>
            <a:ext cx="6976872" cy="278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Proceso hijo que cuenta los primos de un rango.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Uso: java psp.ut1.ContadorPrimos desde hasta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Salida estándar: una línea con el número de primos.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Códigos de salida: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0 - ejecución correcta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1 - argumentos incorrectos o no numéricos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B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7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ContadorPrimos { ... }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4B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(1)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programa en ejecución, con memoria aislada y un PCB que lo describe. 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proceso en segundo plano.</a:t>
            </a:r>
            <a:endParaRPr lang="en-US" sz="20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nuevo, listo, en ejecución, bloqueado y terminado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planificador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decide quién usa cada núcleo.</a:t>
            </a:r>
            <a:endParaRPr lang="en-US" sz="20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flujo de ejecución dentro de un proceso; los hilos comparten su memoria.</a:t>
            </a:r>
            <a:endParaRPr lang="en-US" sz="20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progresar a la vez ·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ejecutar a la vez en varios núcleos ·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varios equipos en red.</a:t>
            </a:r>
            <a:endParaRPr lang="en-US" sz="20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Amdahl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limita la aceleración según la parte secuencial.</a:t>
            </a:r>
            <a:endParaRPr lang="en-US" sz="2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(2)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Java: se crean con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ProcessBuilder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 controlan con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se consultan con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ProcessHandle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Comunicación: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argumentos, flujos estándar, ficheros y código de salida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Cuida el cierre de flujos, la lectura de la salida y la codificación.</a:t>
            </a:r>
            <a:endParaRPr lang="en-US" sz="21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Sincronización: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waitFor()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mejor con tiempo límite.</a:t>
            </a:r>
            <a:endParaRPr lang="en-US" sz="21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ejecutar en paralelo: </a:t>
            </a:r>
            <a:r>
              <a:rPr lang="en-US" sz="21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dividir, lanzar todos, esperar y recoger, combinar</a:t>
            </a:r>
            <a:r>
              <a:rPr lang="en-US" sz="2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329184"/>
            <a:ext cx="10317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1 · Analizador paralelo de logs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 · UT1 Programación multiproceso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aplicación multiproceso que analiza unos </a:t>
            </a:r>
            <a:r>
              <a:rPr lang="en-US" sz="2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millones de líneas</a:t>
            </a:r>
            <a:r>
              <a:rPr lang="en-US" sz="2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log de la tienda ficticia MercaByte.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64328" cy="1783080"/>
          </a:xfrm>
          <a:prstGeom prst="roundRect">
            <a:avLst>
              <a:gd name="adj" fmla="val 615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660904"/>
            <a:ext cx="310896" cy="31089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51460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AnalizadorLogs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27832"/>
            <a:ext cx="4815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Hijo: recibe rutas por su entrada estándar y devuelve estadísticas con un protocolo propio.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78728" y="2331720"/>
            <a:ext cx="5364328" cy="1783080"/>
          </a:xfrm>
          <a:prstGeom prst="roundRect">
            <a:avLst>
              <a:gd name="adj" fmla="val 615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507328" y="253288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2660904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38848" y="251460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CoordinadorLogs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53048" y="3227832"/>
            <a:ext cx="4815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Padre: reparte los ficheros, lanza los hijos en paralelo, espera con tiempo límite y genera el informe.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297680"/>
            <a:ext cx="5364328" cy="1783080"/>
          </a:xfrm>
          <a:prstGeom prst="roundRect">
            <a:avLst>
              <a:gd name="adj" fmla="val 615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777240" y="44988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626864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08760" y="44805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193792"/>
            <a:ext cx="4815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aceleración y eficiencia, y aplicar la ley de Amdahl.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278728" y="4297680"/>
            <a:ext cx="5364328" cy="1783080"/>
          </a:xfrm>
          <a:prstGeom prst="roundRect">
            <a:avLst>
              <a:gd name="adj" fmla="val 6154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6507328" y="4498848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344" y="462686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38848" y="4480560"/>
            <a:ext cx="4175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técnica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553048" y="5193792"/>
            <a:ext cx="4815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Monitorización, estados, tipo de programación y procesos frente a hilos.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9286</Words>
  <Application>Microsoft Office PowerPoint</Application>
  <PresentationFormat>Panorámica</PresentationFormat>
  <Paragraphs>1523</Paragraphs>
  <Slides>105</Slides>
  <Notes>105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105</vt:i4>
      </vt:variant>
    </vt:vector>
  </HeadingPairs>
  <TitlesOfParts>
    <vt:vector size="108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UT1 · Programación multiproceso</dc:title>
  <dc:subject>PptxGenJS Presentation</dc:subject>
  <dc:creator>Carlos Luque González</dc:creator>
  <cp:lastModifiedBy>CARLOS LUQUE GONZÁLEZ</cp:lastModifiedBy>
  <cp:revision>1</cp:revision>
  <dcterms:created xsi:type="dcterms:W3CDTF">2026-09-26T17:25:17Z</dcterms:created>
  <dcterms:modified xsi:type="dcterms:W3CDTF">2026-09-27T18:23:11Z</dcterms:modified>
</cp:coreProperties>
</file>