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3a61b8e9-2488-55df-5726-e742d6c88f2f}">
          <p14:sldIdLst>
            <p14:sldId id="256"/>
            <p14:sldId id="257"/>
          </p14:sldIdLst>
        </p14:section>
        <p14:section name="1. Kotlin y cómo vamos a trabajar" id="{880a80a1-23cc-c656-5199-90a60e0f905a}">
          <p14:sldIdLst>
            <p14:sldId id="258"/>
            <p14:sldId id="259"/>
            <p14:sldId id="260"/>
            <p14:sldId id="261"/>
            <p14:sldId id="262"/>
          </p14:sldIdLst>
        </p14:section>
        <p14:section name="2. Primer programa y variables" id="{b9146821-8403-395f-0328-068e5251bde7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3. Control de flujo" id="{0363efd9-700e-4a0e-0715-6f92bf473368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4. Funciones" id="{079c7590-5da7-be6b-a6e5-8b73e82349e4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5. Null safety" id="{74924df3-f8ed-7f34-e40e-208e5453d63f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6. Lambdas y funciones de orden superior" id="{3d4690b1-c307-2ebf-af6e-63e0184cc119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7. Colecciones" id="{c5b6cc24-775a-f0f9-e6a9-c543f22bb7ff}">
          <p14:sldIdLst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8. Clases y data classes" id="{45fdbddc-8be1-5b91-af8d-0b18a64fc143}">
          <p14:sldIdLst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9. Herencia, interfaces y tipos especiales" id="{a557335b-4832-4fb6-a63a-250c563e8dc5}">
          <p14:sldIdLst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  <p14:section name="10. Introducción a las corrutinas" id="{3782011d-f62e-7d1f-6189-3ad171b09977}">
          <p14:sldIdLst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</p14:sldIdLst>
        </p14:section>
        <p14:section name="11. Resumen" id="{0e351cfd-de10-1f58-1a99-05c16f8d59dc}">
          <p14:sldIdLst>
            <p14:sldId id="329"/>
            <p14:sldId id="330"/>
            <p14:sldId id="331"/>
            <p14:sldId id="3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Parte 1 · El lenguaje Kotlin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Parte 1 · El lenguaje Kotlin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FORMATIVO DE GRADO SUPERIOR · DAM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Programación Multimedia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Dispositivos Móviles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17325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3429000"/>
            <a:ext cx="1097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D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3429000"/>
            <a:ext cx="5394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 Kotlin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371600"/>
            <a:ext cx="2194560" cy="3108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5760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CIFP Santa Catalina · Aranda de Duero — Curso 2026/2027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PARTE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Java a Kotlin en cinco sesiones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566928" cy="566928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90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9047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y cómo vamos a trabajar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86584"/>
            <a:ext cx="566928" cy="566928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86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3865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programa y variables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566928" cy="566928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826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flujo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178808"/>
            <a:ext cx="566928" cy="566928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78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1788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566928" cy="566928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0749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safety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63640" y="1490472"/>
            <a:ext cx="566928" cy="566928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1490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149047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y funciones de orden superior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63640" y="2386584"/>
            <a:ext cx="566928" cy="566928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2386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3865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Colecciones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63640" y="3282696"/>
            <a:ext cx="566928" cy="566928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2826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data classes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263640" y="4178808"/>
            <a:ext cx="566928" cy="566928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3640" y="4178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41788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Herencia, interfaces y tipos especiales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263640" y="5074920"/>
            <a:ext cx="566928" cy="566928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50749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las corrutinas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Kotlin y cómo vamos a trabajar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lenguaje moderno sobre la JVM, oficial en Android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QUÉ ES KOTLIN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lenguaje de JetBrains que hoy es el estándar de Android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45775" cy="0"/>
          </a:xfrm>
          <a:prstGeom prst="line">
            <a:avLst/>
          </a:prstGeom>
          <a:noFill/>
          <a:ln w="25400">
            <a:solidFill>
              <a:srgbClr val="1AA3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9692" y="1737360"/>
            <a:ext cx="365760" cy="365760"/>
          </a:xfrm>
          <a:prstGeom prst="ellipse">
            <a:avLst/>
          </a:prstGeom>
          <a:solidFill>
            <a:srgbClr val="3DDC8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2567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256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1.0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54680"/>
            <a:ext cx="2384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versión estable, creada por JetBrains (IntelliJ IDEA).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91876" y="1737360"/>
            <a:ext cx="365760" cy="365760"/>
          </a:xfrm>
          <a:prstGeom prst="ellipse">
            <a:avLst/>
          </a:prstGeom>
          <a:solidFill>
            <a:srgbClr val="3DDC8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0824" y="2240280"/>
            <a:ext cx="2567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390824" y="2743200"/>
            <a:ext cx="256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Oficial en Android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82264" y="3154680"/>
            <a:ext cx="2384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lo anuncia como lenguaje oficial.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34060" y="1737360"/>
            <a:ext cx="365760" cy="365760"/>
          </a:xfrm>
          <a:prstGeom prst="ellipse">
            <a:avLst/>
          </a:prstGeom>
          <a:solidFill>
            <a:srgbClr val="3DDC8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2240280"/>
            <a:ext cx="2567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233008" y="2743200"/>
            <a:ext cx="256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Kotlin-first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24448" y="3154680"/>
            <a:ext cx="2384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librerías nuevas, primero en Kotlin.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76243" y="1737360"/>
            <a:ext cx="365760" cy="365760"/>
          </a:xfrm>
          <a:prstGeom prst="ellipse">
            <a:avLst/>
          </a:prstGeom>
          <a:solidFill>
            <a:srgbClr val="3DDC8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5191" y="2240280"/>
            <a:ext cx="2567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075191" y="2743200"/>
            <a:ext cx="256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2.4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66631" y="3154680"/>
            <a:ext cx="23849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actual. Jetpack Compose solo funciona con Kotlin.</a:t>
            </a:r>
            <a:endParaRPr lang="en-US" sz="1600" dirty="0"/>
          </a:p>
        </p:txBody>
      </p:sp>
      <p:sp>
        <p:nvSpPr>
          <p:cNvPr id="21" name="recuadro info"/>
          <p:cNvSpPr/>
          <p:nvPr/>
        </p:nvSpPr>
        <p:spPr>
          <a:xfrm>
            <a:off x="548640" y="4709160"/>
            <a:ext cx="11094415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80060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a bytecode de la JVM, igual que Java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es totalmente interoperable: desde Kotlin se usa cualquier clase Java y pueden convivir ficheros .java y .kt en el mismo proyecto.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QUÉ ES KOTLIN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aporta frente a Java</a:t>
            </a:r>
            <a:endParaRPr lang="en-US" sz="3000" dirty="0"/>
          </a:p>
        </p:txBody>
      </p:sp>
      <p:sp>
        <p:nvSpPr>
          <p:cNvPr id="4" name="tarjeta Concisión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31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Concisión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 menos código: una clase de datos completa cabe en una línea.</a:t>
            </a:r>
            <a:endParaRPr lang="en-US" sz="1600" dirty="0"/>
          </a:p>
        </p:txBody>
      </p:sp>
      <p:sp>
        <p:nvSpPr>
          <p:cNvPr id="9" name="tarjeta Null safety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0" y="17647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66818" y="2331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safety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7432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compilador detecta la mayoría de los NullPointerException.</a:t>
            </a:r>
            <a:endParaRPr lang="en-US" sz="1600" dirty="0"/>
          </a:p>
        </p:txBody>
      </p:sp>
      <p:sp>
        <p:nvSpPr>
          <p:cNvPr id="14" name="tarjeta Interoperabilidad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269" y="17647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6397" y="2331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56397" y="27432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todo el código y las librerías Java existentes.</a:t>
            </a:r>
            <a:endParaRPr lang="en-US" sz="1600" dirty="0"/>
          </a:p>
        </p:txBody>
      </p:sp>
      <p:sp>
        <p:nvSpPr>
          <p:cNvPr id="19" name="tarjeta Programación funcional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27939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8463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funcional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578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son valores. Colecciones con filter, map...</a:t>
            </a:r>
            <a:endParaRPr lang="en-US" sz="1600" dirty="0"/>
          </a:p>
        </p:txBody>
      </p:sp>
      <p:sp>
        <p:nvSpPr>
          <p:cNvPr id="24" name="tarjeta Corrutinas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690" y="427939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66818" y="48463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Corrutinas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566818" y="52578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asíncrona sin bloquear la interfaz.</a:t>
            </a:r>
            <a:endParaRPr lang="en-US" sz="1600" dirty="0"/>
          </a:p>
        </p:txBody>
      </p:sp>
      <p:sp>
        <p:nvSpPr>
          <p:cNvPr id="29" name="tarjeta Jetpack Compose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269" y="427939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56397" y="48463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356397" y="52578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actual de interfaces de Android es solo para Kotlin.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DÓNDE VAMOS A EJECUTAR EL CÓDIGO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Kotlin Playground: play.kotlinlang.org</a:t>
            </a:r>
            <a:endParaRPr lang="en-US" sz="3000" dirty="0"/>
          </a:p>
        </p:txBody>
      </p:sp>
      <p:sp>
        <p:nvSpPr>
          <p:cNvPr id="4" name="tarjeta Run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31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y ejecuta el programa. La salida aparece debajo del código.</a:t>
            </a:r>
            <a:endParaRPr lang="en-US" sz="1600" dirty="0"/>
          </a:p>
        </p:txBody>
      </p:sp>
      <p:sp>
        <p:nvSpPr>
          <p:cNvPr id="9" name="tarjeta Versión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0" y="17647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66818" y="2331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74320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la versión de Kotlin. Deja la que viene por defecto.</a:t>
            </a:r>
            <a:endParaRPr lang="en-US" sz="1600" dirty="0"/>
          </a:p>
        </p:txBody>
      </p:sp>
      <p:sp>
        <p:nvSpPr>
          <p:cNvPr id="14" name="tarjeta Share"/>
          <p:cNvSpPr/>
          <p:nvPr/>
        </p:nvSpPr>
        <p:spPr>
          <a:xfrm>
            <a:off x="8127797" y="1417320"/>
            <a:ext cx="351525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269" y="17647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6397" y="2331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56397" y="274320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un enlace con tu código. Úsalo para guardar tu trabajo.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3886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web oficial de JetBrains: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instalación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con una versión actual del lenguaje.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igual en todos los equipos del aula.</a:t>
            </a:r>
            <a:endParaRPr lang="en-US" sz="1800" dirty="0"/>
          </a:p>
        </p:txBody>
      </p:sp>
      <p:sp>
        <p:nvSpPr>
          <p:cNvPr id="20" name="recuadro warn"/>
          <p:cNvSpPr/>
          <p:nvPr/>
        </p:nvSpPr>
        <p:spPr>
          <a:xfrm>
            <a:off x="548640" y="493776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77240" y="502920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4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tu trabajo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 no guarda nada automáticamente. Antes de cerrar la pestaña, copia el código en un fichero o genera el enlace con Share.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· ACTIVIDADES CON COMPROBACIONES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Sabrás al instante si tu código es correcto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completas las funciones cuyo cuerpo es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TODO()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compila, pero lanza un error si se ejecuta.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comprobaciones (que no se modifica) prueba cada función.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88036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88036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devuelve el valor esperado.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74904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74904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otro valor. Se muestra el esperado y el obtenido.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6177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PENDIENTE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461772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Todavía no la has implementado.</a:t>
            </a:r>
            <a:endParaRPr lang="en-US" sz="1800" dirty="0"/>
          </a:p>
        </p:txBody>
      </p:sp>
      <p:sp>
        <p:nvSpPr>
          <p:cNvPr id="14" name="panel codigo"/>
          <p:cNvSpPr/>
          <p:nvPr/>
        </p:nvSpPr>
        <p:spPr>
          <a:xfrm>
            <a:off x="7269480" y="2880360"/>
            <a:ext cx="4370832" cy="1834388"/>
          </a:xfrm>
          <a:prstGeom prst="roundRect">
            <a:avLst>
              <a:gd name="adj" fmla="val 398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297180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salida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3429000"/>
            <a:ext cx="3913632" cy="1121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precioConIva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FALLO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calificacion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esperado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Aprobado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obtenido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Suspenso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PENDIENTE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esBisiesto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programa y variables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main, val y var, tipos y string templates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EL PRIMER PROGRAMA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Hola, Kotlin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5410048" cy="1939290"/>
          </a:xfrm>
          <a:prstGeom prst="roundRect">
            <a:avLst>
              <a:gd name="adj" fmla="val 377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52848" cy="1226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"Hola, Kotlin"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panel codigo"/>
          <p:cNvSpPr/>
          <p:nvPr/>
        </p:nvSpPr>
        <p:spPr>
          <a:xfrm>
            <a:off x="6233008" y="1417320"/>
            <a:ext cx="5410048" cy="1939290"/>
          </a:xfrm>
          <a:prstGeom prst="roundRect">
            <a:avLst>
              <a:gd name="adj" fmla="val 377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50876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1965960"/>
            <a:ext cx="4952848" cy="1226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"Hola, Kotlin"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una clase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funciones de nivel superior (top-level functions).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se declaran con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sustituye a System.out.println.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punto y coma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final de las líneas.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VAL Y VAR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lectura o mutable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1760220"/>
          </a:xfrm>
          <a:prstGeom prst="roundRect">
            <a:avLst>
              <a:gd name="adj" fmla="val 415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"Pixel 9"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se puede reasignar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 puede reasignar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correcto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modelo = "Pixel 10"      // Error: Val cannot be reassigned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760720"/>
                <a:gridCol w="38679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Palabra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 en Java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asigna una vez y no se puede reasignar.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final String nombre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puede reasignar.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 nombre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recuadro ok"/>
          <p:cNvSpPr/>
          <p:nvPr/>
        </p:nvSpPr>
        <p:spPr>
          <a:xfrm>
            <a:off x="548640" y="489204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98348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siempre con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cambia a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cuando necesites reasignar.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· INFERENCIA DE TIPOS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tipo se deduce del valor, pero sigue siendo fijo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1760220"/>
          </a:xfrm>
          <a:prstGeom prst="roundRect">
            <a:avLst>
              <a:gd name="adj" fmla="val 415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 compilador infiere String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tipo indicado explícitamente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ciudad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 valor: el tipo es obligatorio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ciudad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"Aranda de Duero"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 asigna después (una sola vez)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tiene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estático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como Java: el tipo se comprueba al compilar.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se escribe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detrás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nombre: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nombre: Tipo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tipos primitivos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código: todo es un objeto (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42.toString()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· TIPOS BÁSICOS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mismos de Java, con nombre en mayúscula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519672"/>
                <a:gridCol w="2743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 de 32 bits (el entero por defecto)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 de 64 bits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42L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de 64 bits (el decimal por defecto)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de 32 bits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3.14f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lógico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carácter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'A'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 de texto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"Kotlin"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· CONVERSIONES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Kotlin no convierte números de forma automática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2318004"/>
          </a:xfrm>
          <a:prstGeom prst="roundRect">
            <a:avLst>
              <a:gd name="adj" fmla="val 315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 largo: Long = entero       // Error: Type mismatch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correcto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 String a Int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toDouble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42.0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truncado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9.99.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9 (trunca, no redondea)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110944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conversión: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toInt()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toLong()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toDouble()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toString()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en Java: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vale 3, pero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2.0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vale 3.5.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Constantes: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val IVA = 0.21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fuera de las funciones.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· STRING TEMPLATES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dentro del texto sin concatenar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1481328"/>
          </a:xfrm>
          <a:prstGeom prst="roundRect">
            <a:avLst>
              <a:gd name="adj" fmla="val 493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"Pixel 9"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 $modelo tiene un $bateria % de batería"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 nombre tiene ${modelo.length} caracteres"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$variable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inserta el valor.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${expresión}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inserta el resultado de cualquier expresión.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multilínea entre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trimIndent()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recuadro warn"/>
          <p:cNvSpPr/>
          <p:nvPr/>
        </p:nvSpPr>
        <p:spPr>
          <a:xfrm>
            <a:off x="548640" y="44348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526280"/>
            <a:ext cx="106372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4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== compara el contenido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Kotlin,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llama a equals: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"hola" == "HOLA".lowercase()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true. Para comparar referencias se usa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Corrige el programa y predice la salida</a:t>
            </a:r>
            <a:endParaRPr lang="en-US" sz="3000" dirty="0"/>
          </a:p>
        </p:txBody>
      </p:sp>
      <p:sp>
        <p:nvSpPr>
          <p:cNvPr id="4" name="insignia actividad"/>
          <p:cNvSpPr/>
          <p:nvPr/>
        </p:nvSpPr>
        <p:spPr>
          <a:xfrm>
            <a:off x="548640" y="14173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373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</a:t>
            </a:r>
            <a:endParaRPr lang="en-US" sz="1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17320"/>
            <a:ext cx="82597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programa tiene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errores de compilación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de lógica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Localízalos y corrígelos.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compile, reescribe el primer println con un string template.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ejecutarlo, escribe qué imprime cada línea del segundo programa. Después ejecútalo y comprueba.</a:t>
            </a:r>
            <a:endParaRPr lang="en-US" sz="1800" dirty="0"/>
          </a:p>
        </p:txBody>
      </p:sp>
      <p:sp>
        <p:nvSpPr>
          <p:cNvPr id="8" name="recuadro ok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base: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Actividad1_ParteA.kt y Actividad1_ParteB.kt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(aula virtual) o en los apuntes. Ejecútalo en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Playground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flujo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 when como expresiones, rangos y bucles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IF COMO EXPRESIÓN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devuelve un valor: no hace falta el operador ternario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5410048" cy="1939290"/>
          </a:xfrm>
          <a:prstGeom prst="roundRect">
            <a:avLst>
              <a:gd name="adj" fmla="val 377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52848" cy="1226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"Batería baja"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"Batería correcta"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7" name="panel codigo"/>
          <p:cNvSpPr/>
          <p:nvPr/>
        </p:nvSpPr>
        <p:spPr>
          <a:xfrm>
            <a:off x="6233008" y="1417320"/>
            <a:ext cx="5410048" cy="1939290"/>
          </a:xfrm>
          <a:prstGeom prst="roundRect">
            <a:avLst>
              <a:gd name="adj" fmla="val 377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50876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1965960"/>
            <a:ext cx="4952848" cy="1226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"Batería baja"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"Batería correcta"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ramas son bloques, el valor es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expresión de cada bloque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if se usa como expresión, el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· WHEN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switch de Kotlin, mucho más potente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7498080" cy="2875788"/>
          </a:xfrm>
          <a:prstGeom prst="roundRect">
            <a:avLst>
              <a:gd name="adj" fmla="val 254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7040880" cy="2546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nivelApi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nivelApi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 16"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 15"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 14"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 12"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varios valores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26..30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 8-11"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 rango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"Versión no soportada"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tarjeta Frente a switch"/>
          <p:cNvSpPr/>
          <p:nvPr/>
        </p:nvSpPr>
        <p:spPr>
          <a:xfrm>
            <a:off x="8321040" y="1417320"/>
            <a:ext cx="3319272" cy="356616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49640" y="16459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2" y="176479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549640" y="23317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switch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2743200"/>
            <a:ext cx="28620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 necesita break.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Admite cualquier tipo.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Admite rangos y condiciones.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Es una expresión: devuelve un valor.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· WHEN SIN ARGUMENTO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forma clara de escribir una cadena de if-else if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2318004"/>
          </a:xfrm>
          <a:prstGeom prst="roundRect">
            <a:avLst>
              <a:gd name="adj" fmla="val 315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38.5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40.0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"Peligro: el dispositivo se apagará"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35.0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"Temperatura alta"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"Temperatura normal"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Temperatura alta</a:t>
            </a:r>
            <a:endParaRPr lang="en-US" sz="1800" dirty="0"/>
          </a:p>
        </p:txBody>
      </p:sp>
      <p:sp>
        <p:nvSpPr>
          <p:cNvPr id="6" name="recuadro info"/>
          <p:cNvSpPr/>
          <p:nvPr/>
        </p:nvSpPr>
        <p:spPr>
          <a:xfrm>
            <a:off x="548640" y="402336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11480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debe cubrir todos los casos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usa como expresión, hace falta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 enum y sealed class el compilador sabe cuándo están todos cubiertos (apartado 9).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RANGOS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Secuencias de valores para bucles, when e in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6153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1..5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1, 2, 3, 4, 5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cerrado: incluye los dos extremos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until 5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1, 2, 3, 4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Excluye el final. Ideal para recorrer índices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downTo 1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5, 4, 3, 2, 1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descendente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1..10 step 3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1, 4, 7, 10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un paso distinto de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'a'..'e'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b, c, d, 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de caracteres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nel codigo"/>
          <p:cNvSpPr/>
          <p:nvPr/>
        </p:nvSpPr>
        <p:spPr>
          <a:xfrm>
            <a:off x="548640" y="4572000"/>
            <a:ext cx="11094415" cy="923544"/>
          </a:xfrm>
          <a:prstGeom prst="roundRect">
            <a:avLst>
              <a:gd name="adj" fmla="val 7921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736592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0..17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"Menor de edad"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18..65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"Fuera del rango laboral"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· BUCLES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recorre rangos, cadenas y colecciones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5410048" cy="2171700"/>
          </a:xfrm>
          <a:prstGeom prst="roundRect">
            <a:avLst>
              <a:gd name="adj" fmla="val 336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52848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panel codigo"/>
          <p:cNvSpPr/>
          <p:nvPr/>
        </p:nvSpPr>
        <p:spPr>
          <a:xfrm>
            <a:off x="6233008" y="1417320"/>
            <a:ext cx="5410048" cy="2171700"/>
          </a:xfrm>
          <a:prstGeom prst="roundRect">
            <a:avLst>
              <a:gd name="adj" fmla="val 336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50876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1965960"/>
            <a:ext cx="4952848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until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downTo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2336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el for clásico de Java: se usan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funcionan igual que en Java.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repeat(3) { ... }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repite un bloque un número de veces.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imprime?</a:t>
            </a:r>
            <a:endParaRPr lang="en-US" sz="3000" dirty="0"/>
          </a:p>
        </p:txBody>
      </p:sp>
      <p:sp>
        <p:nvSpPr>
          <p:cNvPr id="4" name="insignia actividad"/>
          <p:cNvSpPr/>
          <p:nvPr/>
        </p:nvSpPr>
        <p:spPr>
          <a:xfrm>
            <a:off x="548640" y="14173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373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</a:t>
            </a:r>
            <a:endParaRPr lang="en-US" sz="1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17320"/>
            <a:ext cx="82597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Escribe la salida exacta del programa sin ejecutarlo. Después compruébala.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Tabla del 7 en orden descendente, de "7 x 10 = 70" a "7 x 1 = 7", con downTo y un string template.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sin argumento: "Buenos días" (6 a 13), "Buenas tardes" (14 a 20), "Buenas noches" (21 a 5) u "Hora no válida".</a:t>
            </a:r>
            <a:endParaRPr lang="en-US" sz="1800" dirty="0"/>
          </a:p>
        </p:txBody>
      </p:sp>
      <p:sp>
        <p:nvSpPr>
          <p:cNvPr id="8" name="recuadro ok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base: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Actividad2.kt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(aula virtual) o en los apuntes. Ejecútalo en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Playground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Declaración, argumentos por defecto y extension functions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DECLARACIÓN DE FUNCIONES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fun, parámetros con tipo y tipo de retorno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5410048" cy="2404110"/>
          </a:xfrm>
          <a:prstGeom prst="roundRect">
            <a:avLst>
              <a:gd name="adj" fmla="val 304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52848" cy="1690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"Hola, 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panel codigo"/>
          <p:cNvSpPr/>
          <p:nvPr/>
        </p:nvSpPr>
        <p:spPr>
          <a:xfrm>
            <a:off x="6233008" y="1417320"/>
            <a:ext cx="5410048" cy="2404110"/>
          </a:xfrm>
          <a:prstGeom prst="roundRect">
            <a:avLst>
              <a:gd name="adj" fmla="val 304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50876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1965960"/>
            <a:ext cx="4952848" cy="1690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saludar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"Hola, $nombre"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como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nombre: Tipo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Son de solo lectura, como val.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valor de retorno, el tipo es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(equivale a void) y no se escribe.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FUNCIÓN DE EXPRESIÓN ÚNICA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el cuerpo es una sola expresión, sobran las llaves y el return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2875788"/>
          </a:xfrm>
          <a:prstGeom prst="roundRect">
            <a:avLst>
              <a:gd name="adj" fmla="val 254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2546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esMayorDeEdad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estadoBateria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"Baja"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"Normal"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"Alta"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retorno se infiere del resultado de la expresión.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· ARGUMENTOS POR DEFECTO Y CON NOMBRE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función con muchas formas de llamarla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2209546"/>
          </a:xfrm>
          <a:prstGeom prst="roundRect">
            <a:avLst>
              <a:gd name="adj" fmla="val 3311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1880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crearUsuario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"$nombre, $edad años, activo: $activo"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crearUsuario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</a:t>
            </a:r>
            <a:r>
              <a:rPr lang="en-US" sz="17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Ana, 18 años, activo: true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crearUsuario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"Luis"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7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Luis, 25 años, activo: true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crearUsuario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"Eva"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activo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7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Eva, 18 años, activo: false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crearUsuario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"Raúl"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7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Raúl, 30 años, activo: true</a:t>
            </a:r>
            <a:endParaRPr lang="en-US" sz="1700" dirty="0"/>
          </a:p>
        </p:txBody>
      </p:sp>
      <p:sp>
        <p:nvSpPr>
          <p:cNvPr id="6" name="recuadro info"/>
          <p:cNvSpPr/>
          <p:nvPr/>
        </p:nvSpPr>
        <p:spPr>
          <a:xfrm>
            <a:off x="548640" y="4114800"/>
            <a:ext cx="11094415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20624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Adiós a la sobrecarga de métodos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una función con valores por defecto. Jetpack Compose lo usa constantemente: pasas por nombre solo los parámetros que quieres cambiar.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· EXTENSION FUNCTIONS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Añadir funciones a una clase sin modificarla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2875788"/>
          </a:xfrm>
          <a:prstGeom prst="roundRect">
            <a:avLst>
              <a:gd name="adj" fmla="val 254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2546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esPalindromo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limpio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lowercase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limpio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limpio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"Anita lava la tina"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esPalindromo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</a:t>
            </a:r>
            <a:endParaRPr lang="en-US" sz="1800" dirty="0"/>
          </a:p>
        </p:txBody>
      </p:sp>
      <p:sp>
        <p:nvSpPr>
          <p:cNvPr id="6" name="recuadro info"/>
          <p:cNvSpPr/>
          <p:nvPr/>
        </p:nvSpPr>
        <p:spPr>
          <a:xfrm>
            <a:off x="548640" y="452628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6177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llaman como un método más y dentro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el objeto. La clase no cambia. Las librerías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KTX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Android son, sobre todo, extension functions.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3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con comprobaciones</a:t>
            </a:r>
            <a:endParaRPr lang="en-US" sz="3000" dirty="0"/>
          </a:p>
        </p:txBody>
      </p:sp>
      <p:sp>
        <p:nvSpPr>
          <p:cNvPr id="4" name="insignia actividad"/>
          <p:cNvSpPr/>
          <p:nvPr/>
        </p:nvSpPr>
        <p:spPr>
          <a:xfrm>
            <a:off x="548640" y="14173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373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</a:t>
            </a:r>
            <a:endParaRPr lang="en-US" sz="1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17320"/>
            <a:ext cx="82597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las funciones hasta que todas las pruebas den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800" dirty="0"/>
          </a:p>
          <a:p>
            <a:pPr lvl="1" marL="457200" indent="-228600"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precioConIva, calificacion (con when), esBisiesto y fizzBuzz.</a:t>
            </a:r>
            <a:endParaRPr lang="en-US" sz="1800" dirty="0"/>
          </a:p>
          <a:p>
            <a:pPr lvl="1" marL="457200" indent="-228600"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extension functions Int.esPrimo() y String.contarVocales().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pases a la siguiente función hasta que la anterior dé OK.</a:t>
            </a:r>
            <a:endParaRPr lang="en-US" sz="1800" dirty="0"/>
          </a:p>
        </p:txBody>
      </p:sp>
      <p:sp>
        <p:nvSpPr>
          <p:cNvPr id="8" name="recuadro ok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base: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Actividad3.kt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(aula virtual) o en los apuntes. Ejecútalo en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Playground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safety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Kotlin evita el NullPointerException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· EL PROBLEMA DEL NULL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defecto, ninguna variable puede valer null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2318004"/>
          </a:xfrm>
          <a:prstGeom prst="roundRect">
            <a:avLst>
              <a:gd name="adj" fmla="val 315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nombre = null                 // Error: un String no admite null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apodo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"Anita"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String? admite null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apodo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correcto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println(apodo.length)         // Error: hay que comprobar antes si es null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String?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distintos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compilador obliga a tratar el caso null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ejecutar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en el móvil del usuario.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· HERRAMIENTAS PARA TRABAJAR CON NULL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formas de tratar un valor que puede ser null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55138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Sintaxis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cast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(x != null) x.length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 del if, x ya no es nullable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Llamada segura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x?.length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x es null, devuelve null sin error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 Elvis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?: valor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la izquierda es null, usa el valor de la derecha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Aserción no nula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x!!.length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x es null, lanza NullPointerException. Evítalo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x?.let { ... }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Ejecuta el bloque solo si x no es null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Conversión segura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as? Tipo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no puede convertir, devuelve null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· LAS HERRAMIENTAS EN ACCIÓN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cast, ?., ?: y let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3154680"/>
          </a:xfrm>
          <a:prstGeom prst="roundRect">
            <a:avLst>
              <a:gd name="adj" fmla="val 231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apodo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apodo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apodo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smart cast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apodo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null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longitudSegura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apodo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apodo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 apodo es $it"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se ejecuta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"veinte"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toIntOrNull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null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llamadas seguras se encadenan: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usuario?.direccion?.ciudad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· DOS AVISOS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conviene tener presente</a:t>
            </a:r>
            <a:endParaRPr lang="en-US" sz="3000" dirty="0"/>
          </a:p>
        </p:txBody>
      </p:sp>
      <p:sp>
        <p:nvSpPr>
          <p:cNvPr id="4" name="tarjeta Evita el operador !!"/>
          <p:cNvSpPr/>
          <p:nvPr/>
        </p:nvSpPr>
        <p:spPr>
          <a:xfrm>
            <a:off x="548640" y="1417320"/>
            <a:ext cx="541004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317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el operador !!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49528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posible NullPointerException. Casi siempre hay una alternativa mejor: comprobar con if, usar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?.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?: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usar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9" name="tarjeta Kotlin y las APIs de Java"/>
          <p:cNvSpPr/>
          <p:nvPr/>
        </p:nvSpPr>
        <p:spPr>
          <a:xfrm>
            <a:off x="6233008" y="1417320"/>
            <a:ext cx="541004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1608" y="16459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480" y="17647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61608" y="23317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y las APIs de Java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61608" y="2743200"/>
            <a:ext cx="49528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no indica si un valor puede ser null. Esos valores tienen un </a:t>
            </a:r>
            <a:r>
              <a:rPr lang="en-US" sz="17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type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(por ejemplo 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String!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la responsabilidad es tuya. Muchas APIs de Android están anotadas con @Nullable y @NonNull.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Caza el NullPointerException</a:t>
            </a:r>
            <a:endParaRPr lang="en-US" sz="3000" dirty="0"/>
          </a:p>
        </p:txBody>
      </p:sp>
      <p:sp>
        <p:nvSpPr>
          <p:cNvPr id="4" name="insignia actividad"/>
          <p:cNvSpPr/>
          <p:nvPr/>
        </p:nvSpPr>
        <p:spPr>
          <a:xfrm>
            <a:off x="548640" y="14173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373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</a:t>
            </a:r>
            <a:endParaRPr lang="en-US" sz="1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17320"/>
            <a:ext cx="82597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Completa longitud, saludo, parsearEdad, primeraLetra y sumaSegura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usar !!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Predice qué imprime cada línea del fragmento. ¿Cuál detiene el programa?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Reescribe esa línea para que no falle e imprima -1.</a:t>
            </a:r>
            <a:endParaRPr lang="en-US" sz="1800" dirty="0"/>
          </a:p>
        </p:txBody>
      </p:sp>
      <p:sp>
        <p:nvSpPr>
          <p:cNvPr id="8" name="recuadro ok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base: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Actividad4_ParteA.kt y Actividad4_ParteB.kt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(aula virtual) o en los apuntes. Ejecútalo en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Playground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Lambdas y funciones de orden superior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también son valores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· LAS FUNCIONES COMO VALORES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función y lambdas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función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(Int, Int) -&gt; Int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Recibe dos Int y devuelve un Int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(String) -&gt; Boolean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Recibe un String y devuelve un Boolean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() -&gt; Unit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recibe nada ni devuelve nada: una acción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nel codigo"/>
          <p:cNvSpPr/>
          <p:nvPr/>
        </p:nvSpPr>
        <p:spPr>
          <a:xfrm>
            <a:off x="548640" y="3520440"/>
            <a:ext cx="11094415" cy="1760220"/>
          </a:xfrm>
          <a:prstGeom prst="roundRect">
            <a:avLst>
              <a:gd name="adj" fmla="val 415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685032"/>
            <a:ext cx="10637215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"Botón pulsado"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doble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 parámetro: it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7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· ANATOMÍA DE UNA LAMBDA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llaves: parámetros, flecha y cuerpo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0" y="1828800"/>
            <a:ext cx="8138160" cy="1188720"/>
          </a:xfrm>
          <a:prstGeom prst="roundRect">
            <a:avLst>
              <a:gd name="adj" fmla="val 769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0" y="182880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r>
              <a:rPr lang="en-US" sz="4000" b="1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</a:t>
            </a:r>
            <a:r>
              <a:rPr lang="en-US" sz="4000" b="1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</a:t>
            </a:r>
            <a:r>
              <a:rPr lang="en-US" sz="4000" b="1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</a:t>
            </a:r>
            <a:r>
              <a:rPr lang="en-US" sz="4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154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C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371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3154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expresión es lo que devuelve la lambda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se escribe return.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único parámetro no hace falta nombrarlo: se usa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 a las lambdas de Java 8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-&gt; a + b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pero los tipos función son parte del lenguaje.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· FUNCIONES DE ORDEN SUPERIOR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que reciben o devuelven funciones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2472944"/>
          </a:xfrm>
          <a:prstGeom prst="roundRect">
            <a:avLst>
              <a:gd name="adj" fmla="val 295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214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operar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operacion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operacion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operar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7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9: lambda como argumento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operar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18: trailing lambda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operar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7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3: referencia a una función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690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lambda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 el último parámetro es una función, la lambda va fuera de los paréntesis.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 una referencia a una función que ya existe.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· LO VERÁS CONSTANTEMENTE EN ANDROID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Adelanto de Jetpack Compose (UT3)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6949440" cy="1388364"/>
          </a:xfrm>
          <a:prstGeom prst="roundRect">
            <a:avLst>
              <a:gd name="adj" fmla="val 526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6492240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"Pulsado $contador veces"</a:t>
            </a: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200" dirty="0"/>
          </a:p>
        </p:txBody>
      </p:sp>
      <p:sp>
        <p:nvSpPr>
          <p:cNvPr id="6" name="tarjeta onClick"/>
          <p:cNvSpPr/>
          <p:nvPr/>
        </p:nvSpPr>
        <p:spPr>
          <a:xfrm>
            <a:off x="7772400" y="1417320"/>
            <a:ext cx="386791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01000" y="16459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176479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01000" y="233172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743200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lambda que se ejecuta al pulsar.</a:t>
            </a:r>
            <a:endParaRPr lang="en-US" sz="1600" dirty="0"/>
          </a:p>
        </p:txBody>
      </p:sp>
      <p:sp>
        <p:nvSpPr>
          <p:cNvPr id="11" name="tarjeta Trailing lambda"/>
          <p:cNvSpPr/>
          <p:nvPr/>
        </p:nvSpPr>
        <p:spPr>
          <a:xfrm>
            <a:off x="7772400" y="3520440"/>
            <a:ext cx="386791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01000" y="374904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386791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001000" y="443484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lambda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001000" y="4846320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 que se dibuja dentro del botón.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· SCOPE FUNCTIONS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Ejecutar un bloque de código sobre un objeto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2560320"/>
                <a:gridCol w="52395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dentro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Devuelve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típico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del bloque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solo si no es null: </a:t>
                      </a: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x?.let { 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propio objeto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Configurar un objeto recién creado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propio objeto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adicional, como un log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del bloque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Calcular un valor a partir de un objeto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del bloque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run: </a:t>
                      </a: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with(x) { 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uadro ok"/>
          <p:cNvSpPr/>
          <p:nvPr/>
        </p:nvSpPr>
        <p:spPr>
          <a:xfrm>
            <a:off x="548640" y="489204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9834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cubrirás la mayoría de los casos. Lo importante es reconocerlas en código ajeno.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· APPLY Y LET EN ACCIÓN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dos más habituales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3154680"/>
          </a:xfrm>
          <a:prstGeom prst="roundRect">
            <a:avLst>
              <a:gd name="adj" fmla="val 231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apply: configura el objeto y lo devuelve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"Kotlin"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en 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"Android"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Kotlin en Android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let: transforma un valor que puede ser null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42 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5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Lambdas y funciones de orden superior</a:t>
            </a:r>
            <a:endParaRPr lang="en-US" sz="3000" dirty="0"/>
          </a:p>
        </p:txBody>
      </p:sp>
      <p:sp>
        <p:nvSpPr>
          <p:cNvPr id="4" name="insignia actividad"/>
          <p:cNvSpPr/>
          <p:nvPr/>
        </p:nvSpPr>
        <p:spPr>
          <a:xfrm>
            <a:off x="548640" y="14173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373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</a:t>
            </a:r>
            <a:endParaRPr lang="en-US" sz="1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17320"/>
            <a:ext cx="82597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operar, aplicarNVeces, crearMultiplicador y contarQueCumplen.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fichaApp con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StringBuilder y apply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final, usa operar con una lambda que calcule la potencia y muestra 2 elevado a 10.</a:t>
            </a:r>
            <a:endParaRPr lang="en-US" sz="1800" dirty="0"/>
          </a:p>
        </p:txBody>
      </p:sp>
      <p:sp>
        <p:nvSpPr>
          <p:cNvPr id="8" name="recuadro ok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base: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Actividad5.kt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(aula virtual) o en los apuntes. Ejecútalo en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Playground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Colecciones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Set, Map y sus operaciones funcionales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· TIPOS DE COLECCIONES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tipo tiene una versión de solo lectura y otra mutable</a:t>
            </a:r>
            <a:endParaRPr lang="en-US" sz="3000" dirty="0"/>
          </a:p>
        </p:txBody>
      </p:sp>
      <p:sp>
        <p:nvSpPr>
          <p:cNvPr id="4" name="tarjeta Lista"/>
          <p:cNvSpPr/>
          <p:nvPr/>
        </p:nvSpPr>
        <p:spPr>
          <a:xfrm>
            <a:off x="548640" y="1417320"/>
            <a:ext cx="3515258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31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30580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listOf(...)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mutableListOf(...)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Ordenada, por índice, admite repetidos.</a:t>
            </a:r>
            <a:endParaRPr lang="en-US" sz="1700" dirty="0"/>
          </a:p>
        </p:txBody>
      </p:sp>
      <p:sp>
        <p:nvSpPr>
          <p:cNvPr id="9" name="tarjeta Conjunto"/>
          <p:cNvSpPr/>
          <p:nvPr/>
        </p:nvSpPr>
        <p:spPr>
          <a:xfrm>
            <a:off x="4338218" y="1417320"/>
            <a:ext cx="3515258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0" y="17647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66818" y="2331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743200"/>
            <a:ext cx="30580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setOf(...)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mutableSetOf(...)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elementos repetidos.</a:t>
            </a:r>
            <a:endParaRPr lang="en-US" sz="1700" dirty="0"/>
          </a:p>
        </p:txBody>
      </p:sp>
      <p:sp>
        <p:nvSpPr>
          <p:cNvPr id="14" name="tarjeta Mapa"/>
          <p:cNvSpPr/>
          <p:nvPr/>
        </p:nvSpPr>
        <p:spPr>
          <a:xfrm>
            <a:off x="8127797" y="1417320"/>
            <a:ext cx="3515258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269" y="17647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6397" y="2331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56397" y="2743200"/>
            <a:ext cx="30580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mapOf(k to v)</a:t>
            </a: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7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mutableMapOf(...)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clave-valor con claves únicas.</a:t>
            </a:r>
            <a:endParaRPr lang="en-US" sz="1700" dirty="0"/>
          </a:p>
        </p:txBody>
      </p:sp>
      <p:sp>
        <p:nvSpPr>
          <p:cNvPr id="19" name="recuadro warn"/>
          <p:cNvSpPr/>
          <p:nvPr/>
        </p:nvSpPr>
        <p:spPr>
          <a:xfrm>
            <a:off x="548640" y="4343400"/>
            <a:ext cx="11094415" cy="1280160"/>
          </a:xfrm>
          <a:prstGeom prst="roundRect">
            <a:avLst>
              <a:gd name="adj" fmla="val 5714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443484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4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no significa inmutable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colecciones de solo lectura salvo que necesites modificarlas. Una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una lista mutable no se puede reasignar, pero sí se pueden añadir y quitar elementos.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· LISTAS Y MAPAS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Acceso, modificación y recorrido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3340608"/>
          </a:xfrm>
          <a:prstGeom prst="roundRect">
            <a:avLst>
              <a:gd name="adj" fmla="val 219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301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listOf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"WhatsApp"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"Instagram"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"Strava"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6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WhatsApp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getOrNull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null (sin excepción)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favoritas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mutableListOf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"Spotify"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favoritas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"Duolingo"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equivale a add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mutableMapOf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"WhatsApp"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"Strava"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"Waze"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añade o modifica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"TikTok"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null: devuelve un tipo nullable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millones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"$app: $millones"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· OPERACIONES FUNCIONALES (I)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Reciben una lambda y nunca modifican la colección original</a:t>
            </a:r>
            <a:endParaRPr lang="en-US" sz="3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487375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listOf(3, 8, 1, 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queda con los que cumplen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filter { it &gt; 2 }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[3, 8, 6]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 cada elemento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map { it * 10 }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[30, 80, 10, 60]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forEach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con cada elemento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forEach { println(it) }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los que cumplen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 { it % 2 == 0 }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/ all / none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Alguno, todos o ninguno cumple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any { it &gt; 7 }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true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firstOrNull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Primero que cumple, o null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firstOrNull { it &gt; 9 }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null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/ sortedBy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 (por un criterio)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sorted()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[1, 3, 6, 8]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· OPERACIONES FUNCIONALES (II)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Agregar, agrupar y convertir</a:t>
            </a:r>
            <a:endParaRPr lang="en-US" sz="3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45079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listOf(3, 8, 1, 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/ sumOf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Suma, o suma de un valor calculado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sumOf { it * 2 }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36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average()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4.5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maxOrNull / maxByOrNull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 (según un criterio)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maxOrNull()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 en un mapa por una clave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groupBy { it % 2 == 0 }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/ drop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 o descarta los n primeros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take(2)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[3, 8]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 los repetidos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listOf(1, 1, 2).distinct()</a:t>
                      </a: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[1, 2]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joinToString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los elementos en un texto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joinToString(" - ")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· ENCADENAR OPERACIONES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lee de arriba abajo, como una receta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5410048" cy="2171700"/>
          </a:xfrm>
          <a:prstGeom prst="roundRect">
            <a:avLst>
              <a:gd name="adj" fmla="val 336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(con bucle)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52848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toUpperCase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panel codigo"/>
          <p:cNvSpPr/>
          <p:nvPr/>
        </p:nvSpPr>
        <p:spPr>
          <a:xfrm>
            <a:off x="6233008" y="1417320"/>
            <a:ext cx="5410048" cy="2171700"/>
          </a:xfrm>
          <a:prstGeom prst="roundRect">
            <a:avLst>
              <a:gd name="adj" fmla="val 336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50876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(operaciones funcionales)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1965960"/>
            <a:ext cx="4952848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uppercase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panel codigo"/>
          <p:cNvSpPr/>
          <p:nvPr/>
        </p:nvSpPr>
        <p:spPr>
          <a:xfrm>
            <a:off x="548640" y="3749040"/>
            <a:ext cx="11094415" cy="1853184"/>
          </a:xfrm>
          <a:prstGeom prst="roundRect">
            <a:avLst>
              <a:gd name="adj" fmla="val 394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13632"/>
            <a:ext cx="1063721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aprobados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solo los aprobados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lista de pares (nombre, nota)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sortedByDescending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 mayor a menor nota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"${it.first} (${it.second})"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joinToString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Eva (9.25), Ana (7.5), Raúl (6.0)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6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Colecciones</a:t>
            </a:r>
            <a:endParaRPr lang="en-US" sz="3000" dirty="0"/>
          </a:p>
        </p:txBody>
      </p:sp>
      <p:sp>
        <p:nvSpPr>
          <p:cNvPr id="4" name="insignia actividad"/>
          <p:cNvSpPr/>
          <p:nvPr/>
        </p:nvSpPr>
        <p:spPr>
          <a:xfrm>
            <a:off x="548640" y="14173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373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</a:t>
            </a:r>
            <a:endParaRPr lang="en-US" sz="1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17320"/>
            <a:ext cx="82597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las siete funciones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bucles for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solo con operaciones funcionales.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empiezanPor, longitudes, totalDescargas, masDescargada, conAlMenos, agruparPorInicial y resumen.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(apps y descargas en millones) ya están en el main.</a:t>
            </a:r>
            <a:endParaRPr lang="en-US" sz="1800" dirty="0"/>
          </a:p>
        </p:txBody>
      </p:sp>
      <p:sp>
        <p:nvSpPr>
          <p:cNvPr id="8" name="recuadro ok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base: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Actividad6.kt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(aula virtual) o en los apuntes. Ejecútalo en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Playground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8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 y data classes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 a objetos (I)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· CLASES Y CONSTRUCTOR PRIMARIO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diferencia más visible respecto a Java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5410048" cy="3566160"/>
          </a:xfrm>
          <a:prstGeom prst="roundRect">
            <a:avLst>
              <a:gd name="adj" fmla="val 2051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5284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Dispositivo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Dispositivo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+ 3 getters y 1 setter...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panel codigo"/>
          <p:cNvSpPr/>
          <p:nvPr/>
        </p:nvSpPr>
        <p:spPr>
          <a:xfrm>
            <a:off x="6233008" y="1417320"/>
            <a:ext cx="5410048" cy="3566160"/>
          </a:xfrm>
          <a:prstGeom prst="roundRect">
            <a:avLst>
              <a:gd name="adj" fmla="val 2051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50876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1965960"/>
            <a:ext cx="495284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Dispositivo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· PROPIEDADES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Atributo, getter y setter en un único concepto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2736342"/>
          </a:xfrm>
          <a:prstGeom prst="roundRect">
            <a:avLst>
              <a:gd name="adj" fmla="val 267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2407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Dispositivo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"$marca $modelo ($bateria %)"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movil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Dispositivo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"Google"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"Pixel 9"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 new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movil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</a:t>
            </a:r>
            <a:r>
              <a:rPr lang="en-US" sz="17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llama al getter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movil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bateria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</a:t>
            </a:r>
            <a:r>
              <a:rPr lang="en-US" sz="17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llama al setter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movil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17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Google Pixel 9 (50 %)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parámetro con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constructor primario es también una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y sus miembros son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defecto.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· INIT, REQUIRE Y PROPIEDADES CALCULADAS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al crear el objeto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3154680"/>
          </a:xfrm>
          <a:prstGeom prst="roundRect">
            <a:avLst>
              <a:gd name="adj" fmla="val 231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Pantalla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anchoPx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altoPx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dpi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dpi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 densidad debe ser positiva"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Propiedad calculada: se calcula cada vez que se lee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anchoDp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anchoPx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dpi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46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lanza una IllegalArgumentException con el mensaje si la condición no se cumple.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· SETTERS PERSONALIZADOS Y PRIVATE SET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Controlar cómo cambia una propiedad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2318004"/>
          </a:xfrm>
          <a:prstGeom prst="roundRect">
            <a:avLst>
              <a:gd name="adj" fmla="val 315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brillo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coerceIn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field: el valor almacenado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vecesEncendida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solo se modifica desde dentro</a:t>
            </a:r>
            <a:endParaRPr lang="en-US" sz="1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9711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Modificador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Visibilidad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cualquier sitio (por defecto)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dentro de la clase o del fichero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clase y sus subclases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 del mismo módulo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· DATA CLASSES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clases que solo guardan datos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2101088"/>
          </a:xfrm>
          <a:prstGeom prst="roundRect">
            <a:avLst>
              <a:gd name="adj" fmla="val 348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177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"Strava"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"Deporte"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App(nombre=Strava, categoria=Deporte, descargas=100)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"Strava"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"Deporte"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true: mismo contenido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copia cambiando una propiedad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desestructuración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5678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840480"/>
            <a:ext cx="2567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toString()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90824" y="3840480"/>
            <a:ext cx="25678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90824" y="3840480"/>
            <a:ext cx="2567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equals() y hashCode()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contenido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3008" y="3840480"/>
            <a:ext cx="25678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3008" y="3840480"/>
            <a:ext cx="2567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copy()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con cambios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75191" y="3840480"/>
            <a:ext cx="25678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75191" y="3840480"/>
            <a:ext cx="2567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componentN()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desestructuración</a:t>
            </a:r>
            <a:endParaRPr lang="en-US" sz="1600" dirty="0"/>
          </a:p>
        </p:txBody>
      </p:sp>
      <p:sp>
        <p:nvSpPr>
          <p:cNvPr id="14" name="recuadro info"/>
          <p:cNvSpPr/>
          <p:nvPr/>
        </p:nvSpPr>
        <p:spPr>
          <a:xfrm>
            <a:off x="548640" y="498348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07492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es la base del estado en Compose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 una pantalla se guarda en una data class y se actualiza creando una copia: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 = estado.copy(cargando = false)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7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 y data classes</a:t>
            </a:r>
            <a:endParaRPr lang="en-US" sz="3000" dirty="0"/>
          </a:p>
        </p:txBody>
      </p:sp>
      <p:sp>
        <p:nvSpPr>
          <p:cNvPr id="4" name="insignia actividad"/>
          <p:cNvSpPr/>
          <p:nvPr/>
        </p:nvSpPr>
        <p:spPr>
          <a:xfrm>
            <a:off x="548640" y="14173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373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</a:t>
            </a:r>
            <a:endParaRPr lang="en-US" sz="1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17320"/>
            <a:ext cx="82597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PlanDatos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valida en init con require; consumir, restantes y porcentajeUso.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marcarFavorito (con copy) y nombresFavoritos.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gigasConsumidos tiene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set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¿Qué pasaría si fuera un var normal?</a:t>
            </a:r>
            <a:endParaRPr lang="en-US" sz="1800" dirty="0"/>
          </a:p>
        </p:txBody>
      </p:sp>
      <p:sp>
        <p:nvSpPr>
          <p:cNvPr id="8" name="recuadro ok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base: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Actividad7.kt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(aula virtual) o en los apuntes. Ejecútalo en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Playground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9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Herencia, interfaces y tipos especiales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Orientación a objetos (II)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· HERENCIA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clases son final por defecto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2596896"/>
          </a:xfrm>
          <a:prstGeom prst="roundRect">
            <a:avLst>
              <a:gd name="adj" fmla="val 281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Notificacion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"[Aviso] $titulo"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NotificacionMensaje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remitente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Notificacion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"[Mensaje de $remitente] $titulo"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heredar, la clase y los métodos deben ser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Sobrescribir exige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paréntesis tras la clase padre son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llamada a su constructor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(como super(...)).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· CLASES ABSTRACTAS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 instancian y obligan a implementar métodos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2596896"/>
          </a:xfrm>
          <a:prstGeom prst="roundRect">
            <a:avLst>
              <a:gd name="adj" fmla="val 281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"$nombre: ${leer()}"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SensorTemperatura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"Temperatura"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24.5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recuadro ok"/>
          <p:cNvSpPr/>
          <p:nvPr/>
        </p:nvSpPr>
        <p:spPr>
          <a:xfrm>
            <a:off x="548640" y="4023360"/>
            <a:ext cx="11094415" cy="1143000"/>
          </a:xfrm>
          <a:prstGeom prst="roundRect">
            <a:avLst>
              <a:gd name="adj" fmla="val 6400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11480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empieza toda app Android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parte 2 verás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MainActivity : ComponentActivity()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MainActivity hereda de una clase de Android y sobrescribe métodos como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onCreate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· INTERFACES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Contratos con implementación por defecto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3092704"/>
          </a:xfrm>
          <a:prstGeom prst="roundRect">
            <a:avLst>
              <a:gd name="adj" fmla="val 2365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276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Reproducible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duracionSegundos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propiedad abstracta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reproducir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método abstracto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duracionFormateada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"${duracionSegundos / 60} min"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por defecto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duracionSegundos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Reproducible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Compartible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varias interfaces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reproducir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"Reproduciendo $titulo"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enlace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"https://musica.ejemplo/$titulo"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749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equivale a instanceof y hace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cast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is Cancion) println(x.titulo)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Para convertir: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as?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· OBJECT Y COMPANION OBJECT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Kotlin no tiene static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3588512"/>
          </a:xfrm>
          <a:prstGeom prst="roundRect">
            <a:avLst>
              <a:gd name="adj" fmla="val 203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325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Configuracion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singleton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"1.0.0"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modoOscuro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como los static de Java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invitado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"Invitado"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Configuracion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modoOscuro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invitado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· ENUM CLASS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conjunto cerrado de valores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3092704"/>
          </a:xfrm>
          <a:prstGeom prst="roundRect">
            <a:avLst>
              <a:gd name="adj" fmla="val 2365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276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EstadoConexion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"Conectado por Wi-Fi"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"Conectado por datos móviles"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SIN_CONEXION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"Sin conexión"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EstadoConexion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 else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EstadoConexion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"wifi"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EstadoConexion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"4g"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EstadoConexion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SIN_CONEXION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"sin_red"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compilador conoce todos los valores: si se añade uno nuevo, el when deja de compilar hasta que se trate.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· SEALED CLASS Y SEALED INTERFACE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jerarquía cerrada en la que cada subtipo tiene sus datos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3092704"/>
          </a:xfrm>
          <a:prstGeom prst="roundRect">
            <a:avLst>
              <a:gd name="adj" fmla="val 2365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276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ResultadoDescarga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ResultadoDescarga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mensaje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ResultadoDescarga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Cargando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ResultadoDescarga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describir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ResultadoDescarga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ResultadoDescarga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"Descargados ${r.bytes} bytes"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smart cast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ResultadoDescarga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"Error: ${r.mensaje}"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ResultadoDescarga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Cargando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"Cargando..."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· ENUM O SEALED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usar cada uno</a:t>
            </a:r>
            <a:endParaRPr lang="en-US" sz="30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8737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 class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sealed class / interface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única instancia por valor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Muchas instancias de cada subclase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con las mismas propiedades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subclase con sus propiedades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Prioridades, tipos de conexión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Éxito con datos, error con mensaje o cargando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uadro info"/>
          <p:cNvSpPr/>
          <p:nvPr/>
        </p:nvSpPr>
        <p:spPr>
          <a:xfrm>
            <a:off x="548640" y="402336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11480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usaremos para el estado de las pantallas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Cargando, Exito con los datos o Error con el mensaje: la interfaz muestra una cosa u otra con un when (UT3 y UT5).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8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Herencia, interfaces, enum y sealed</a:t>
            </a:r>
            <a:endParaRPr lang="en-US" sz="3000" dirty="0"/>
          </a:p>
        </p:txBody>
      </p:sp>
      <p:sp>
        <p:nvSpPr>
          <p:cNvPr id="4" name="insignia actividad"/>
          <p:cNvSpPr/>
          <p:nvPr/>
        </p:nvSpPr>
        <p:spPr>
          <a:xfrm>
            <a:off x="548640" y="14173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373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</a:t>
            </a:r>
            <a:endParaRPr lang="en-US" sz="1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17320"/>
            <a:ext cx="82597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TareaSimple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TareaCompuesta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(suma de subtareas y describir sobrescrito).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urgentes: títulos de las tareas con prioridad ALTA.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mensaje: un texto para cada Evento con un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sin else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CRITICA a Prioridad y un nuevo Evento. ¿Qué ocurre al compilar?</a:t>
            </a:r>
            <a:endParaRPr lang="en-US" sz="1800" dirty="0"/>
          </a:p>
        </p:txBody>
      </p:sp>
      <p:sp>
        <p:nvSpPr>
          <p:cNvPr id="8" name="recuadro ok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base: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Actividad8.kt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(aula virtual) o en los apuntes. Ejecútalo en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Playground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920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8803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APARTADO 10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2461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a las corrutinas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0624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asíncrono sin bloquear la interfaz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· EL PROBLEMA: EL HILO PRINCIPAL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Dibuja la interfaz y responde a los toques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64328" cy="2834640"/>
          </a:xfrm>
          <a:prstGeom prst="roundRect">
            <a:avLst>
              <a:gd name="adj" fmla="val 2581"/>
            </a:avLst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81568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principal bloqueado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a una descarga de internet o a la base de datos. La app se congela. A los 5 segundos aparece el diálogo ANR (Application Not Responding).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78728" y="1417320"/>
            <a:ext cx="5364328" cy="2834640"/>
          </a:xfrm>
          <a:prstGeom prst="roundRect">
            <a:avLst>
              <a:gd name="adj" fmla="val 2581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00200"/>
            <a:ext cx="481568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F6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corrutinas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lenta se suspende mientras espera. El hilo queda libre y la interfaz sigue respondiendo.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262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hilos (caros) y callbacks anidados (difíciles de leer).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corrutina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puede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suspender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reanudar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bloquear el hilo. Son tan ligeras que se lanzan miles.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 · FUNCIONES SUSPEND Y CONSTRUCTORES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piezas básicas</a:t>
            </a:r>
            <a:endParaRPr lang="en-US" sz="30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 fun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que puede suspenderse. Solo se llama desde una corrutina u otra suspend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delay(ms)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Suspende sin bloquear el hilo (la versión de Thread.sleep para corrutinas)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runBlocking { 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 el hilo hasta que termina. Solo para ejemplos y tests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{ 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Lanza una corrutina sin resultado. Devuelve un Job (join, cancel)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{ 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Lanza una corrutina con resultado. Devuelve un Deferred: await()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Kotlin Playground basta con añadir </a:t>
            </a:r>
            <a:r>
              <a:rPr lang="en-US" sz="18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kotlinx.coroutines.*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 · PRIMER EJEMPLO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no espera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6766560" cy="2999740"/>
          </a:xfrm>
          <a:prstGeom prst="roundRect">
            <a:avLst>
              <a:gd name="adj" fmla="val 243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6309360" cy="2670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kotlinx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coroutines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runBlocking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1000L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"mundo"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"Hola,"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Salida: Hola, y un segundo después: mundo</a:t>
            </a:r>
            <a:endParaRPr lang="en-US" sz="1700" dirty="0"/>
          </a:p>
        </p:txBody>
      </p:sp>
      <p:sp>
        <p:nvSpPr>
          <p:cNvPr id="6" name="tarjeta Qué ocurre"/>
          <p:cNvSpPr/>
          <p:nvPr/>
        </p:nvSpPr>
        <p:spPr>
          <a:xfrm>
            <a:off x="7589520" y="1417320"/>
            <a:ext cx="405079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18120" y="1645920"/>
            <a:ext cx="548640" cy="54864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2" y="176479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18120" y="233172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ocurre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743200"/>
            <a:ext cx="35935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lanza la corrutina y el main continúa: imprime "Hola,". La corrutina espera un segundo con delay e imprime "mundo". runBlocking no termina hasta que acaban sus corrutinas.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 · SECUENCIAL FRENTE A CONCURRENTE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independientes a la vez con async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11094415" cy="3092704"/>
          </a:xfrm>
          <a:prstGeom prst="roundRect">
            <a:avLst>
              <a:gd name="adj" fmla="val 2365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10637215" cy="276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suspend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descargarPerfil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"Perfil de Ana"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suspend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descargarMensajes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Secuencial: unos 2500 ms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perfil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descargarPerfil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mensajes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descargarMensajes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Concurrente: unos 1500 ms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perfil2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descargarPerfil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mensajes2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descargarMensajes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"${perfil2.await()}: ${mensajes2.await()} mensajes"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asíncrono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 como si fuera secuencial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sin callbacks ni hilos explícitos.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 · CONCURRENCIA ESTRUCTURADA Y CANCELACIÓN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Ninguna corrutina se queda funcionando olvidada</a:t>
            </a:r>
            <a:endParaRPr lang="en-US" sz="3000" dirty="0"/>
          </a:p>
        </p:txBody>
      </p:sp>
      <p:sp>
        <p:nvSpPr>
          <p:cNvPr id="4" name="panel codigo"/>
          <p:cNvSpPr/>
          <p:nvPr/>
        </p:nvSpPr>
        <p:spPr>
          <a:xfrm>
            <a:off x="548640" y="1417320"/>
            <a:ext cx="6766560" cy="2875788"/>
          </a:xfrm>
          <a:prstGeom prst="roundRect">
            <a:avLst>
              <a:gd name="adj" fmla="val 254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6309360" cy="2546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trabajo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"Sincronizando paso $i"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9C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trabajo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800" dirty="0">
                <a:solidFill>
                  <a:srgbClr val="8394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cancela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"Cancelada"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417320"/>
            <a:ext cx="40507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corrutina se lanza dentro de un </a:t>
            </a: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(scope).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padre no termina hasta que terminan sus hijas.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cancela el padre, se cancelan las hijas.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 · DISPATCHERS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qué hilos se ejecuta una corrutina</a:t>
            </a:r>
            <a:endParaRPr lang="en-US" sz="30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Dispatchers.Main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principal de Android: actualizar la interfaz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Dispatchers.IO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Red, ficheros y bases de datos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Dispatchers.Default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Cálculos que consumen mucha CPU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nel codigo"/>
          <p:cNvSpPr/>
          <p:nvPr/>
        </p:nvSpPr>
        <p:spPr>
          <a:xfrm>
            <a:off x="548640" y="3611880"/>
            <a:ext cx="11094415" cy="1155954"/>
          </a:xfrm>
          <a:prstGeom prst="roundRect">
            <a:avLst>
              <a:gd name="adj" fmla="val 6328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776472"/>
            <a:ext cx="10637215" cy="826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suspend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leerConfiguracion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withContext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Dispatchers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"configuración leída"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7" name="recuadro info"/>
          <p:cNvSpPr/>
          <p:nvPr/>
        </p:nvSpPr>
        <p:spPr>
          <a:xfrm>
            <a:off x="548640" y="493776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0292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Android no se usa runBlocking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los ámbitos de Android, que se cancelan solos: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viewModelScope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lifecycleScope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(UT4 y UT5).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9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Corrutinas</a:t>
            </a:r>
            <a:endParaRPr lang="en-US" sz="3000" dirty="0"/>
          </a:p>
        </p:txBody>
      </p:sp>
      <p:sp>
        <p:nvSpPr>
          <p:cNvPr id="4" name="insignia actividad"/>
          <p:cNvSpPr/>
          <p:nvPr/>
        </p:nvSpPr>
        <p:spPr>
          <a:xfrm>
            <a:off x="548640" y="141732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373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</a:t>
            </a:r>
            <a:endParaRPr lang="en-US" sz="1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417320"/>
            <a:ext cx="82597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Predice el orden de los cuatro mensajes. ¿Cuánto tarda en total?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Cambia delay por Thread.sleep. ¿Qué cambia y por qué? ¿Qué pasaría en el hilo principal de una app?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8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C.</a:t>
            </a:r>
            <a:r>
              <a:rPr lang="en-US" sz="18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Calcula cuánto tardan tres descargas secuenciales y hazlas concurrentes con async.</a:t>
            </a:r>
            <a:endParaRPr lang="en-US" sz="1800" dirty="0"/>
          </a:p>
        </p:txBody>
      </p:sp>
      <p:sp>
        <p:nvSpPr>
          <p:cNvPr id="8" name="recuadro ok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3F7EC"/>
          </a:solidFill>
          <a:ln w="12700">
            <a:solidFill>
              <a:srgbClr val="E3F7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48640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base: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Actividad9_PartesAyB.kt y Actividad9_ParteC.kt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(aula virtual) o en los apuntes. Ejecútalo en </a:t>
            </a:r>
            <a:r>
              <a:rPr lang="en-US" sz="16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Playground</a:t>
            </a: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RESUMEN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Java a Kotlin (I)</a:t>
            </a:r>
            <a:endParaRPr lang="en-US" sz="30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39593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Kotlin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mutable / inmutable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x = 5; / final int x = 5;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 x = 5 / val x = 5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Concatenar texto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"Hola " + nombre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"Hola $nombre"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 ternario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&gt; b ? a : b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(a &gt; b) a else b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switch (x) { case 1: ... }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when (x) { 1 -&gt; ... }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con contador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(int i = 0; i &lt; n; i++)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(i in 0 until n)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doble(int x) {...}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 doble(x: Int) = x * 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Admitir null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 objeto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si el tipo lleva 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contenido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a.equals(b)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== b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RESUMEN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Java a Kotlin (II)</a:t>
            </a:r>
            <a:endParaRPr lang="en-US" sz="30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  <a:gridCol w="37764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Kotlin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instanceof y cast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(o instanceof A) ((A) o).m();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(o is A) o.m()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objeto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 Persona("Ana")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Persona("Ana")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Herencia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 B extends A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 B : A()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Implementar interfaz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 B implements I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 B : I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Miembros static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static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companion object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de datos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Atributos, getters, equals...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 class P(val x: Int)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(a, b) -&gt; a + b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F6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 a, b -&gt; a + b }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ERRORES FRECUENTES AL VENIR DE JAVA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Revísalos antes de la práctica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el tipo delante del nombre en lugar de detrás: </a:t>
            </a:r>
            <a:r>
              <a:rPr lang="en-US" sz="19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nombre: String</a:t>
            </a: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un Int a un Long o Double sin </a:t>
            </a:r>
            <a:r>
              <a:rPr lang="en-US" sz="19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toLong()</a:t>
            </a: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9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toDouble()</a:t>
            </a: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</a:t>
            </a:r>
            <a:r>
              <a:rPr lang="en-US" sz="19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poder heredar, o los paréntesis de la clase padre: </a:t>
            </a:r>
            <a:r>
              <a:rPr lang="en-US" sz="19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 : A()</a:t>
            </a: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</a:t>
            </a:r>
            <a:r>
              <a:rPr lang="en-US" sz="19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</a:t>
            </a: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que el compilador deje de quejarse.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</a:t>
            </a:r>
            <a:r>
              <a:rPr lang="en-US" sz="1900" dirty="0">
                <a:solidFill>
                  <a:srgbClr val="0F6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una lista creada con listOf: hay que usar mutableListOf.</a:t>
            </a:r>
            <a:endParaRPr lang="en-US" sz="19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return dentro de una lambda para devolver un valor.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sabes Kotlin: ahora, a construir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17325A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200400"/>
            <a:ext cx="640080" cy="6400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3558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977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43484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dominio en Kotlin. Entrega: domingo 18/10.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38218" y="292608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17325A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2538" y="3200400"/>
            <a:ext cx="640080" cy="6400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986" y="33558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3977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443484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una app Android, ciclo de vida, Logcat y ADB.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27797" y="292608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17325A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02117" y="3200400"/>
            <a:ext cx="640080" cy="64008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565" y="33558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3977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práctica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443484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y análisis y modificación de una app.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UT2 · Parte 1 · El lenguaje Kotlin</dc:title>
  <dc:subject>PptxGenJS Presentation</dc:subject>
  <dc:creator>Carlos Luque González</dc:creator>
  <cp:lastModifiedBy>Carlos Luque González</cp:lastModifiedBy>
  <cp:revision>1</cp:revision>
  <dcterms:created xsi:type="dcterms:W3CDTF">2026-10-05T16:27:32Z</dcterms:created>
  <dcterms:modified xsi:type="dcterms:W3CDTF">2026-10-05T16:27:32Z</dcterms:modified>
</cp:coreProperties>
</file>