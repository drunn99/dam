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ón" id="{00e88055-e129-a7fd-4c0c-7f0af37a2ae9}">
          <p14:sldIdLst>
            <p14:sldId id="256"/>
            <p14:sldId id="257"/>
          </p14:sldIdLst>
        </p14:section>
        <p14:section name="1. De Kotlin a Android" id="{e23db96e-da00-45ae-d6c5-155b06a4d14a}">
          <p14:sldIdLst>
            <p14:sldId id="258"/>
            <p14:sldId id="259"/>
            <p14:sldId id="260"/>
            <p14:sldId id="261"/>
            <p14:sldId id="262"/>
          </p14:sldIdLst>
        </p14:section>
        <p14:section name="2. Crear el primer proyecto" id="{aa60c840-d350-e49b-b3f8-9cdf60495a3b}">
          <p14:sldIdLst>
            <p14:sldId id="263"/>
            <p14:sldId id="264"/>
            <p14:sldId id="265"/>
            <p14:sldId id="266"/>
          </p14:sldIdLst>
        </p14:section>
        <p14:section name="3. Recorrido por el proyecto" id="{bd877663-e9e3-9348-004c-972895d8ca8b}">
          <p14:sldIdLst>
            <p14:sldId id="267"/>
            <p14:sldId id="268"/>
            <p14:sldId id="269"/>
            <p14:sldId id="270"/>
            <p14:sldId id="271"/>
          </p14:sldIdLst>
        </p14:section>
        <p14:section name="4. Gradle con Kotlin DSL" id="{c48a32de-ee04-dc92-dd31-b52a4f6d077f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5. El manifiesto" id="{3783f945-7da5-5a2a-024d-ac47543c6cc8}">
          <p14:sldIdLst>
            <p14:sldId id="282"/>
            <p14:sldId id="283"/>
            <p14:sldId id="284"/>
            <p14:sldId id="285"/>
            <p14:sldId id="286"/>
          </p14:sldIdLst>
        </p14:section>
        <p14:section name="6. Los recursos" id="{30fd6c5a-13ff-349e-2ca7-e21e2a4c33b6}">
          <p14:sldIdLst>
            <p14:sldId id="287"/>
            <p14:sldId id="288"/>
            <p14:sldId id="289"/>
            <p14:sldId id="290"/>
            <p14:sldId id="291"/>
          </p14:sldIdLst>
        </p14:section>
        <p14:section name="7. MainActivity" id="{55e69f14-c4c7-c34d-e662-64b101351bd3}">
          <p14:sldIdLst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8. Los componentes" id="{01f993de-3710-632f-ab62-4b1d5030890c}">
          <p14:sldIdLst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9. El ciclo de vida" id="{2fea4511-8022-ec52-0fd8-abe1edf6e4f0}">
          <p14:sldIdLst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  <p14:section name="10. Logcat y ADB" id="{37cd5937-4f86-df30-4e1a-2909846644fc}">
          <p14:sldIdLst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</p14:sldIdLst>
        </p14:section>
        <p14:section name="11. Analizar una app" id="{d0b04db1-b326-636f-2800-19ba94eab1fc}">
          <p14:sldIdLst>
            <p14:sldId id="322"/>
            <p14:sldId id="323"/>
            <p14:sldId id="324"/>
            <p14:sldId id="325"/>
          </p14:sldIdLst>
        </p14:section>
        <p14:section name="12. Resumen" id="{f89d04a8-f291-9f53-8c85-903b0d516c58}">
          <p14:sldIdLst>
            <p14:sldId id="326"/>
            <p14:sldId id="32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Parte 2 · La estructura de una aplicación Android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Parte 2 · La estructura de una aplicación Android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FORMATIVO DE GRADO SUPERIOR · DAM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Programación Multimedia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Dispositivos Móviles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6949440" cy="1417320"/>
          </a:xfrm>
          <a:prstGeom prst="roundRect">
            <a:avLst>
              <a:gd name="adj" fmla="val 6452"/>
            </a:avLst>
          </a:prstGeom>
          <a:solidFill>
            <a:srgbClr val="17325A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3429000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UT2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342900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de una aplicación Android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280160"/>
            <a:ext cx="2560320" cy="2560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5760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CIFP Santa Catalina · Aranda de Duero — Curso 2026/2027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PARTE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código Kotlin a la app en el emulador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Kotlin a Android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2258568"/>
            <a:ext cx="457200" cy="45720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585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primer proyecto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008376"/>
            <a:ext cx="457200" cy="45720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0083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por el proyecto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3758184"/>
            <a:ext cx="457200" cy="45720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7581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con Kotlin DSL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1520" y="4507992"/>
            <a:ext cx="457200" cy="45720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5079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manifiesto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31520" y="5257800"/>
            <a:ext cx="457200" cy="45720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5257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recursos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400800" y="1508760"/>
            <a:ext cx="457200" cy="45720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MainActivity línea a línea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6400800" y="2258568"/>
            <a:ext cx="457200" cy="45720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22585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componentes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400800" y="3008376"/>
            <a:ext cx="457200" cy="45720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086600" y="30083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vida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6400800" y="3758184"/>
            <a:ext cx="457200" cy="45720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37581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Logcat y ADB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6400800" y="4507992"/>
            <a:ext cx="457200" cy="45720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086600" y="45079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una app existente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6400800" y="5257800"/>
            <a:ext cx="457200" cy="45720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7086600" y="5257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6128" y="1691640"/>
            <a:ext cx="1005840" cy="10058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4728" y="1920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2461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Kotlin a Android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062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una aplicación, cómo se construye y cómo se protege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· QUÉ ES UNA APLICACIÓN ANDROID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app no es un programa de consola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13248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consola (Parte 1)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en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termina al llegar al final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1868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decide cuándo empieza y acaba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5137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fichero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08406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en la JVM del ordenador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36208" y="1463040"/>
            <a:ext cx="5413248" cy="4663440"/>
          </a:xfrm>
          <a:prstGeom prst="roundRect">
            <a:avLst>
              <a:gd name="adj" fmla="val 1569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0528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Android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10528" y="2286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</a:t>
            </a:r>
            <a:r>
              <a:rPr lang="en-US" sz="17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sistema crea la Activity al tocar el icono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321868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la pausa, la detiene o la cierra cuando quiere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415137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proyecto: código, recursos, Gradle y manifiesto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508406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en el dispositivo, sobre ART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APK Y AAB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paquete que se instala y el que se publica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13248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013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77440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· Android Package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4956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fichero que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instala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directamente en un dispositivo. Es el que genera Android Studio al pulsar Run y el que usaremos en clase.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36208" y="1463040"/>
            <a:ext cx="5413248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8013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64808" y="2377440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 · Android App Bundle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464808" y="2788920"/>
            <a:ext cx="4956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formato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 para Google Play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desde 2021. Google Play genera con él APK optimizados para cada dispositivo.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38912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" y="4498848"/>
            <a:ext cx="1063447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F6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APK es un ZIP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están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classes.dex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(tu código compilado),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AndroidManifest.xml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 binario),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res/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resources.arsc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(recursos) y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META-INF/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(la firma: Android no instala apps sin firmar).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· EL PROCESO DE CONSTRUCCIÓN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pasa cuando pulsas 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11365992" cy="3425349"/>
          </a:xfrm>
          <a:prstGeom prst="roundRect">
            <a:avLst>
              <a:gd name="adj" fmla="val 2136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pic>
        <p:nvPicPr>
          <p:cNvPr id="5" name="Image 0" descr="/home/claude/ppt/diag/d1_build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11091672" cy="32424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2578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compila tu Kotlin, lo convierte a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D8, compila los recursos con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AAPT2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(que genera la clase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lo empaqueta todo en un APK firmado y lo instala. En el dispositivo,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ejecuta el código DEX.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· EL SANDBOX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aplicación vive en su propia caja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013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de Linux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app recibe al instalarse un UID único.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64992" y="146304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93592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8013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3592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propio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93592" y="27889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su propia instancia de ART.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181344" y="146304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9944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8013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9944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carpeta privada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409944" y="27889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/data/data/&lt;paquete&gt;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las demás apps no pueden entrar.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997696" y="146304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26296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18013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26296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226296" y="27889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Cámara, ubicación o contactos solo con permiso.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548640" y="434340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77240" y="4453128"/>
            <a:ext cx="1063447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F6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identificador de la aplicación: applicationId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nombre único con formato de paquete: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com.example.miprimeraapp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puede haber dos iguales en un dispositivo ni en Google Play. Por convenio, un dominio al revés: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es.santacatalina.notas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6128" y="1691640"/>
            <a:ext cx="1005840" cy="10058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4728" y="1920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2461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el primer proyecto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062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MiPrimeraApp: la plantilla Empty Activity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· EL ASISTENTE DE NUEVO PROYECTO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&gt; New &gt; New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38912" cy="438912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7218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New &gt; New Project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 New Project en la pantalla de bienvenida).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438912" cy="438912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40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2037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categoría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and Tablet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elige la plantilla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Activity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438912" cy="438912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93522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 los campos de la siguiente pantalla y pulsa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438912" cy="438912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66674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a que termine el primer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Sync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 primera vez tarda varios minutos.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727448"/>
            <a:ext cx="106344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B4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Activity, no Empty Views Activity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Views Activity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 un proyecto con interfaces en XML, el sistema antiguo. Nosotros trabajamos con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elige siempre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Activity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· EL ASISTENTE DE NUEVO PROYECTO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campos que hay que configurar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657600"/>
                <a:gridCol w="441655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para MiPrimeraApp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significa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MiPrimeraApp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del proyecto y nombre bajo el icono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name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com.example.miprimeraapp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Paquete del código y applicationId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location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carpeta de trabajo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 rutas con espacios o tildes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SDK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24 (Android 7.0)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mínima de Android en la que se instala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configuration language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Kotlin DSL (build.gradle.kts)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 de los ficheros de Gradle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· EJECUTAR LA APLICACIÓN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botón Run al emulador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38912" cy="438912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72184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Manager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(panel derecho) y comprueba que tienes un AVD.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438912" cy="438912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68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432304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Selecciónalo en el desplegable de dispositivos de la barra superior.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438912" cy="438912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29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392424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'app'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(botón verde o Mayús + F10).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438912" cy="438912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89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352544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construye el APK, arranca el emulador, instala y lanza la app: "Hello Android!".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98080" y="1508760"/>
            <a:ext cx="4142232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26680" y="173736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6408" y="1847088"/>
            <a:ext cx="329184" cy="32918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726680" y="242316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el emulador abierto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726680" y="2834640"/>
            <a:ext cx="36850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Arrancar el emulador es lo más lento. Si lo dejas abierto toda la sesión, cada Run solo reinstala la aplicación.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6128" y="1691640"/>
            <a:ext cx="1005840" cy="10058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4728" y="1920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2461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Recorrido por el proyecto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062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cada pieza y para qué sirve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· VISTA ANDROID Y VISTA PROJECT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formas de ver el mismo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1324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013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77440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Android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4956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por defecto. Agrupa los ficheros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su función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(código, recursos, manifiesto, Gradle) y oculta los que no sueles tocar. Es la más cómoda para trabajar.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36208" y="1463040"/>
            <a:ext cx="541324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8013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64808" y="2377440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Project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464808" y="2788920"/>
            <a:ext cx="4956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carpetas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 como están en el disco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La necesitas para saber dónde está realmente un fichero o para entregar el proyecto.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48056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" y="4590288"/>
            <a:ext cx="1063447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F6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rutas reales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en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app/src/main/java/com/example/miprimeraapp/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kotlin/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recursos en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app/src/main/res/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manifiesto en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app/src/main/AndroidManifest.xml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· VISTA ANDROID DE MIPRIMERAAPP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árbol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760720" cy="4800600"/>
          </a:xfrm>
          <a:prstGeom prst="roundRect">
            <a:avLst>
              <a:gd name="adj" fmla="val 152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app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56232"/>
            <a:ext cx="530352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manifests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AndroidManifest.xml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kotlin+java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com.example.miprimeraapp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MainActivity.kt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ui.theme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    ├── Color.kt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    ├── Theme.kt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    └── Type.kt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... (androidTest)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... (test)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drawable    ├── mipmap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values      └── xml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1417320"/>
            <a:ext cx="5148072" cy="3063240"/>
          </a:xfrm>
          <a:prstGeom prst="roundRect">
            <a:avLst>
              <a:gd name="adj" fmla="val 238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1508760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1856232"/>
            <a:ext cx="469087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Gradle Scripts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build.gradle.kts (Project)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build.gradle.kts (Module :app)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proguard-rules.pro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gradle.properties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gradle-wrapper.properties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libs.versions.toml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local.properties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settings.gradle.kts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4663440"/>
            <a:ext cx="5148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y módulo.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proyecto puede tener varios módulos. La plantilla crea uno,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por eso hay dos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build.gradle.kts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· LAS PIEZAS DEL PROYECTO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cosa en su sitio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002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417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Kotlin</a:t>
            </a:r>
            <a:endParaRPr lang="en-US" sz="1900" dirty="0"/>
          </a:p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Activities, funciones de Compose y lógica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31520" y="2395728"/>
            <a:ext cx="640080" cy="6400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32888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3500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· res/</a:t>
            </a:r>
            <a:endParaRPr lang="en-US" sz="1900" dirty="0"/>
          </a:p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Textos, colores, imágenes, iconos, temas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731520" y="3328416"/>
            <a:ext cx="640080" cy="6400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65576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45920" y="3282696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Manifiesto</a:t>
            </a:r>
            <a:endParaRPr lang="en-US" sz="1900" dirty="0"/>
          </a:p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ficha de la app para el sistema</a:t>
            </a:r>
            <a:endParaRPr lang="en-US" sz="1900" dirty="0"/>
          </a:p>
        </p:txBody>
      </p:sp>
      <p:sp>
        <p:nvSpPr>
          <p:cNvPr id="13" name="Shape 8"/>
          <p:cNvSpPr/>
          <p:nvPr/>
        </p:nvSpPr>
        <p:spPr>
          <a:xfrm>
            <a:off x="731520" y="4261104"/>
            <a:ext cx="640080" cy="6400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98264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645920" y="4215384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Scripts</a:t>
            </a:r>
            <a:endParaRPr lang="en-US" sz="1900" dirty="0"/>
          </a:p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construye: versiones, SDK, librerías</a:t>
            </a:r>
            <a:endParaRPr lang="en-US" sz="1900" dirty="0"/>
          </a:p>
        </p:txBody>
      </p:sp>
      <p:sp>
        <p:nvSpPr>
          <p:cNvPr id="16" name="Shape 10"/>
          <p:cNvSpPr/>
          <p:nvPr/>
        </p:nvSpPr>
        <p:spPr>
          <a:xfrm>
            <a:off x="731520" y="5193792"/>
            <a:ext cx="640080" cy="6400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330952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45920" y="514807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900" dirty="0"/>
          </a:p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(test) y (androidTest): no las usaremos aún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 y recorre tu primer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377440" cy="2377440"/>
          </a:xfrm>
          <a:prstGeom prst="roundRect">
            <a:avLst>
              <a:gd name="adj" fmla="val 3846"/>
            </a:avLst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691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</a:t>
            </a:r>
            <a:endParaRPr lang="en-US" sz="1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1417320"/>
            <a:ext cx="8257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A.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 MiPrimeraApp con la plantilla Empty Activity y los valores del apartado 2.1. Ejecútalo en el emulador.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B.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mirar los apuntes, localiza y abre: el manifiesto, MainActivity,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strings.xml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el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build.gradle.kts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módulo. Busca en la vista Project la ruta real de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MainActivity.kt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C.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setContent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cambia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"Android"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tu nombre y ejecuta. ¿Ha cambiado el emulador? ¿Y la vista previa (Preview)? ¿Por qué?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48640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Proyecto: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MiPrimeraApp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Se resuelve en clase entre todos.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6128" y="1691640"/>
            <a:ext cx="1005840" cy="10058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4728" y="1920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2461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Gradle con Kotlin DSL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062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que construye la aplicación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· QUÉ ES GRADLE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configuración es código Kotlin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013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la app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librerías, compila, procesa recursos y genera el APK.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34256" y="14630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62856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18013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62856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DSL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62856" y="278892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Ficheros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.gradle.kts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llamadas a funciones, lambdas y asignaciones. Ya sabes leerlos.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119872" y="14630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48472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8013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48472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Now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48472" y="278892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cambiar un fichero de Gradle aparece una barra amarilla: pulsa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Now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aplicar los cambios.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48640" y="48463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77240" y="4956048"/>
            <a:ext cx="106344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B4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sincronización falla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no se puede ejecutar. El error aparece en el panel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léelo antes de tocar nada más.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· LOS FICHEROS DE GRADLE SCRIPTS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Cuáles vas a tocar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4690872"/>
                <a:gridCol w="26517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Fichero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contiene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¿Lo modificas?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settings.gradle.kts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del proyecto, repositorios y módulos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 nunca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build.gradle.kts</a:t>
                      </a: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(Project)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Plugins comunes a todos los módulos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 nunca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build.gradle.kts</a:t>
                      </a: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(Module :app)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applicationId, versiones de Android, dependencias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Sí, a menudo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libs.versions.toml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de librerías y versiones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Sí, al añadir librerías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gradle.properties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Opciones de Gradle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gradle-wrapper.properties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de Gradle del proyecto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local.properties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 del SDK en tu equipo (no se comparte)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· SETTINGS.GRADLE.KTS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dónde salen las librerías y qué módulos hay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675120" cy="4800600"/>
          </a:xfrm>
          <a:prstGeom prst="roundRect">
            <a:avLst>
              <a:gd name="adj" fmla="val 152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settings.gradle.kts (resumido)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56232"/>
            <a:ext cx="621792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pluginManagement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repositories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mavenCentral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gradlePluginPortal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dependencyResolutionManagement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repositories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     </a:t>
            </a:r>
            <a:r>
              <a:rPr lang="en-US" sz="14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Google y AndroidX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mavenCentral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</a:t>
            </a:r>
            <a:r>
              <a:rPr lang="en-US" sz="14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librerías Java/Kotlin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rootProject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"MiPrimeraApp"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":app"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1554480"/>
            <a:ext cx="4142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los almacenes de los que Gradle descarga plugins y librerías.</a:t>
            </a:r>
            <a:endParaRPr lang="en-US" sz="1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rootProject.name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nombre del proyecto.</a:t>
            </a:r>
            <a:endParaRPr lang="en-US" sz="1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include(":app")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proyecto tiene un módulo llamado app.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· BUILD.GRADLE.KTS DEL MÓDULO APP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Plugins y configuración de Android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4800600"/>
          </a:xfrm>
          <a:prstGeom prst="roundRect">
            <a:avLst>
              <a:gd name="adj" fmla="val 152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app/build.gradle.kts (1/2)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56232"/>
            <a:ext cx="64922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kotlin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"com.example.miprimeraapp"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compileSdk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defaultConfig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"com.example.miprimeraapp"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minSdk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targetSdk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versionCode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"1.0"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buildFeatures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554480"/>
            <a:ext cx="386791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es una aplicación Android y usa Compose.</a:t>
            </a:r>
            <a:endParaRPr lang="en-US" sz="1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identificador, versiones de Android y opciones de compilación.</a:t>
            </a:r>
            <a:endParaRPr lang="en-US" sz="1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defaultConfig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los datos de la app que verás en el apartado 4.4.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· BUILD.GRADLE.KTS DEL MÓDULO APP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dependencias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2331720"/>
          </a:xfrm>
          <a:prstGeom prst="roundRect">
            <a:avLst>
              <a:gd name="adj" fmla="val 3137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app/build.gradle.kts (2/2)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56232"/>
            <a:ext cx="106344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androidx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ktx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androidx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androidx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bom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androidx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material3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testImplementation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junit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4133088"/>
            <a:ext cx="1063447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B4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fichero puede ser algo distinto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la versión de Android Studio puede haber un plugin más (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kotlin.android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los bloques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compileOptions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kotlinOptions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el SDK escrito como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compileSdk { version = release(36) }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Las versiones cambian con el tiempo. Lo importante es saber localizar cada propiedad.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· LAS PROPIEDADES QUE DEBES CONOCER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 y versión de la app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135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Propiedad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indica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namespace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Paquete de las clases generadas, como R. Suele coincidir con el applicationId.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applicationId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 único. Si lo cambias, Android la considera otra app distinta.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versionCode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entero. Cada actualización publicada debe tener uno mayor.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versionName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versión que ve el usuario: "1.0", "2.3.1"... Texto libre.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buildTypes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 (la de Run) y release (la de publicación).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· LAS PROPIEDADES QUE DEBES CONOCER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niveles de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A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minSdk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718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mínima. En dispositivos más antiguos no se instala.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34256" y="146304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62856" y="1645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A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targetSdk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62856" y="2057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4562856" y="29718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para la que se ha probado. Android activa sus comportamientos.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19872" y="146304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8472" y="1645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A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compileSdk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48472" y="2057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29718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con la que se compila: qué funciones de Android puedes usar.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818888"/>
            <a:ext cx="106344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F6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minSdk ≤ targetSdk ≤ compileSdk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24 = Android 7.0 · API 34 = Android 14 · API 35 = Android 15 · API 36 = Android 16. Con minSdk 24 la app funciona en la práctica totalidad de los móviles en uso.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· DEPENDENCIAS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Librerías externas que Gradle descarga por ti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013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librería forma parte de la aplicación.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34256" y="14630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62856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18013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62856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testImplementation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62856" y="27889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para las pruebas. Para las pruebas en dispositivo existe también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androidTestImplementation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119872" y="14630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48472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8013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48472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platform(...) · BOM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48472" y="27889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Materials: una lista de versiones compatibles. Con el BOM de Compose no indicas la versión de cada librería.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029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proyectos actuales no escriben las versiones en el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build.gradle.kts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las reúnen en el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versiones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· EL CATÁLOGO DE VERSIONES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gradle/libs.versions.toml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4800600"/>
          </a:xfrm>
          <a:prstGeom prst="roundRect">
            <a:avLst>
              <a:gd name="adj" fmla="val 152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libs.versions.toml (resumido)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56232"/>
            <a:ext cx="64922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[versions]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coreKtx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composeBom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[libraries]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androidx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ktx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"androidx.core"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"core-ktx"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"coreKtx"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androidx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material3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"androidx.compose.material3"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"material3"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[plugins]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"com.android.application"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"agp"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0" y="1417320"/>
            <a:ext cx="3867912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01000" y="155448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catálogo</a:t>
            </a:r>
            <a:endParaRPr lang="en-US" sz="15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androidx-core-ktx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build.gradle.kts</a:t>
            </a:r>
            <a:endParaRPr lang="en-US" sz="15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libs.androidx.core.ktx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4343400"/>
            <a:ext cx="3867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guiones pasan a ser puntos.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material3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lleva versión: la toma del BOM.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0" y="5257800"/>
            <a:ext cx="3867912" cy="960120"/>
          </a:xfrm>
          <a:prstGeom prst="roundRect">
            <a:avLst>
              <a:gd name="adj" fmla="val 7619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01000" y="5367528"/>
            <a:ext cx="34107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4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actualices sin motivo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versión nueva puede pedir otra de Gradle o del SDK.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6128" y="1691640"/>
            <a:ext cx="1005840" cy="10058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4728" y="1920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5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2461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manifiesto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062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AndroidManifest.xml: la ficha de la app para el sistema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ANDROIDMANIFEST.XML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primero que lee Android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909560" cy="4800600"/>
          </a:xfrm>
          <a:prstGeom prst="roundRect">
            <a:avLst>
              <a:gd name="adj" fmla="val 152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app/src/main/AndroidManifest.xml (resumido)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56232"/>
            <a:ext cx="74523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&lt;manifest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xmlns:android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"..."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&lt;application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android:icon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"@mipmap/ic_launcher"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android:label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"@string/app_name"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android:theme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"@style/Theme.MiPrimeraApp"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&lt;activity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".MainActivity"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android:exported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&lt;intent-filter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&lt;action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"android.intent.action.MAIN"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&lt;category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"android.intent.category.LAUNCHER"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&lt;/intent-filter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&lt;/activity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&lt;/application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&lt;/manifest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0" y="1554480"/>
            <a:ext cx="29535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tiene la app.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 se abre al tocar el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necesita.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icono y tema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muestra.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0" y="4480560"/>
            <a:ext cx="2953512" cy="1737360"/>
          </a:xfrm>
          <a:prstGeom prst="roundRect">
            <a:avLst>
              <a:gd name="adj" fmla="val 4211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15400" y="4590288"/>
            <a:ext cx="249631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4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componente que no está en el manifiesto no existe para el sistema.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LOS ELEMENTOS DEL MANIFIESTO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aplicación</a:t>
            </a:r>
            <a:endParaRPr lang="en-US" sz="3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6559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 o atributo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&lt;manifest&gt;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Raíz del fichero. El paquete ya no va aquí: lo define </a:t>
                      </a: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namespace</a:t>
                      </a: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en Gradle.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&lt;application&gt;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 global. Dentro se declaran todos los componentes.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android:icon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Icono de la app. </a:t>
                      </a: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@mipmap/ic_launcher</a:t>
                      </a: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es una referencia a un recurso.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android:label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bajo el icono. Hace referencia a un texto de </a:t>
                      </a: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strings.xml</a:t>
                      </a: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android:theme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 visual de la ventana: barras del sistema y colores de base.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LOS ELEMENTOS DEL MANIFIESTO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Activities y la puerta de entrada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6559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 o atributo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&lt;activity&gt;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 una Activity. </a:t>
                      </a: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.MainActivity</a:t>
                      </a: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el punto inicial significa "en el paquete de la app".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android:exported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es </a:t>
                      </a: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otras apps (incluido el launcher) pueden abrirla. Obligatorio si tiene intent-filter.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&lt;intent-filter&gt;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qué peticiones (Intents) responde el componente.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MAIN</a:t>
                      </a: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</a:t>
                      </a: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LAUNCHER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"Esta es la Activity de entrada y debe tener icono en el launcher".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44068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UT5, los permisos se declaran antes de &lt;application&gt;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788152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&lt;uses-permission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"android.permission.INTERNET"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ERRORES TÍPICOS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más falla en el manifiesto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013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sin declarar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se cierra al intentar abrirla con el error ActivityNotFoundException.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34256" y="14630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62856" y="169164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18013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62856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MAIN / LAUNCHER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562856" y="27889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se instala, pero su icono no aparece.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8119872" y="14630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48472" y="169164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8013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48472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renombrada a mano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348472" y="27889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manifiesto sigue con el nombre viejo. Usa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&gt; Rename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(Mayús + F6).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6128" y="1691640"/>
            <a:ext cx="1005840" cy="10058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4728" y="1920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6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2461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recursos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062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no es código, en la carpeta res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· QUÉ ES UN RECURSO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Separados del código, elegidos por Android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Textos, colores, imágenes, iconos, temas... Se pueden cambiar sin tocar el código y Android elige la versión adecuada según el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el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6060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7157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values/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703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strings.xml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colors.xml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themes.xml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64992" y="23774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93592" y="26060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7157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93592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drawable/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93592" y="3703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y gráficos vectoriales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181344" y="23774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9944" y="26060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71576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09944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mipmap-*/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09944" y="3703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icono de la app en varias densidades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8997696" y="23774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26296" y="26060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271576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26296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xml/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226296" y="3703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Configuración, como las copias de seguridad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548640" y="4983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77240" y="5093208"/>
            <a:ext cx="1063447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F6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Compose, el tema está en Kotlin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y tipografía de la interfaz se definen en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ui.theme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Color.kt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Theme.kt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Type.kt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Lo verás en la UT3.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· STRINGS.XML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textos de la aplicación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res/values/strings.xml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56232"/>
            <a:ext cx="10634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&lt;resources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"app_name"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MiPrimeraApp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&lt;/string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"saludo"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Hola, %1$s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&lt;/string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&lt;/resources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texto tiene un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app_name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y un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%1$s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 hueco que se rellena desde el código, como en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String.format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727448"/>
            <a:ext cx="106344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F6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textos de la interfaz van en strings.xml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Escribirlos en el código (hardcoded) funciona, pero impide traducir la app. Con todos en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strings.xml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traducir es crear otro fichero.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· LA CLASE 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identificador para cada recurso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50566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Sintaxis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@tipo/nombre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@string/app_name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Kotlin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R.tipo.nombre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R.string.app_name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stringResource(R.string.nombre)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stringResource(R.string.saludo, "DAM")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40480"/>
            <a:ext cx="11091672" cy="2377440"/>
          </a:xfrm>
          <a:prstGeom prst="roundRect">
            <a:avLst>
              <a:gd name="adj" fmla="val 3077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393192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un texto de strings.xml en Compose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279392"/>
            <a:ext cx="106344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@Composable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stringResource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saludo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  </a:t>
            </a:r>
            <a:r>
              <a:rPr lang="en-US" sz="14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"Hola, " + name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· CALIFICADORES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alternativos según el dispositivo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7665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4747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Carpeta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usa cuando...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values/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hay otra más específica (valores por defecto)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values-en/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dispositivo está en inglés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values-night/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dispositivo está en modo oscuro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mipmap-hdpi/</a:t>
                      </a: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mipmap-xxhdpi/</a:t>
                      </a: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pantalla tiene esa densidad de píxeles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463040"/>
            <a:ext cx="4050792" cy="4480560"/>
          </a:xfrm>
          <a:prstGeom prst="roundRect">
            <a:avLst>
              <a:gd name="adj" fmla="val 1806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818120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7848" y="1801368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818120" y="237744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 la app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818120" y="2788920"/>
            <a:ext cx="35935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derecho en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&gt; Android Resource File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nombre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strings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calificador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idioma.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abre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strings.xml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editor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Translations Editor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muestra todos los idiomas en una tabla.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6128" y="1691640"/>
            <a:ext cx="1005840" cy="10058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4728" y="1920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2461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MainActivity línea a línea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062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entrada de la aplicación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MAINACTIVITY.KT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Activity que crea la plantilla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800600"/>
          </a:xfrm>
          <a:prstGeom prst="roundRect">
            <a:avLst>
              <a:gd name="adj" fmla="val 152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MainActivity.kt (sin los import)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56232"/>
            <a:ext cx="10634472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MainActivity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ComponentActivity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onCreate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savedInstanceState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Bundle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?)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onCreate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savedInstanceState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enableEdgeToEdge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setContent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MiPrimeraAppTheme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Scaffold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fillMaxSize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{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innerPadding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"Android"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innerPadding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MAINACTIVITY.KT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funciones composables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4800600"/>
          </a:xfrm>
          <a:prstGeom prst="roundRect">
            <a:avLst>
              <a:gd name="adj" fmla="val 152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MainActivity.kt (continuación)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56232"/>
            <a:ext cx="64922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@Composable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$name!"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@Preview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showBackground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@Composable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GreetingPreview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MiPrimeraAppTheme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"Android"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554480"/>
            <a:ext cx="386791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@Composable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 función describe una parte de la interfaz.</a:t>
            </a:r>
            <a:endParaRPr lang="en-US" sz="1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 por defecto, string template y argumentos con nombre: todo de la Parte 1.</a:t>
            </a:r>
            <a:endParaRPr lang="en-US" sz="1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@Preview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 ve en el editor sin ejecutar en el emulador.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QUÉ HACE CADA PIEZA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clase y onCreate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6831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 ComponentActivity()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Hereda de la clase base de las Activities con Compose.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override fun onCreate(...)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 método del ciclo de vida: aquí se prepara la pantalla.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savedInstanceState: Bundle?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guardados si se está recreando. La primera vez es null.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super.onCreate(...)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al método de la clase padre. Obligatorio.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enableEdgeToEdge()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interfaz ocupa toda la pantalla, también tras las barras.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QUÉ HACE CADA PIEZA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interfaz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6831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setContent { ... }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la interfaz con Compose. Recibe una trailing lambda.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MiPrimeraAppTheme { ... }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 el tema (colores y tipografía) de </a:t>
                      </a: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ui.theme</a:t>
                      </a: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Scaffold { innerPadding -&gt; }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 básica de pantalla. </a:t>
                      </a: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innerPadding</a:t>
                      </a: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evita quedar bajo las barras.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Text(text = "Hello $name!")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Muestra un texto.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0916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818888"/>
            <a:ext cx="106344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F6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cambia respecto a un programa de consola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no llamas nunca a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onCreate()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 llama el sistema. Escribes qué hacer en cada momento y el sistema decide cuándo ocurre.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Gradle, manifiesto y recursos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377440" cy="2377440"/>
          </a:xfrm>
          <a:prstGeom prst="roundRect">
            <a:avLst>
              <a:gd name="adj" fmla="val 3846"/>
            </a:avLst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691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</a:t>
            </a:r>
            <a:endParaRPr lang="en-US" sz="1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1417320"/>
            <a:ext cx="8257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Lee.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Anota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applicationId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minSdk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targetSdk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versionCode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versionName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¿A qué Android corresponden? ¿De qué grupo es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material3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catálogo?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Versión.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Pon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versionName = "1.0-ut2"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Sync Now y ejecuta. Compruébalo en Información de la aplicación.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Nombre.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Haz que bajo el icono aparezca "Mi App DAM". ¿Qué fichero cambias? Justifícalo.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Traduce.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Usa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saludo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stringResource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crea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values-en/strings.xml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cambia el idioma del emulador. ¿Qué pasa con el nombre de la app?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48640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Proyecto: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MiPrimeraApp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Se resuelve en clase entre todos.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6128" y="1691640"/>
            <a:ext cx="1005840" cy="10058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4728" y="1920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8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2461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componentes de una aplicación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062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Activity, Service, BroadcastReceiver y ContentProvider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· LOS CUATRO COMPONENTES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puertas de entrada a la aplicación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9160" y="1463040"/>
            <a:ext cx="10050632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pic>
        <p:nvPicPr>
          <p:cNvPr id="5" name="Image 0" descr="/home/claude/ppt/diag/d4_componentes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6320" y="1554480"/>
            <a:ext cx="9776312" cy="4023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235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componente es un punto por el que el sistema puede entrar en la app, y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se declaran en el manifiesto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&lt;activity&gt;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&lt;service&gt;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&lt;receiver&gt;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&lt;provider&gt;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· LOS COMPONENTES HOY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usan las aplicaciones actuales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13248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013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77440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Single-activity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49560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todas las apps tienen al menos una Activity, y muchas solo eso. Con Compose lo habitual es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única Activity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varias pantallas, que son funciones composables entre las que se navega (UT3).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36208" y="1463040"/>
            <a:ext cx="5413248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8013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64808" y="2377440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y batería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464808" y="2788920"/>
            <a:ext cx="49560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limita el segundo plano. Para lo que el usuario debe ver (música, GPS): un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service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notificación permanente. Para tareas diferibles (sincronizar): la librería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· INTENTS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componentes se comunican a través del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132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013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77440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explícito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componente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abrir. Dentro de tu propia app.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36208" y="1463040"/>
            <a:ext cx="54132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8013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64808" y="2377440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implícito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464808" y="2788920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acción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hacer y el sistema busca qué app puede hacerla.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11091672" cy="2514600"/>
          </a:xfrm>
          <a:prstGeom prst="roundRect">
            <a:avLst>
              <a:gd name="adj" fmla="val 290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" y="3840480"/>
            <a:ext cx="1063447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DetalleActivity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</a:t>
            </a:r>
            <a:r>
              <a:rPr lang="en-US" sz="14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explícito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putExtra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"idProducto"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startActivity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ACTION_VIEW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//developer.android.com"))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startActivity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                                 </a:t>
            </a:r>
            <a:r>
              <a:rPr lang="en-US" sz="14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implícito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· CONTEXT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acceso de la app a lo que ofrece el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217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013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77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Context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el entorno de la aplicación. Da acceso a los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los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ficheros privados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las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preferencias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los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del sistema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permite lanzar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040880" y="1463040"/>
            <a:ext cx="4599432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269480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18013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377440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funciones lo piden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269480" y="2788920"/>
            <a:ext cx="41422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Intent(this, DetalleActivity::class.java)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la Activity actuando como Context.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" y="4956048"/>
            <a:ext cx="106344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F6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Activity, Service y Application heredan de Context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todas ellas "son" un Context y se pueden pasar donde se pide uno.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 · LA JERARQUÍA DE CLASES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hay por encima de MainActivity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9972" y="1371600"/>
            <a:ext cx="8529007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pic>
        <p:nvPicPr>
          <p:cNvPr id="5" name="Image 0" descr="/home/claude/ppt/diag/d2_jerarquia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7132" y="1463040"/>
            <a:ext cx="8254687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 · LA JERARQUÍA DE CLASES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aporta cada nivel</a:t>
            </a:r>
            <a:endParaRPr lang="en-US" sz="3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2237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4805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Context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a los recursos y servicios del sistema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ContextWrapper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 Context. De ella heredan Service y Application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ContextThemeWrapper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Añade el tema visual, para los componentes con interfaz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las pantallas en el framework (</a:t>
                      </a: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android.app</a:t>
                      </a: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ComponentActivity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AndroidX con ciclo de vida moderno y </a:t>
                      </a: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setContent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MainActivity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clase: hereda todo y sobrescribe lo que necesita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046720" y="1463040"/>
            <a:ext cx="359359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75320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1801368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75320" y="237744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AppCompatActivity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275320" y="2788920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verás en internet: es la base de las apps con vistas XML.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046720" y="3840480"/>
            <a:ext cx="359359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275320" y="406908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48" y="417880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75320" y="47548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H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8275320" y="5166360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</a:t>
            </a:r>
            <a:r>
              <a:rPr lang="en-US" sz="15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ComponentActivity</a:t>
            </a: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muestra su jerarquía. </a:t>
            </a: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clic</a:t>
            </a: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abre el código.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6128" y="1691640"/>
            <a:ext cx="1005840" cy="10058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4728" y="1920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9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2461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de vida de una Activity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062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decide cuándo ocurre cada cosa es el sistema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· POR QUÉ EXISTE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móvil cambia de situación constantemente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013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app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va y viene entre aplicaciones.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64992" y="146304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93592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8013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3592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Interrupciones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93592" y="27889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Llamadas, notificaciones, diálogos.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181344" y="146304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9944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8013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9944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Giros de pantalla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409944" y="27889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configuración del dispositivo cambia.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997696" y="146304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26296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18013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26296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limitada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226296" y="27889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cierra apps que no se usan.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548640" y="434340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77240" y="4453128"/>
            <a:ext cx="106344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F6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y callbacks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los estados por los que pasa una Activity. En cada cambio, el sistema llama a un método (un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para que la app reaccione: guardar datos, pausar un vídeo, liberar la cámara...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 · LOS ESTADOS DE UNA ACTIVITY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Visible o no, con el foco o sin él</a:t>
            </a:r>
            <a:endParaRPr lang="en-US" sz="30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88720"/>
                <a:gridCol w="1097280"/>
                <a:gridCol w="587959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Situación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Creada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 el objeto, pero aún no se ve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Iniciada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ve, pero todavía no se puede interactuar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ejecución (RESUMED)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primer plano: el estado activo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pausa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 perdido el foco: diálogo del sistema, multiventana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Detenida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segundo plano. Conserva su estado en memoria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Destruida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Cerrada o eliminada: hay que crearla de nuevo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 · LOS MÉTODOS DEL CICLO DE VIDA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callback llama el sistema y cuándo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6102244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pic>
        <p:nvPicPr>
          <p:cNvPr id="5" name="Image 0" descr="/home/claude/ppt/diag/d3_ciclo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827924" cy="4846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675120" y="1554480"/>
            <a:ext cx="4965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callbacks van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parejas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 que arranca en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onStart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para en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onStop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lo de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onResume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en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onPause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discontinua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sistema mata el proceso para liberar memoria. Si el usuario vuelve, todo empieza en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onCreate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 · LOS MÉTODOS DEL CICLO DE VIDA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hace en cada uno</a:t>
            </a:r>
            <a:endParaRPr lang="en-US" sz="30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474720"/>
                <a:gridCol w="523951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Callback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se hace normalmente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onCreate()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vez, al crearla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Preparar la interfaz (</a:t>
                      </a: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setContent</a:t>
                      </a: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onStart()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 a hacerse visible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Empezar a actualizar lo que se ve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onResume()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Recibe el foco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Arrancar cámara, animaciones, sensores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onPause()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Pierde el foco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Pausar lo de onResume. Muy rápido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onStop()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Deja de ser visible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Liberar recursos y guardar datos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onRestart()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Vuelve tras estar detenida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Poco habitual. Después, onStart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onDestroy()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 destruirla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Limpieza final (no garantizado)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 · SITUACIONES HABITUALES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callbacks verás en cada caso</a:t>
            </a:r>
            <a:endParaRPr lang="en-US" sz="30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70255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Situación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Secuencia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Abrir desde el icono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onCreate</a:t>
                      </a: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</a:t>
                      </a: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onStart</a:t>
                      </a: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</a:t>
                      </a: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onResume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Pulsar Home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onPause</a:t>
                      </a: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</a:t>
                      </a: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onStop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Volver desde Recientes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onRestart</a:t>
                      </a: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</a:t>
                      </a: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onStart</a:t>
                      </a: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</a:t>
                      </a: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onResume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en la pantalla principal (Android 12+)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onPause</a:t>
                      </a: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</a:t>
                      </a: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onStop</a:t>
                      </a: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queda en segundo plano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en otra pantalla o </a:t>
                      </a: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finish()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onPause</a:t>
                      </a: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</a:t>
                      </a: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onStop</a:t>
                      </a: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</a:t>
                      </a: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onDestroy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sistema necesita memoria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Mata el proceso sin callbacks. Al volver: </a:t>
                      </a: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onCreate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 · GIRAR LA PANTALLA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cambio de configuración recrea la Activity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onPause → onStop → onDestroy → onCreate → onStart → onResume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41324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74320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85292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429000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840480"/>
            <a:ext cx="49560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destruye la Activity y la crea de nuevo para cargar los recursos de la nueva orientación.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36208" y="2514600"/>
            <a:ext cx="541324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64808" y="274320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85292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464808" y="3429000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típico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464808" y="3840480"/>
            <a:ext cx="49560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estaba solo en una variable de la Activity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usuario gira el móvil y el formulario se vacía. En la UT3: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rememberSaveable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ViewModel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 · SOBRESCRIBIR LOS CALLBACKS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override y siempre super primero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10634472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onPause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onPause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  </a:t>
            </a:r>
            <a:r>
              <a:rPr lang="en-US" sz="14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obligatorio: si falta, la app se cierra con un error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código propio: pausar el vídeo, guardar un borrador...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1109167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379476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390448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448056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O · Override Methods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89204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la clase, pulsa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O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escribe el nombre del método y pulsa Intro: Android Studio lo escribe por ti con su llamada a super.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6128" y="1691640"/>
            <a:ext cx="1005840" cy="10058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4728" y="1920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10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2461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Logcat y ADB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062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y controlar la aplicación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 · MENSAJES DE LOG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Android, println no sirve para depurar</a:t>
            </a:r>
            <a:endParaRPr lang="en-US" sz="30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7665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3108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Log.v(tag, msg)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VERBOSE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 máximo. Casi no se usa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Log.d(tag, msg)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Depuración durante el desarrollo. El más usado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Log.i(tag, msg)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Información relevante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Log.w(tag, msg)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 raro que no impide seguir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Log.e(tag, msg)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error. Se muestra en rojo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463040"/>
            <a:ext cx="4050792" cy="2834640"/>
          </a:xfrm>
          <a:prstGeom prst="roundRect">
            <a:avLst>
              <a:gd name="adj" fmla="val 2581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18120" y="1554480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en el log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1901952"/>
            <a:ext cx="35935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"CicloVida"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"onCreate ejecutado"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526280"/>
            <a:ext cx="4050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mensaje tiene un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una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(tag) que lo identifica.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 · LA VENTANA LOGCAT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esencial es saber filtrar</a:t>
            </a:r>
            <a:endParaRPr lang="en-US" sz="30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5975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package:mine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las apps del proyecto abierto (filtro por defecto)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tag:CicloVida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los mensajes con esa etiqueta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level:error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 nivel o superior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message:onCreate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mensajes que contienen ese texto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is:crash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los cierres inesperados (crashes)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package:mine tag:CicloVida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Combinados: se cumplen a la vez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Ábrela con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&gt; Tool Windows &gt; Logcat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con su icono en la barra lateral inferior.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 · CUANDO LA APP SE CIERRA SOLA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causa siempre está en Logcat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38912" cy="438912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17904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con </a:t>
            </a:r>
            <a:r>
              <a:rPr lang="en-US" sz="19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package:mine level:error</a:t>
            </a: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438912" cy="438912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478024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el bloque rojo que empieza por </a:t>
            </a:r>
            <a:r>
              <a:rPr lang="en-US" sz="19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EXCEPTION</a:t>
            </a: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438912" cy="438912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74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438144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</a:t>
            </a:r>
            <a:r>
              <a:rPr lang="en-US" sz="19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Caused by:</a:t>
            </a: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dice </a:t>
            </a:r>
            <a:r>
              <a:rPr lang="en-US" sz="19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error</a:t>
            </a: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ha producido.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438912" cy="438912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434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398264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líneas de debajo dicen </a:t>
            </a:r>
            <a:r>
              <a:rPr lang="en-US" sz="19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qué fichero y línea</a:t>
            </a: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Haz clic y Android Studio te lleva allí.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12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 el ciclo de vida con Logcat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377440" cy="2377440"/>
          </a:xfrm>
          <a:prstGeom prst="roundRect">
            <a:avLst>
              <a:gd name="adj" fmla="val 3846"/>
            </a:avLst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691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</a:t>
            </a:r>
            <a:endParaRPr lang="en-US" sz="1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1417320"/>
            <a:ext cx="8257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Sustituye MainActivity por el código de los apuntes y filtra con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package:mine tag:CicloVida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y comprueba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secuencia al: 1) abrir la app; 2) pulsar Home y volver desde Recientes; 3) girar la pantalla; 4) pulsar Back y abrirla desde el icono; 5) abrir Recientes.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pondrías el código para pausar y reanudar un vídeo?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el contador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veces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vuelve a 1 al girar?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48640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base: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12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los apuntes ·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+ Intro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añade el import de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 · ADB · ANDROID DEBUG BRIDGE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línea de comandos del dispositivo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13248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013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77440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4956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 el ordenador con el emulador o el móvil. Android Studio lo usa para instalar y lanzar las apps. Forma parte de las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platform-tools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SDK.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36208" y="1463040"/>
            <a:ext cx="5413248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16916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8013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64808" y="2377440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usa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464808" y="2788920"/>
            <a:ext cx="4956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ventana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Android Studio. Si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adb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se reconoce, no está en el PATH: escribe la ruta completa.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38912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" y="448056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de Android Studio en Windows (PowerShell)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4828032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"$env:LOCALAPPDATA\Android\Sdk\platform-tools\adb.exe" devices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del SDK está en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Settings &gt; Languages &amp; Frameworks &gt; Android SDK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en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local.properties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 · COMANDOS ADB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Instalar, listar y lanzar</a:t>
            </a:r>
            <a:endParaRPr lang="en-US" sz="30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533095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adb devices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los dispositivos (el emulador: </a:t>
                      </a: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emulator-5554</a:t>
                      </a: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adb install ruta\app-debug.apk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 un APK (</a:t>
                      </a: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-r</a:t>
                      </a: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reinstala conservando datos)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adb uninstall com.example.miprimeraapp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Desinstala por applicationId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adb shell pm list packages -3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instaladas por el usuario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adb shell am start -n &lt;paquete&gt;/.MainActivity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Lanza una Activity concreta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321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APK de Run está en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app/build/outputs/apk/debug/app-debug.apk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También: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&gt; Generate App Bundles or APKs &gt; Generate APKs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 · COMANDOS ADB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Detener, observar y explorar</a:t>
            </a:r>
            <a:endParaRPr lang="en-US" sz="30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7103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adb shell am force-stop &lt;paquete&gt;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Fuerza la detención de la app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adb shell am kill &lt;paquete&gt;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Mata el proceso si está en segundo plano, como haría el sistema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adb logcat -s CicloVida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con esa etiqueta en la terminal (Ctrl + C para salir)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adb shell screencap /sdcard/captura.png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la pantalla del dispositivo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adb pull /sdcard/captura.png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Copia del dispositivo al ordenador (</a:t>
                      </a: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push</a:t>
                      </a: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al revés)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adb shell dumpsys package &lt;paquete&gt;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Versión, permisos y Activities de una app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13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 la aplicación con ADB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377440" cy="2377440"/>
          </a:xfrm>
          <a:prstGeom prst="roundRect">
            <a:avLst>
              <a:gd name="adj" fmla="val 3846"/>
            </a:avLst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691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</a:t>
            </a:r>
            <a:endParaRPr lang="en-US" sz="1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1417320"/>
            <a:ext cx="8257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que ADB detecta el emulador y que tu app está entre los paquetes del usuario.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la app y lánzala con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 start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¿Qué callbacks ves en Logcat?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Home y ejecuta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 kill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Vuelve desde Recientes: ¿qué secuencia aparece? ¿Cuánto vale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savedInstanceState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Relaciónalo con la línea discontinua.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una captura con ADB y cópiala a tu ordenador.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Desinstala con ADB y reinstala con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adb install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48640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código de la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12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instalado · Terminal de Android Studio.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6128" y="1691640"/>
            <a:ext cx="1005840" cy="10058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4728" y="1920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11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2461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analizar una aplicación existente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062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 general a lo concreto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MÉTODO DE ANÁLISIS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Siempre en el mismo orden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31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build.gradle.kts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applicationId, versión, SDK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34256" y="14630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2856" y="169164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62856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02936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2331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Manifiesto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Activities, servicios, entrada, permisos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19872" y="14630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48472" y="169164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48472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988552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48472" y="2331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 · toml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tecnologías usa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70332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703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343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kotlin+java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Paquetes, clases, composables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334256" y="34747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62856" y="370332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62856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202936" y="3703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4562856" y="4343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res/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Textos, idiomas, iconos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119872" y="34747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48472" y="370332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48472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988552" y="3703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8348472" y="4343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Emulador · Logcat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y mensajes de log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532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Después,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 de uno en uno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ejecuta tras cada cambio. Si al abrir el proyecto el Gradle Sync termina bien,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actualices nada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14 · MATERIAL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manifiesto de FitTrack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800600"/>
          </a:xfrm>
          <a:prstGeom prst="roundRect">
            <a:avLst>
              <a:gd name="adj" fmla="val 152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AndroidManifest.xml de FitTrack (extracto)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56232"/>
            <a:ext cx="10634472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&lt;uses-permission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"android.permission.INTERNET"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&lt;uses-permission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"android.permission.POST_NOTIFICATIONS"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&lt;uses-permission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"android.permission.FOREGROUND_SERVICE"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&lt;uses-permission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"android.permission.FOREGROUND_SERVICE_HEALTH"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&lt;uses-permission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"android.permission.RECEIVE_BOOT_COMPLETED"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&lt;activity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".MainActivity"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android:exported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&lt;intent-filter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... MAIN + LAUNCHER ...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&lt;/intent-filter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&lt;/activity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&lt;activity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".DetalleActivity"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android:exported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"false"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&lt;service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".CronometroService"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android:foregroundServiceType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"health"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android:exported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"false"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&lt;receiver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".ArranqueReceiver"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android:exported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&lt;intent-filter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... BOOT_COMPLETED ...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&lt;/intent-filter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&lt;/receiver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&lt;provider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".EntrenosProvider"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android:exported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... </a:t>
            </a:r>
            <a:r>
              <a:rPr lang="en-US" sz="14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14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 el manifiesto de FitTrack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377440" cy="2377440"/>
          </a:xfrm>
          <a:prstGeom prst="roundRect">
            <a:avLst>
              <a:gd name="adj" fmla="val 3846"/>
            </a:avLst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691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</a:t>
            </a:r>
            <a:endParaRPr lang="en-US" sz="1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1417320"/>
            <a:ext cx="8257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componentes tiene y de qué tipo es cada uno?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Activity se abre al tocar el icono? ¿Cómo lo sabes?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otra aplicación abrir directamente DetalleActivity? ¿Por qué?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crees que hace ArranqueReceiver y cuándo se ejecuta? ¿Qué permiso lo hace posible?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necesita cada uno de los permisos?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componente permitiría que otra aplicación leyera los entrenamientos?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48640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ejecutar la app: solo leyendo el manifiesto (apartado 11 de los apuntes).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RESUMEN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aplicación por dentro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1324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y AAB</a:t>
            </a:r>
            <a:endParaRPr lang="en-US" sz="1900" dirty="0"/>
          </a:p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APK se instala; el AAB va a Google Play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36208" y="1463040"/>
            <a:ext cx="541324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10528" y="1572768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endParaRPr lang="en-US" sz="1900" dirty="0"/>
          </a:p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Gradle: Kotlin → DEX, recursos con AAPT2, APK firmado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41324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127248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900" dirty="0"/>
          </a:p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Usuario, proceso y carpeta privada por app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236208" y="3017520"/>
            <a:ext cx="541324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0528" y="3127248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</a:t>
            </a:r>
            <a:endParaRPr lang="en-US" sz="1900" dirty="0"/>
          </a:p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applicationId, SDK y dependencias. Después: Sync Now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541324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681728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Manifiesto</a:t>
            </a:r>
            <a:endParaRPr lang="en-US" sz="1900" dirty="0"/>
          </a:p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Componentes, MAIN/LAUNCHER, permisos, icono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36208" y="4572000"/>
            <a:ext cx="541324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0528" y="4681728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900" dirty="0"/>
          </a:p>
          <a:p>
            <a:pPr indent="0" marL="0">
              <a:buNone/>
            </a:pP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@tipo/nombre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XML,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R.tipo.nombre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Kotlin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RESUMEN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y ciclo de vida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17325A"/>
          </a:solidFill>
          <a:ln w="12700">
            <a:solidFill>
              <a:srgbClr val="1732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5087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Activity, Service, BroadcastReceiver y ContentProvider, unidos por Intents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17325A"/>
          </a:solidFill>
          <a:ln w="12700">
            <a:solidFill>
              <a:srgbClr val="1732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697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69748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MainActivity → ComponentActivity → Activity → ... → Context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17325A"/>
          </a:solidFill>
          <a:ln w="12700">
            <a:solidFill>
              <a:srgbClr val="1732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886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88620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onCreate, onStart, onResume, onPause, onStop, onRestart, onDestroy. Girar recrea la Activity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17325A"/>
          </a:solidFill>
          <a:ln w="12700">
            <a:solidFill>
              <a:srgbClr val="1732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0749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Logcat y ADB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507492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Log.d(TAG, msg) y filtros package:mine tag:X. ADB instala, lanza, detiene y explora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UT2 Parte 2 · La estructura de una aplicación Android</dc:title>
  <dc:subject>PptxGenJS Presentation</dc:subject>
  <dc:creator>PptxGenJS</dc:creator>
  <cp:lastModifiedBy>PptxGenJS</cp:lastModifiedBy>
  <cp:revision>1</cp:revision>
  <dcterms:created xsi:type="dcterms:W3CDTF">2026-10-14T18:07:29Z</dcterms:created>
  <dcterms:modified xsi:type="dcterms:W3CDTF">2026-10-14T18:07:29Z</dcterms:modified>
</cp:coreProperties>
</file>