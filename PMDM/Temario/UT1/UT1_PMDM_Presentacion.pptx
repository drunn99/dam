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style2.xml" ContentType="application/vnd.ms-office.chartstyl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olors2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s-ES" sz="1200" b="0" u="none" strike="noStrike">
                <a:solidFill>
                  <a:srgbClr val="10243E"/>
                </a:solidFill>
                <a:uFillTx/>
                <a:latin typeface="Calibri"/>
              </a:rPr>
              <a:t>Uso mundial por dispositivo activo (StatCounter, jul. 2026)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Cuota</c:v>
                </c:pt>
              </c:strCache>
            </c:strRef>
          </c:tx>
          <c:spPr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3DDC84"/>
              </a:solidFill>
              <a:ln w="0">
                <a:noFill/>
              </a:ln>
            </c:spPr>
          </c:dPt>
          <c:dPt>
            <c:idx val="1"/>
            <c:spPr>
              <a:solidFill>
                <a:srgbClr val="10243E"/>
              </a:solidFill>
              <a:ln w="0">
                <a:noFill/>
              </a:ln>
            </c:spPr>
          </c:dPt>
          <c:dLbls>
            <c:dLbl>
              <c:idx val="0"/>
              <c:numFmt formatCode="0.0\%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
</c:separator>
            </c:dLbl>
            <c:dLbl>
              <c:idx val="1"/>
              <c:numFmt formatCode="0.0\%" sourceLinked="0"/>
              <c:txPr>
                <a:bodyPr wrap="square"/>
                <a:lstStyle/>
                <a:p>
                  <a:pPr>
                    <a:defRPr sz="1300" b="0" u="none" strike="noStrik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eparator>
</c:separator>
            </c:dLbl>
            <c:numFmt formatCode="0.0\%" sourceLinked="0"/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2"/>
                <c:pt idx="0">
                  <c:v>Android</c:v>
                </c:pt>
                <c:pt idx="1">
                  <c:v>iOS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68.4</c:v>
                </c:pt>
                <c:pt idx="1">
                  <c:v>31.6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1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s-ES" sz="1100" b="0" u="none" strike="noStrike">
                <a:solidFill>
                  <a:srgbClr val="10243E"/>
                </a:solidFill>
                <a:uFillTx/>
                <a:latin typeface="Calibri"/>
              </a:rPr>
              <a:t>Adopción entre desarrolladores, 2026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Uso entre desarrolladores (%)</c:v>
                </c:pt>
              </c:strCache>
            </c:strRef>
          </c:tx>
          <c:spPr>
            <a:solidFill>
              <a:srgbClr val="3DDC84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100" b="0" u="none" strike="noStrike">
                    <a:solidFill>
                      <a:srgbClr val="10243E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React Native</c:v>
                </c:pt>
                <c:pt idx="1">
                  <c:v>Flutter</c:v>
                </c:pt>
                <c:pt idx="2">
                  <c:v>Kotlin Multiplatform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43</c:v>
                </c:pt>
                <c:pt idx="1">
                  <c:v>35</c:v>
                </c:pt>
                <c:pt idx="2">
                  <c:v>23</c:v>
                </c:pt>
              </c:numCache>
            </c:numRef>
          </c:val>
        </c:ser>
        <c:gapWidth val="150"/>
        <c:overlap val="0"/>
        <c:axId val="54266779"/>
        <c:axId val="89845967"/>
      </c:barChart>
      <c:catAx>
        <c:axId val="5426677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100" b="0" u="none" strike="noStrike">
                <a:solidFill>
                  <a:srgbClr val="1A2733"/>
                </a:solidFill>
                <a:uFillTx/>
                <a:latin typeface="Calibri"/>
              </a:defRPr>
            </a:pPr>
          </a:p>
        </c:txPr>
        <c:crossAx val="89845967"/>
        <c:crosses val="autoZero"/>
        <c:auto val="1"/>
        <c:lblAlgn val="ctr"/>
        <c:lblOffset val="100"/>
        <c:noMultiLvlLbl val="0"/>
      </c:catAx>
      <c:valAx>
        <c:axId val="89845967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4266779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3E05012-900C-4165-AA65-2F427EC5AC24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D0D6D31-A97B-415C-B523-B52BC48E026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01A1315-9FE8-45C4-8AA8-C44A28372C2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9FE0CF3-DF38-4B7F-93B3-B6B74B2CD4F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DD4701E-C82C-4337-A8CC-848F986E3AA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E5B6342-9CD4-4B19-9BC7-8633B51FCAF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00EC088-5879-4F48-849B-4E7F0DC8352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DC74948-C07A-40C4-A99B-AF0E5C466AF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8314349-0432-427C-AB94-33E4F59BCEE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6D08AB2-7469-4C0B-B937-67EEFAC421B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62BB183-1D5B-4305-BD3B-D375FD71D75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2890D13-C991-4119-8488-B4F2D409B97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2F859A3-6061-4B76-827E-12F638FC787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9EFD85C-469B-46A4-A0DD-727C0A1B521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248A337-C066-4E86-8504-C4230062F1F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7860D76-FF37-48DA-B499-3FEB4851DC2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03F263D-292C-4CA3-A357-EEDBA68CC1A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403C009-386A-46D6-A3CD-02FFE621840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3D0E5EC-F3F7-4062-8F66-C7066D835D7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953E2F6-4E99-45B8-B12C-D54F0179D63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E0F10B8-27F3-43A3-9E46-1AC61309CED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953363A-5798-4BD4-A56A-4B2B6FEB000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A5B8550-12AB-4FD5-87D9-91F1EEADD7A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F0CB781-309E-4AA8-B2E3-0181A838D7A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C308C21-2396-4704-8AB2-0706A18DD8C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B92F4FE-AEC8-4A84-90BB-DACB767B0AA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B5074B2-97C0-4687-8CC1-4AA26018A1A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90BC781-639F-4F36-8A14-2C7FF9665A4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EC2696B-AEE2-4525-BDF8-5BFD36E29DC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FA4F084-2B5D-46ED-BA7A-17C98716919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9427B7D-7FC2-45C0-8974-28CFB0A5DDD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02E9DDC-3CF1-417B-8584-A6E1257BEFF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65E0151-7494-4E8B-B270-11D662EE76A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PlaceHolder 3"/>
          <p:cNvSpPr>
            <a:spLocks noGrp="1"/>
          </p:cNvSpPr>
          <p:nvPr>
            <p:ph type="sldNum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862B8C-28AA-4837-9D8B-FEEE20F1CEC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6954684-A173-45BA-908F-0FC59D9DF8D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FC5EA5E-8863-4084-94A6-4FE585658E0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D8A2C48-F867-45DC-A5E8-0A3D1786A54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97E76FB-8D2A-4A0E-89F3-9B6E9701409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8.png"/><Relationship Id="rId3" Type="http://schemas.openxmlformats.org/officeDocument/2006/relationships/image" Target="../media/image8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chart" Target="../charts/chart2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27.png"/><Relationship Id="rId4" Type="http://schemas.openxmlformats.org/officeDocument/2006/relationships/image" Target="../media/image4.png"/><Relationship Id="rId5" Type="http://schemas.openxmlformats.org/officeDocument/2006/relationships/image" Target="../media/image30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21.pn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3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28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9.png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5.png"/><Relationship Id="rId3" Type="http://schemas.openxmlformats.org/officeDocument/2006/relationships/image" Target="../media/image32.png"/><Relationship Id="rId4" Type="http://schemas.openxmlformats.org/officeDocument/2006/relationships/image" Target="../media/image14.png"/><Relationship Id="rId5" Type="http://schemas.openxmlformats.org/officeDocument/2006/relationships/image" Target="../media/image2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3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6.png"/><Relationship Id="rId3" Type="http://schemas.openxmlformats.org/officeDocument/2006/relationships/image" Target="../media/image36.png"/><Relationship Id="rId4" Type="http://schemas.openxmlformats.org/officeDocument/2006/relationships/image" Target="../media/image36.png"/><Relationship Id="rId5" Type="http://schemas.openxmlformats.org/officeDocument/2006/relationships/image" Target="../media/image36.png"/><Relationship Id="rId6" Type="http://schemas.openxmlformats.org/officeDocument/2006/relationships/image" Target="../media/image3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>
            <a:alphaModFix amt="12000"/>
          </a:blip>
          <a:stretch/>
        </p:blipFill>
        <p:spPr>
          <a:xfrm>
            <a:off x="8778240" y="1005840"/>
            <a:ext cx="3108600" cy="310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548640" y="1371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3DDC84"/>
                </a:solidFill>
                <a:effectLst/>
                <a:uFillTx/>
                <a:latin typeface="Calibri"/>
                <a:ea typeface="Calibri"/>
              </a:rPr>
              <a:t>CICLO FORMATIVO DE GRADO SUPERIOR · DAM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548640" y="1783080"/>
            <a:ext cx="86864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Programación Multimedia</a:t>
            </a:r>
            <a:endParaRPr lang="es-E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y Dispositivos Móviles</a:t>
            </a:r>
            <a:endParaRPr lang="es-E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548640" y="3703320"/>
            <a:ext cx="8137800" cy="959760"/>
          </a:xfrm>
          <a:prstGeom prst="roundRect">
            <a:avLst>
              <a:gd name="adj" fmla="val 7619"/>
            </a:avLst>
          </a:prstGeom>
          <a:solidFill>
            <a:srgbClr val="17325A"/>
          </a:solidFill>
          <a:ln w="19050">
            <a:solidFill>
              <a:srgbClr val="3DDC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3"/>
          <p:cNvSpPr/>
          <p:nvPr/>
        </p:nvSpPr>
        <p:spPr>
          <a:xfrm>
            <a:off x="822960" y="3703320"/>
            <a:ext cx="1188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DDC84"/>
                </a:solidFill>
                <a:effectLst/>
                <a:uFillTx/>
                <a:latin typeface="Cambria"/>
                <a:ea typeface="Cambria"/>
              </a:rPr>
              <a:t>UT1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2011680" y="3703320"/>
            <a:ext cx="6491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Análisis de tecnologías para aplicaciones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 dispositivos móviles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548640" y="5989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6"/>
                </a:solidFill>
                <a:effectLst/>
                <a:uFillTx/>
                <a:latin typeface="Calibri"/>
                <a:ea typeface="Calibri"/>
              </a:rPr>
              <a:t>CIFP Santa Catalina · Aranda de Duero  —  Curso 2026/2027  —  Carlos Luque González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EN ESTA UNIDAD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Qué vamos a ver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548640" y="1600200"/>
            <a:ext cx="502560" cy="50256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0" name="Image 0" descr="preencoded.png"/>
          <p:cNvPicPr/>
          <p:nvPr/>
        </p:nvPicPr>
        <p:blipFill>
          <a:blip r:embed="rId1"/>
          <a:stretch/>
        </p:blipFill>
        <p:spPr>
          <a:xfrm>
            <a:off x="679320" y="1730880"/>
            <a:ext cx="241200" cy="24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3"/>
          <p:cNvSpPr/>
          <p:nvPr/>
        </p:nvSpPr>
        <p:spPr>
          <a:xfrm>
            <a:off x="1252800" y="1563480"/>
            <a:ext cx="1017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El ecosistema móvil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1252800" y="1837800"/>
            <a:ext cx="1017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Evolución, tipos de dispositivos y sistemas operativos.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548640" y="2541960"/>
            <a:ext cx="502560" cy="50256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4" name="Image 1" descr="preencoded.png"/>
          <p:cNvPicPr/>
          <p:nvPr/>
        </p:nvPicPr>
        <p:blipFill>
          <a:blip r:embed="rId2"/>
          <a:stretch/>
        </p:blipFill>
        <p:spPr>
          <a:xfrm>
            <a:off x="679320" y="2672640"/>
            <a:ext cx="241200" cy="24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6"/>
          <p:cNvSpPr/>
          <p:nvPr/>
        </p:nvSpPr>
        <p:spPr>
          <a:xfrm>
            <a:off x="1252800" y="2505600"/>
            <a:ext cx="1017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Hardware y limitaciones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1252800" y="2779920"/>
            <a:ext cx="1017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Qué componentes tiene un dispositivo móvil y qué restricciones impone.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548640" y="3483720"/>
            <a:ext cx="502560" cy="50256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8" name="Image 2" descr="preencoded.png"/>
          <p:cNvPicPr/>
          <p:nvPr/>
        </p:nvPicPr>
        <p:blipFill>
          <a:blip r:embed="rId3"/>
          <a:stretch/>
        </p:blipFill>
        <p:spPr>
          <a:xfrm>
            <a:off x="679320" y="3614760"/>
            <a:ext cx="241200" cy="24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9"/>
          <p:cNvSpPr/>
          <p:nvPr/>
        </p:nvSpPr>
        <p:spPr>
          <a:xfrm>
            <a:off x="1252800" y="3447360"/>
            <a:ext cx="1017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Tecnologías y entornos de desarrollo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1252800" y="3721680"/>
            <a:ext cx="1017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Nativo, multiplataforma e híbrido; Android Studio y sus herramientas.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1"/>
          <p:cNvSpPr/>
          <p:nvPr/>
        </p:nvSpPr>
        <p:spPr>
          <a:xfrm>
            <a:off x="548640" y="4425840"/>
            <a:ext cx="502560" cy="50256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2" name="Image 3" descr="preencoded.png"/>
          <p:cNvPicPr/>
          <p:nvPr/>
        </p:nvPicPr>
        <p:blipFill>
          <a:blip r:embed="rId4"/>
          <a:stretch/>
        </p:blipFill>
        <p:spPr>
          <a:xfrm>
            <a:off x="679320" y="4556520"/>
            <a:ext cx="241200" cy="24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12"/>
          <p:cNvSpPr/>
          <p:nvPr/>
        </p:nvSpPr>
        <p:spPr>
          <a:xfrm>
            <a:off x="1252800" y="4389120"/>
            <a:ext cx="1017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Emuladores y estructura de una app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1252800" y="4663440"/>
            <a:ext cx="1017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Dispositivos virtuales, componentes y jerarquía de una aplicación Android.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4"/>
          <p:cNvSpPr/>
          <p:nvPr/>
        </p:nvSpPr>
        <p:spPr>
          <a:xfrm>
            <a:off x="548640" y="5367600"/>
            <a:ext cx="502560" cy="50256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6" name="Image 4" descr="preencoded.png"/>
          <p:cNvPicPr/>
          <p:nvPr/>
        </p:nvPicPr>
        <p:blipFill>
          <a:blip r:embed="rId5"/>
          <a:stretch/>
        </p:blipFill>
        <p:spPr>
          <a:xfrm>
            <a:off x="679320" y="5498280"/>
            <a:ext cx="241200" cy="24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15"/>
          <p:cNvSpPr/>
          <p:nvPr/>
        </p:nvSpPr>
        <p:spPr>
          <a:xfrm>
            <a:off x="1252800" y="5330880"/>
            <a:ext cx="1017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Ciclo de vida y mantenimiento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1252800" y="5605200"/>
            <a:ext cx="1017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De la instalación al borrado, y el entorno de ejecución Android Runtime.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7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8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OBJETIVOS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Al terminar esta unidad sabrás…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"/>
          <p:cNvSpPr/>
          <p:nvPr/>
        </p:nvSpPr>
        <p:spPr>
          <a:xfrm>
            <a:off x="548640" y="1554480"/>
            <a:ext cx="402120" cy="4021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4" name="Image 0" descr="preencoded.png"/>
          <p:cNvPicPr/>
          <p:nvPr/>
        </p:nvPicPr>
        <p:blipFill>
          <a:blip r:embed="rId1"/>
          <a:stretch/>
        </p:blipFill>
        <p:spPr>
          <a:xfrm>
            <a:off x="653400" y="1659240"/>
            <a:ext cx="19260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3"/>
          <p:cNvSpPr/>
          <p:nvPr/>
        </p:nvSpPr>
        <p:spPr>
          <a:xfrm>
            <a:off x="1152000" y="1536120"/>
            <a:ext cx="10277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Clasificar los tipos de dispositivos móviles y su evolución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4"/>
          <p:cNvSpPr/>
          <p:nvPr/>
        </p:nvSpPr>
        <p:spPr>
          <a:xfrm>
            <a:off x="548640" y="2231280"/>
            <a:ext cx="402120" cy="4021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7" name="Image 1" descr="preencoded.png"/>
          <p:cNvPicPr/>
          <p:nvPr/>
        </p:nvPicPr>
        <p:blipFill>
          <a:blip r:embed="rId2"/>
          <a:stretch/>
        </p:blipFill>
        <p:spPr>
          <a:xfrm>
            <a:off x="653400" y="2335680"/>
            <a:ext cx="19260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5"/>
          <p:cNvSpPr/>
          <p:nvPr/>
        </p:nvSpPr>
        <p:spPr>
          <a:xfrm>
            <a:off x="1152000" y="2212920"/>
            <a:ext cx="10277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Identificar las limitaciones que impone el hardware móvil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548640" y="2907720"/>
            <a:ext cx="402120" cy="4021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0" name="Image 2" descr="preencoded.png"/>
          <p:cNvPicPr/>
          <p:nvPr/>
        </p:nvPicPr>
        <p:blipFill>
          <a:blip r:embed="rId3"/>
          <a:stretch/>
        </p:blipFill>
        <p:spPr>
          <a:xfrm>
            <a:off x="653400" y="3012480"/>
            <a:ext cx="19260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7"/>
          <p:cNvSpPr/>
          <p:nvPr/>
        </p:nvSpPr>
        <p:spPr>
          <a:xfrm>
            <a:off x="1152000" y="2889360"/>
            <a:ext cx="10277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Distinguir desarrollo nativo, multiplataforma e híbrido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548640" y="3584520"/>
            <a:ext cx="402120" cy="4021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3" name="Image 3" descr="preencoded.png"/>
          <p:cNvPicPr/>
          <p:nvPr/>
        </p:nvPicPr>
        <p:blipFill>
          <a:blip r:embed="rId4"/>
          <a:stretch/>
        </p:blipFill>
        <p:spPr>
          <a:xfrm>
            <a:off x="653400" y="3688920"/>
            <a:ext cx="19260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9"/>
          <p:cNvSpPr/>
          <p:nvPr/>
        </p:nvSpPr>
        <p:spPr>
          <a:xfrm>
            <a:off x="1152000" y="3566160"/>
            <a:ext cx="10277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Manejar los componentes principales de Android Studio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548640" y="4260960"/>
            <a:ext cx="402120" cy="4021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6" name="Image 4" descr="preencoded.png"/>
          <p:cNvPicPr/>
          <p:nvPr/>
        </p:nvPicPr>
        <p:blipFill>
          <a:blip r:embed="rId5"/>
          <a:stretch/>
        </p:blipFill>
        <p:spPr>
          <a:xfrm>
            <a:off x="653400" y="4365720"/>
            <a:ext cx="19260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11"/>
          <p:cNvSpPr/>
          <p:nvPr/>
        </p:nvSpPr>
        <p:spPr>
          <a:xfrm>
            <a:off x="1152000" y="4242960"/>
            <a:ext cx="10277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Explicar qué es un dispositivo virtual (AVD) y cómo se configura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2"/>
          <p:cNvSpPr/>
          <p:nvPr/>
        </p:nvSpPr>
        <p:spPr>
          <a:xfrm>
            <a:off x="548640" y="4937760"/>
            <a:ext cx="402120" cy="4021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9" name="Image 5" descr="preencoded.png"/>
          <p:cNvPicPr/>
          <p:nvPr/>
        </p:nvPicPr>
        <p:blipFill>
          <a:blip r:embed="rId6"/>
          <a:stretch/>
        </p:blipFill>
        <p:spPr>
          <a:xfrm>
            <a:off x="653400" y="5042520"/>
            <a:ext cx="19260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13"/>
          <p:cNvSpPr/>
          <p:nvPr/>
        </p:nvSpPr>
        <p:spPr>
          <a:xfrm>
            <a:off x="1152000" y="4919400"/>
            <a:ext cx="10277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Analizar la estructura y jerarquía de clases de una app Android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4"/>
          <p:cNvSpPr/>
          <p:nvPr/>
        </p:nvSpPr>
        <p:spPr>
          <a:xfrm>
            <a:off x="548640" y="5614560"/>
            <a:ext cx="402120" cy="4021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Image 6" descr="preencoded.png"/>
          <p:cNvPicPr/>
          <p:nvPr/>
        </p:nvPicPr>
        <p:blipFill>
          <a:blip r:embed="rId7"/>
          <a:stretch/>
        </p:blipFill>
        <p:spPr>
          <a:xfrm>
            <a:off x="653400" y="5718960"/>
            <a:ext cx="192600" cy="1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15"/>
          <p:cNvSpPr/>
          <p:nvPr/>
        </p:nvSpPr>
        <p:spPr>
          <a:xfrm>
            <a:off x="1152000" y="5596200"/>
            <a:ext cx="10277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Describir el ciclo de vida de una aplicación móvil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METODOLOGÍA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Nuestro stack de referencia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548640" y="1828800"/>
            <a:ext cx="1371240" cy="13712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9" name="Image 0" descr="preencoded.png"/>
          <p:cNvPicPr/>
          <p:nvPr/>
        </p:nvPicPr>
        <p:blipFill>
          <a:blip r:embed="rId1"/>
          <a:stretch/>
        </p:blipFill>
        <p:spPr>
          <a:xfrm>
            <a:off x="905400" y="2185560"/>
            <a:ext cx="658080" cy="65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3"/>
          <p:cNvSpPr/>
          <p:nvPr/>
        </p:nvSpPr>
        <p:spPr>
          <a:xfrm>
            <a:off x="2240280" y="1828800"/>
            <a:ext cx="6034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Kotlin + Jetpack Compose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2240280" y="2395800"/>
            <a:ext cx="6034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sobre Android nativo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5"/>
          <p:cNvSpPr/>
          <p:nvPr/>
        </p:nvSpPr>
        <p:spPr>
          <a:xfrm>
            <a:off x="548640" y="3520440"/>
            <a:ext cx="365400" cy="365400"/>
          </a:xfrm>
          <a:prstGeom prst="ellipse">
            <a:avLst/>
          </a:prstGeom>
          <a:solidFill>
            <a:srgbClr val="1AA3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 1" descr="preencoded.png"/>
          <p:cNvPicPr/>
          <p:nvPr/>
        </p:nvPicPr>
        <p:blipFill>
          <a:blip r:embed="rId2"/>
          <a:stretch/>
        </p:blipFill>
        <p:spPr>
          <a:xfrm>
            <a:off x="643680" y="3615480"/>
            <a:ext cx="175320" cy="17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6"/>
          <p:cNvSpPr/>
          <p:nvPr/>
        </p:nvSpPr>
        <p:spPr>
          <a:xfrm>
            <a:off x="1115640" y="3502080"/>
            <a:ext cx="103140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Recomendado oficialmente por Google desde 2019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7"/>
          <p:cNvSpPr/>
          <p:nvPr/>
        </p:nvSpPr>
        <p:spPr>
          <a:xfrm>
            <a:off x="548640" y="4133160"/>
            <a:ext cx="365400" cy="365400"/>
          </a:xfrm>
          <a:prstGeom prst="ellipse">
            <a:avLst/>
          </a:prstGeom>
          <a:solidFill>
            <a:srgbClr val="1AA3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6" name="Image 2" descr="preencoded.png"/>
          <p:cNvPicPr/>
          <p:nvPr/>
        </p:nvPicPr>
        <p:blipFill>
          <a:blip r:embed="rId3"/>
          <a:stretch/>
        </p:blipFill>
        <p:spPr>
          <a:xfrm>
            <a:off x="643680" y="4228200"/>
            <a:ext cx="175320" cy="17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8"/>
          <p:cNvSpPr/>
          <p:nvPr/>
        </p:nvSpPr>
        <p:spPr>
          <a:xfrm>
            <a:off x="1115640" y="4114800"/>
            <a:ext cx="103140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La combinación más demandada en el sector en 2026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9"/>
          <p:cNvSpPr/>
          <p:nvPr/>
        </p:nvSpPr>
        <p:spPr>
          <a:xfrm>
            <a:off x="548640" y="4745880"/>
            <a:ext cx="365400" cy="365400"/>
          </a:xfrm>
          <a:prstGeom prst="ellipse">
            <a:avLst/>
          </a:prstGeom>
          <a:solidFill>
            <a:srgbClr val="1AA3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Image 3" descr="preencoded.png"/>
          <p:cNvPicPr/>
          <p:nvPr/>
        </p:nvPicPr>
        <p:blipFill>
          <a:blip r:embed="rId4"/>
          <a:stretch/>
        </p:blipFill>
        <p:spPr>
          <a:xfrm>
            <a:off x="643680" y="4840920"/>
            <a:ext cx="175320" cy="17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 10"/>
          <p:cNvSpPr/>
          <p:nvPr/>
        </p:nvSpPr>
        <p:spPr>
          <a:xfrm>
            <a:off x="1115640" y="4727520"/>
            <a:ext cx="103140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Mejor documentación y soporte para el aula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548640" y="5349240"/>
            <a:ext cx="10908360" cy="868320"/>
          </a:xfrm>
          <a:prstGeom prst="roundRect">
            <a:avLst>
              <a:gd name="adj" fmla="val 8421"/>
            </a:avLst>
          </a:prstGeom>
          <a:solidFill>
            <a:srgbClr val="EAF3FF"/>
          </a:solidFill>
          <a:ln w="12700">
            <a:solidFill>
              <a:srgbClr val="E1E8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777240" y="5349240"/>
            <a:ext cx="10451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También analizaremos, de forma comparada, Flutter, React Native, Kotlin Multiplatform y las alternativas híbridas (bloque 3), porque todo desarrollador debe conocerlas para justificar sus decisiones tecnológicas.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5592960" y="1051560"/>
            <a:ext cx="1005480" cy="100548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6" name="Image 0" descr="preencoded.png"/>
          <p:cNvPicPr/>
          <p:nvPr/>
        </p:nvPicPr>
        <p:blipFill>
          <a:blip r:embed="rId1"/>
          <a:stretch/>
        </p:blipFill>
        <p:spPr>
          <a:xfrm>
            <a:off x="5854320" y="131292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1"/>
          <p:cNvSpPr/>
          <p:nvPr/>
        </p:nvSpPr>
        <p:spPr>
          <a:xfrm>
            <a:off x="914400" y="233172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3DDC84"/>
                </a:solidFill>
                <a:effectLst/>
                <a:uFillTx/>
                <a:latin typeface="Calibri"/>
                <a:ea typeface="Calibri"/>
              </a:rPr>
              <a:t>BLOQUE 1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914400" y="2743200"/>
            <a:ext cx="10362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El ecosistema de los dispositivos móviles</a:t>
            </a:r>
            <a:endParaRPr lang="es-E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1645920" y="3977640"/>
            <a:ext cx="889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Evolución, tipos de dispositivos y sistemas operativos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1.1 · EVOLUCIÓN HISTÓRICA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De la PDA al smartphone actual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731520" y="3509640"/>
            <a:ext cx="10515240" cy="2160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3040" rIns="90000" bIns="-2304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Shape 3"/>
          <p:cNvSpPr/>
          <p:nvPr/>
        </p:nvSpPr>
        <p:spPr>
          <a:xfrm>
            <a:off x="1382040" y="3420000"/>
            <a:ext cx="200880" cy="200880"/>
          </a:xfrm>
          <a:prstGeom prst="ellipse">
            <a:avLst/>
          </a:prstGeom>
          <a:solidFill>
            <a:srgbClr val="3DDC84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 4"/>
          <p:cNvSpPr/>
          <p:nvPr/>
        </p:nvSpPr>
        <p:spPr>
          <a:xfrm>
            <a:off x="800280" y="2606040"/>
            <a:ext cx="136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1973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800280" y="2862000"/>
            <a:ext cx="1364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Primer prototipo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de teléfono móvil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(Motorola)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6"/>
          <p:cNvSpPr/>
          <p:nvPr/>
        </p:nvSpPr>
        <p:spPr>
          <a:xfrm>
            <a:off x="2884320" y="3420000"/>
            <a:ext cx="200880" cy="200880"/>
          </a:xfrm>
          <a:prstGeom prst="ellipse">
            <a:avLst/>
          </a:prstGeom>
          <a:solidFill>
            <a:srgbClr val="3DDC84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 7"/>
          <p:cNvSpPr/>
          <p:nvPr/>
        </p:nvSpPr>
        <p:spPr>
          <a:xfrm>
            <a:off x="2302200" y="3776400"/>
            <a:ext cx="136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1996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2302200" y="4069080"/>
            <a:ext cx="1364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Popularización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de las PDA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(Palm Pilot)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9"/>
          <p:cNvSpPr/>
          <p:nvPr/>
        </p:nvSpPr>
        <p:spPr>
          <a:xfrm>
            <a:off x="4386600" y="3420000"/>
            <a:ext cx="200880" cy="200880"/>
          </a:xfrm>
          <a:prstGeom prst="ellipse">
            <a:avLst/>
          </a:prstGeom>
          <a:solidFill>
            <a:srgbClr val="3DDC84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3804480" y="2606040"/>
            <a:ext cx="136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2000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3804480" y="2862000"/>
            <a:ext cx="1364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Symbian lidera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los primeros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smartphones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2"/>
          <p:cNvSpPr/>
          <p:nvPr/>
        </p:nvSpPr>
        <p:spPr>
          <a:xfrm>
            <a:off x="5888880" y="3420000"/>
            <a:ext cx="200880" cy="200880"/>
          </a:xfrm>
          <a:prstGeom prst="ellipse">
            <a:avLst/>
          </a:prstGeom>
          <a:solidFill>
            <a:srgbClr val="3DDC84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5306760" y="3776400"/>
            <a:ext cx="136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2007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4"/>
          <p:cNvSpPr/>
          <p:nvPr/>
        </p:nvSpPr>
        <p:spPr>
          <a:xfrm>
            <a:off x="5306760" y="4069080"/>
            <a:ext cx="1364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Apple presenta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el iPhone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5"/>
          <p:cNvSpPr/>
          <p:nvPr/>
        </p:nvSpPr>
        <p:spPr>
          <a:xfrm>
            <a:off x="7390800" y="3420000"/>
            <a:ext cx="200880" cy="200880"/>
          </a:xfrm>
          <a:prstGeom prst="ellipse">
            <a:avLst/>
          </a:prstGeom>
          <a:solidFill>
            <a:srgbClr val="3DDC84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 16"/>
          <p:cNvSpPr/>
          <p:nvPr/>
        </p:nvSpPr>
        <p:spPr>
          <a:xfrm>
            <a:off x="6809040" y="2606040"/>
            <a:ext cx="136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2008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7"/>
          <p:cNvSpPr/>
          <p:nvPr/>
        </p:nvSpPr>
        <p:spPr>
          <a:xfrm>
            <a:off x="6809040" y="2862000"/>
            <a:ext cx="1364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Google lanza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Android y el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Android Market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8"/>
          <p:cNvSpPr/>
          <p:nvPr/>
        </p:nvSpPr>
        <p:spPr>
          <a:xfrm>
            <a:off x="8893080" y="3420000"/>
            <a:ext cx="200880" cy="200880"/>
          </a:xfrm>
          <a:prstGeom prst="ellipse">
            <a:avLst/>
          </a:prstGeom>
          <a:solidFill>
            <a:srgbClr val="3DDC84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 19"/>
          <p:cNvSpPr/>
          <p:nvPr/>
        </p:nvSpPr>
        <p:spPr>
          <a:xfrm>
            <a:off x="8311320" y="3776400"/>
            <a:ext cx="136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2010-19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0"/>
          <p:cNvSpPr/>
          <p:nvPr/>
        </p:nvSpPr>
        <p:spPr>
          <a:xfrm>
            <a:off x="8311320" y="4069080"/>
            <a:ext cx="1364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4G, sensores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avanzados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y wearables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1"/>
          <p:cNvSpPr/>
          <p:nvPr/>
        </p:nvSpPr>
        <p:spPr>
          <a:xfrm>
            <a:off x="10395360" y="3420000"/>
            <a:ext cx="200880" cy="200880"/>
          </a:xfrm>
          <a:prstGeom prst="ellipse">
            <a:avLst/>
          </a:prstGeom>
          <a:solidFill>
            <a:srgbClr val="3DDC84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 22"/>
          <p:cNvSpPr/>
          <p:nvPr/>
        </p:nvSpPr>
        <p:spPr>
          <a:xfrm>
            <a:off x="9813600" y="2606040"/>
            <a:ext cx="1364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2020-26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3"/>
          <p:cNvSpPr/>
          <p:nvPr/>
        </p:nvSpPr>
        <p:spPr>
          <a:xfrm>
            <a:off x="9813600" y="2862000"/>
            <a:ext cx="1364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5G, plegables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e IA embebida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4"/>
          <p:cNvSpPr/>
          <p:nvPr/>
        </p:nvSpPr>
        <p:spPr>
          <a:xfrm>
            <a:off x="548640" y="5349240"/>
            <a:ext cx="1090836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 25"/>
          <p:cNvSpPr/>
          <p:nvPr/>
        </p:nvSpPr>
        <p:spPr>
          <a:xfrm>
            <a:off x="777240" y="5349240"/>
            <a:ext cx="10451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El dispositivo móvil actual nace de la convergencia de tres productos que en los años 90 evolucionaban por separado: el teléfono móvil, la PDA y el reproductor multimedia portátil.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6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7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1.2 · TIPOS DE DISPOSITIVOS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No todo es un smartphone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548640" y="1554480"/>
            <a:ext cx="3453120" cy="21027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749880" y="175572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4" name="Image 0" descr="preencoded.png"/>
          <p:cNvPicPr/>
          <p:nvPr/>
        </p:nvPicPr>
        <p:blipFill>
          <a:blip r:embed="rId1"/>
          <a:stretch/>
        </p:blipFill>
        <p:spPr>
          <a:xfrm>
            <a:off x="897120" y="19029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4"/>
          <p:cNvSpPr/>
          <p:nvPr/>
        </p:nvSpPr>
        <p:spPr>
          <a:xfrm>
            <a:off x="749880" y="2423160"/>
            <a:ext cx="3050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Smartphones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749880" y="2761560"/>
            <a:ext cx="3050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El dispositivo de referencia: telefonía, datos y ecosistema de apps.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4276440" y="1554480"/>
            <a:ext cx="3453120" cy="21027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Shape 7"/>
          <p:cNvSpPr/>
          <p:nvPr/>
        </p:nvSpPr>
        <p:spPr>
          <a:xfrm>
            <a:off x="4477680" y="175572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Image 1" descr="preencoded.png"/>
          <p:cNvPicPr/>
          <p:nvPr/>
        </p:nvPicPr>
        <p:blipFill>
          <a:blip r:embed="rId2"/>
          <a:stretch/>
        </p:blipFill>
        <p:spPr>
          <a:xfrm>
            <a:off x="4624920" y="19029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8"/>
          <p:cNvSpPr/>
          <p:nvPr/>
        </p:nvSpPr>
        <p:spPr>
          <a:xfrm>
            <a:off x="4477680" y="2423160"/>
            <a:ext cx="3050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Tablets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9"/>
          <p:cNvSpPr/>
          <p:nvPr/>
        </p:nvSpPr>
        <p:spPr>
          <a:xfrm>
            <a:off x="4477680" y="2761560"/>
            <a:ext cx="3050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Pantalla mayor; exigen diseños de interfaz adaptativos.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0"/>
          <p:cNvSpPr/>
          <p:nvPr/>
        </p:nvSpPr>
        <p:spPr>
          <a:xfrm>
            <a:off x="8003880" y="1554480"/>
            <a:ext cx="3453120" cy="21027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11"/>
          <p:cNvSpPr/>
          <p:nvPr/>
        </p:nvSpPr>
        <p:spPr>
          <a:xfrm>
            <a:off x="8205120" y="175572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4" name="Image 2" descr="preencoded.png"/>
          <p:cNvPicPr/>
          <p:nvPr/>
        </p:nvPicPr>
        <p:blipFill>
          <a:blip r:embed="rId3"/>
          <a:stretch/>
        </p:blipFill>
        <p:spPr>
          <a:xfrm>
            <a:off x="8352720" y="19029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12"/>
          <p:cNvSpPr/>
          <p:nvPr/>
        </p:nvSpPr>
        <p:spPr>
          <a:xfrm>
            <a:off x="8205120" y="2423160"/>
            <a:ext cx="3050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Wearables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3"/>
          <p:cNvSpPr/>
          <p:nvPr/>
        </p:nvSpPr>
        <p:spPr>
          <a:xfrm>
            <a:off x="8205120" y="2761560"/>
            <a:ext cx="3050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Relojes y pulseras: pantallas mínimas, sensores biométricos.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4"/>
          <p:cNvSpPr/>
          <p:nvPr/>
        </p:nvSpPr>
        <p:spPr>
          <a:xfrm>
            <a:off x="548640" y="3931920"/>
            <a:ext cx="3453120" cy="21027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Shape 15"/>
          <p:cNvSpPr/>
          <p:nvPr/>
        </p:nvSpPr>
        <p:spPr>
          <a:xfrm>
            <a:off x="749880" y="413316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9" name="Image 3" descr="preencoded.png"/>
          <p:cNvPicPr/>
          <p:nvPr/>
        </p:nvPicPr>
        <p:blipFill>
          <a:blip r:embed="rId4"/>
          <a:stretch/>
        </p:blipFill>
        <p:spPr>
          <a:xfrm>
            <a:off x="897120" y="428040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16"/>
          <p:cNvSpPr/>
          <p:nvPr/>
        </p:nvSpPr>
        <p:spPr>
          <a:xfrm>
            <a:off x="749880" y="4800600"/>
            <a:ext cx="3050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Plegables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749880" y="5139000"/>
            <a:ext cx="3050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La interfaz debe adaptarse en tiempo real al desplegarse.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8"/>
          <p:cNvSpPr/>
          <p:nvPr/>
        </p:nvSpPr>
        <p:spPr>
          <a:xfrm>
            <a:off x="4276440" y="3931920"/>
            <a:ext cx="3453120" cy="21027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Shape 19"/>
          <p:cNvSpPr/>
          <p:nvPr/>
        </p:nvSpPr>
        <p:spPr>
          <a:xfrm>
            <a:off x="4477680" y="413316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4" name="Image 4" descr="preencoded.png"/>
          <p:cNvPicPr/>
          <p:nvPr/>
        </p:nvPicPr>
        <p:blipFill>
          <a:blip r:embed="rId5"/>
          <a:stretch/>
        </p:blipFill>
        <p:spPr>
          <a:xfrm>
            <a:off x="4624920" y="428040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20"/>
          <p:cNvSpPr/>
          <p:nvPr/>
        </p:nvSpPr>
        <p:spPr>
          <a:xfrm>
            <a:off x="4477680" y="4800600"/>
            <a:ext cx="3050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Automoción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1"/>
          <p:cNvSpPr/>
          <p:nvPr/>
        </p:nvSpPr>
        <p:spPr>
          <a:xfrm>
            <a:off x="4477680" y="5139000"/>
            <a:ext cx="3050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Android Automotive / CarPlay en sistemas de infoentretenimiento.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2"/>
          <p:cNvSpPr/>
          <p:nvPr/>
        </p:nvSpPr>
        <p:spPr>
          <a:xfrm>
            <a:off x="8003880" y="3931920"/>
            <a:ext cx="3453120" cy="21027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Shape 23"/>
          <p:cNvSpPr/>
          <p:nvPr/>
        </p:nvSpPr>
        <p:spPr>
          <a:xfrm>
            <a:off x="8205120" y="413316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Image 5" descr="preencoded.png"/>
          <p:cNvPicPr/>
          <p:nvPr/>
        </p:nvPicPr>
        <p:blipFill>
          <a:blip r:embed="rId6"/>
          <a:stretch/>
        </p:blipFill>
        <p:spPr>
          <a:xfrm>
            <a:off x="8352720" y="428040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 24"/>
          <p:cNvSpPr/>
          <p:nvPr/>
        </p:nvSpPr>
        <p:spPr>
          <a:xfrm>
            <a:off x="8205120" y="4800600"/>
            <a:ext cx="3050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Android TV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5"/>
          <p:cNvSpPr/>
          <p:nvPr/>
        </p:nvSpPr>
        <p:spPr>
          <a:xfrm>
            <a:off x="8205120" y="5139000"/>
            <a:ext cx="3050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Variante del sistema operativo móvil para televisores.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6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7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1.3 · SISTEMAS OPERATIVOS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Cuota de mercado móvil (2026)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6" name="Chart 0"/>
          <p:cNvGraphicFramePr/>
          <p:nvPr/>
        </p:nvGraphicFramePr>
        <p:xfrm>
          <a:off x="548640" y="1600200"/>
          <a:ext cx="512028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7" name="Shape 2"/>
          <p:cNvSpPr/>
          <p:nvPr/>
        </p:nvSpPr>
        <p:spPr>
          <a:xfrm>
            <a:off x="6492240" y="1600200"/>
            <a:ext cx="456840" cy="456840"/>
          </a:xfrm>
          <a:prstGeom prst="ellipse">
            <a:avLst/>
          </a:prstGeom>
          <a:solidFill>
            <a:srgbClr val="1AA3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8" name="Image 0" descr="preencoded.png"/>
          <p:cNvPicPr/>
          <p:nvPr/>
        </p:nvPicPr>
        <p:blipFill>
          <a:blip r:embed="rId2"/>
          <a:stretch/>
        </p:blipFill>
        <p:spPr>
          <a:xfrm>
            <a:off x="6611040" y="171900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 3"/>
          <p:cNvSpPr/>
          <p:nvPr/>
        </p:nvSpPr>
        <p:spPr>
          <a:xfrm>
            <a:off x="7132320" y="157284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Android es mayoritario en casi todo el mundo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7132320" y="1874520"/>
            <a:ext cx="4114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En unidades vendidas (Counterpoint, 2.º trim. 2026) se acerca al 73-75 %, con HarmonyOS sumando un 5 % gracias a China.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6492240" y="2971800"/>
            <a:ext cx="456840" cy="456840"/>
          </a:xfrm>
          <a:prstGeom prst="ellipse">
            <a:avLst/>
          </a:prstGeom>
          <a:solidFill>
            <a:srgbClr val="1AA3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2" name="Image 1" descr="preencoded.png"/>
          <p:cNvPicPr/>
          <p:nvPr/>
        </p:nvPicPr>
        <p:blipFill>
          <a:blip r:embed="rId3"/>
          <a:stretch/>
        </p:blipFill>
        <p:spPr>
          <a:xfrm>
            <a:off x="6611040" y="309060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6"/>
          <p:cNvSpPr/>
          <p:nvPr/>
        </p:nvSpPr>
        <p:spPr>
          <a:xfrm>
            <a:off x="7132320" y="294444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iOS domina en EE. UU.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7132320" y="3246120"/>
            <a:ext cx="4114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En torno al 50 % frente al 49 % de Android; es la excepción a la tendencia mundial.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8"/>
          <p:cNvSpPr/>
          <p:nvPr/>
        </p:nvSpPr>
        <p:spPr>
          <a:xfrm>
            <a:off x="6492240" y="4343400"/>
            <a:ext cx="456840" cy="456840"/>
          </a:xfrm>
          <a:prstGeom prst="ellipse">
            <a:avLst/>
          </a:prstGeom>
          <a:solidFill>
            <a:srgbClr val="1AA3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6" name="Image 2" descr="preencoded.png"/>
          <p:cNvPicPr/>
          <p:nvPr/>
        </p:nvPicPr>
        <p:blipFill>
          <a:blip r:embed="rId4"/>
          <a:stretch/>
        </p:blipFill>
        <p:spPr>
          <a:xfrm>
            <a:off x="6611040" y="446220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xt 9"/>
          <p:cNvSpPr/>
          <p:nvPr/>
        </p:nvSpPr>
        <p:spPr>
          <a:xfrm>
            <a:off x="7132320" y="431604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¿Por qué Android en este módulo?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7132320" y="4617720"/>
            <a:ext cx="4114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Es mayoritario, de código abierto, y sus herramientas de desarrollo son gratuitas y sin hardware específico.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5592960" y="1051560"/>
            <a:ext cx="1005480" cy="100548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72" name="Image 0" descr="preencoded.png"/>
          <p:cNvPicPr/>
          <p:nvPr/>
        </p:nvPicPr>
        <p:blipFill>
          <a:blip r:embed="rId1"/>
          <a:stretch/>
        </p:blipFill>
        <p:spPr>
          <a:xfrm>
            <a:off x="5854320" y="131292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 1"/>
          <p:cNvSpPr/>
          <p:nvPr/>
        </p:nvSpPr>
        <p:spPr>
          <a:xfrm>
            <a:off x="914400" y="233172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3DDC84"/>
                </a:solidFill>
                <a:effectLst/>
                <a:uFillTx/>
                <a:latin typeface="Calibri"/>
                <a:ea typeface="Calibri"/>
              </a:rPr>
              <a:t>BLOQUE 2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914400" y="2743200"/>
            <a:ext cx="10362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Hardware y limitaciones de los dispositivos móviles</a:t>
            </a:r>
            <a:endParaRPr lang="es-E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1645920" y="3977640"/>
            <a:ext cx="889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Qué componentes tiene un dispositivo móvil y qué restricciones impone al desarrollo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2.1 · COMPONENTES HARDWARE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Lo que hay dentro de un dispositivo móvil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548640" y="1554480"/>
            <a:ext cx="2555280" cy="21117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Shape 3"/>
          <p:cNvSpPr/>
          <p:nvPr/>
        </p:nvSpPr>
        <p:spPr>
          <a:xfrm>
            <a:off x="749880" y="175572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2" name="Image 0" descr="preencoded.png"/>
          <p:cNvPicPr/>
          <p:nvPr/>
        </p:nvPicPr>
        <p:blipFill>
          <a:blip r:embed="rId1"/>
          <a:stretch/>
        </p:blipFill>
        <p:spPr>
          <a:xfrm>
            <a:off x="897120" y="19029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4"/>
          <p:cNvSpPr/>
          <p:nvPr/>
        </p:nvSpPr>
        <p:spPr>
          <a:xfrm>
            <a:off x="749880" y="2423160"/>
            <a:ext cx="215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Pantalla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749880" y="2761560"/>
            <a:ext cx="2153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Tamaño, resolución y densidad (dpi) determinan los píxeles independientes de densidad (dp).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6"/>
          <p:cNvSpPr/>
          <p:nvPr/>
        </p:nvSpPr>
        <p:spPr>
          <a:xfrm>
            <a:off x="3332880" y="1554480"/>
            <a:ext cx="2555280" cy="21117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Shape 7"/>
          <p:cNvSpPr/>
          <p:nvPr/>
        </p:nvSpPr>
        <p:spPr>
          <a:xfrm>
            <a:off x="3534120" y="175572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7" name="Image 1" descr="preencoded.png"/>
          <p:cNvPicPr/>
          <p:nvPr/>
        </p:nvPicPr>
        <p:blipFill>
          <a:blip r:embed="rId2"/>
          <a:stretch/>
        </p:blipFill>
        <p:spPr>
          <a:xfrm>
            <a:off x="3681720" y="19029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 8"/>
          <p:cNvSpPr/>
          <p:nvPr/>
        </p:nvSpPr>
        <p:spPr>
          <a:xfrm>
            <a:off x="3534120" y="2423160"/>
            <a:ext cx="215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Procesador (SoC)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9"/>
          <p:cNvSpPr/>
          <p:nvPr/>
        </p:nvSpPr>
        <p:spPr>
          <a:xfrm>
            <a:off x="3534120" y="2761560"/>
            <a:ext cx="2153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Integra CPU, GPU y, cada vez más, una NPU para IA en local.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0"/>
          <p:cNvSpPr/>
          <p:nvPr/>
        </p:nvSpPr>
        <p:spPr>
          <a:xfrm>
            <a:off x="6117480" y="1554480"/>
            <a:ext cx="2555280" cy="21117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Shape 11"/>
          <p:cNvSpPr/>
          <p:nvPr/>
        </p:nvSpPr>
        <p:spPr>
          <a:xfrm>
            <a:off x="6318360" y="175572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92" name="Image 2" descr="preencoded.png"/>
          <p:cNvPicPr/>
          <p:nvPr/>
        </p:nvPicPr>
        <p:blipFill>
          <a:blip r:embed="rId3"/>
          <a:stretch/>
        </p:blipFill>
        <p:spPr>
          <a:xfrm>
            <a:off x="6465960" y="19029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 12"/>
          <p:cNvSpPr/>
          <p:nvPr/>
        </p:nvSpPr>
        <p:spPr>
          <a:xfrm>
            <a:off x="6318360" y="2423160"/>
            <a:ext cx="215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Memoria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3"/>
          <p:cNvSpPr/>
          <p:nvPr/>
        </p:nvSpPr>
        <p:spPr>
          <a:xfrm>
            <a:off x="6318360" y="2761560"/>
            <a:ext cx="2153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RAM (volátil) vs. almacenamiento flash UFS/eMMC (no volátil).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4"/>
          <p:cNvSpPr/>
          <p:nvPr/>
        </p:nvSpPr>
        <p:spPr>
          <a:xfrm>
            <a:off x="8901720" y="1554480"/>
            <a:ext cx="2555280" cy="21117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Shape 15"/>
          <p:cNvSpPr/>
          <p:nvPr/>
        </p:nvSpPr>
        <p:spPr>
          <a:xfrm>
            <a:off x="9102960" y="175572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97" name="Image 3" descr="preencoded.png"/>
          <p:cNvPicPr/>
          <p:nvPr/>
        </p:nvPicPr>
        <p:blipFill>
          <a:blip r:embed="rId4"/>
          <a:stretch/>
        </p:blipFill>
        <p:spPr>
          <a:xfrm>
            <a:off x="9250200" y="19029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 16"/>
          <p:cNvSpPr/>
          <p:nvPr/>
        </p:nvSpPr>
        <p:spPr>
          <a:xfrm>
            <a:off x="9102960" y="2423160"/>
            <a:ext cx="215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Cámara(s)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7"/>
          <p:cNvSpPr/>
          <p:nvPr/>
        </p:nvSpPr>
        <p:spPr>
          <a:xfrm>
            <a:off x="9102960" y="2761560"/>
            <a:ext cx="2153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Sensores ópticos múltiples: gran angular, teleobjetivo, profundidad.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8"/>
          <p:cNvSpPr/>
          <p:nvPr/>
        </p:nvSpPr>
        <p:spPr>
          <a:xfrm>
            <a:off x="1940760" y="3922920"/>
            <a:ext cx="2555280" cy="21117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Shape 19"/>
          <p:cNvSpPr/>
          <p:nvPr/>
        </p:nvSpPr>
        <p:spPr>
          <a:xfrm>
            <a:off x="2142000" y="412380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02" name="Image 4" descr="preencoded.png"/>
          <p:cNvPicPr/>
          <p:nvPr/>
        </p:nvPicPr>
        <p:blipFill>
          <a:blip r:embed="rId5"/>
          <a:stretch/>
        </p:blipFill>
        <p:spPr>
          <a:xfrm>
            <a:off x="2289240" y="427140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Text 20"/>
          <p:cNvSpPr/>
          <p:nvPr/>
        </p:nvSpPr>
        <p:spPr>
          <a:xfrm>
            <a:off x="2142000" y="4791600"/>
            <a:ext cx="215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Batería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1"/>
          <p:cNvSpPr/>
          <p:nvPr/>
        </p:nvSpPr>
        <p:spPr>
          <a:xfrm>
            <a:off x="2142000" y="5129640"/>
            <a:ext cx="2153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Litio-ion / litio-polímero; obliga a una gestión estricta del consumo.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2"/>
          <p:cNvSpPr/>
          <p:nvPr/>
        </p:nvSpPr>
        <p:spPr>
          <a:xfrm>
            <a:off x="4725000" y="3922920"/>
            <a:ext cx="2555280" cy="21117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6" name="Shape 23"/>
          <p:cNvSpPr/>
          <p:nvPr/>
        </p:nvSpPr>
        <p:spPr>
          <a:xfrm>
            <a:off x="4926240" y="412380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07" name="Image 5" descr="preencoded.png"/>
          <p:cNvPicPr/>
          <p:nvPr/>
        </p:nvPicPr>
        <p:blipFill>
          <a:blip r:embed="rId6"/>
          <a:stretch/>
        </p:blipFill>
        <p:spPr>
          <a:xfrm>
            <a:off x="5073840" y="427140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 24"/>
          <p:cNvSpPr/>
          <p:nvPr/>
        </p:nvSpPr>
        <p:spPr>
          <a:xfrm>
            <a:off x="4926240" y="4791600"/>
            <a:ext cx="215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Sensores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5"/>
          <p:cNvSpPr/>
          <p:nvPr/>
        </p:nvSpPr>
        <p:spPr>
          <a:xfrm>
            <a:off x="4926240" y="5129640"/>
            <a:ext cx="2153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Acelerómetro, giroscopio, GPS, proximidad, huella o reconocimiento facial.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6"/>
          <p:cNvSpPr/>
          <p:nvPr/>
        </p:nvSpPr>
        <p:spPr>
          <a:xfrm>
            <a:off x="7509600" y="3922920"/>
            <a:ext cx="2555280" cy="211176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Shape 27"/>
          <p:cNvSpPr/>
          <p:nvPr/>
        </p:nvSpPr>
        <p:spPr>
          <a:xfrm>
            <a:off x="7710840" y="412380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12" name="Image 6" descr="preencoded.png"/>
          <p:cNvPicPr/>
          <p:nvPr/>
        </p:nvPicPr>
        <p:blipFill>
          <a:blip r:embed="rId7"/>
          <a:stretch/>
        </p:blipFill>
        <p:spPr>
          <a:xfrm>
            <a:off x="7858080" y="427140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 28"/>
          <p:cNvSpPr/>
          <p:nvPr/>
        </p:nvSpPr>
        <p:spPr>
          <a:xfrm>
            <a:off x="7710840" y="4791600"/>
            <a:ext cx="215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Conectividad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9"/>
          <p:cNvSpPr/>
          <p:nvPr/>
        </p:nvSpPr>
        <p:spPr>
          <a:xfrm>
            <a:off x="7710840" y="5129640"/>
            <a:ext cx="2153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Wi-Fi, Bluetooth, NFC, datos móviles (4G/5G) y USB-C.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0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1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2.2 · LIMITACIONES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Programar para móvil no es como programar para PC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548640" y="1536120"/>
            <a:ext cx="383760" cy="38376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20" name="Image 0" descr="preencoded.png"/>
          <p:cNvPicPr/>
          <p:nvPr/>
        </p:nvPicPr>
        <p:blipFill>
          <a:blip r:embed="rId1"/>
          <a:stretch/>
        </p:blipFill>
        <p:spPr>
          <a:xfrm>
            <a:off x="648360" y="163620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Text 3"/>
          <p:cNvSpPr/>
          <p:nvPr/>
        </p:nvSpPr>
        <p:spPr>
          <a:xfrm>
            <a:off x="1134000" y="1499760"/>
            <a:ext cx="4672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Autonomía limitada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"/>
          <p:cNvSpPr/>
          <p:nvPr/>
        </p:nvSpPr>
        <p:spPr>
          <a:xfrm>
            <a:off x="1134000" y="1774080"/>
            <a:ext cx="4672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Toda operación de red, GPS o cómputo intensivo tiene coste energético.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5"/>
          <p:cNvSpPr/>
          <p:nvPr/>
        </p:nvSpPr>
        <p:spPr>
          <a:xfrm>
            <a:off x="548640" y="2560320"/>
            <a:ext cx="383760" cy="38376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24" name="Image 1" descr="preencoded.png"/>
          <p:cNvPicPr/>
          <p:nvPr/>
        </p:nvPicPr>
        <p:blipFill>
          <a:blip r:embed="rId2"/>
          <a:stretch/>
        </p:blipFill>
        <p:spPr>
          <a:xfrm>
            <a:off x="648360" y="266004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 6"/>
          <p:cNvSpPr/>
          <p:nvPr/>
        </p:nvSpPr>
        <p:spPr>
          <a:xfrm>
            <a:off x="1134000" y="2523600"/>
            <a:ext cx="4672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Memoria y almacenamiento reducidos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7"/>
          <p:cNvSpPr/>
          <p:nvPr/>
        </p:nvSpPr>
        <p:spPr>
          <a:xfrm>
            <a:off x="1134000" y="2797920"/>
            <a:ext cx="4672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Menores que en un ordenador de sobremesa, aunque la brecha se acorta.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8"/>
          <p:cNvSpPr/>
          <p:nvPr/>
        </p:nvSpPr>
        <p:spPr>
          <a:xfrm>
            <a:off x="548640" y="3584520"/>
            <a:ext cx="383760" cy="38376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28" name="Image 2" descr="preencoded.png"/>
          <p:cNvPicPr/>
          <p:nvPr/>
        </p:nvPicPr>
        <p:blipFill>
          <a:blip r:embed="rId3"/>
          <a:stretch/>
        </p:blipFill>
        <p:spPr>
          <a:xfrm>
            <a:off x="648360" y="368424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Text 9"/>
          <p:cNvSpPr/>
          <p:nvPr/>
        </p:nvSpPr>
        <p:spPr>
          <a:xfrm>
            <a:off x="1134000" y="3547800"/>
            <a:ext cx="4672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Menor capacidad de cómputo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0"/>
          <p:cNvSpPr/>
          <p:nvPr/>
        </p:nvSpPr>
        <p:spPr>
          <a:xfrm>
            <a:off x="1134000" y="3822120"/>
            <a:ext cx="4672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Especialmente relevante en tareas gráficas exigentes (juegos, vídeo).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1"/>
          <p:cNvSpPr/>
          <p:nvPr/>
        </p:nvSpPr>
        <p:spPr>
          <a:xfrm>
            <a:off x="548640" y="4608720"/>
            <a:ext cx="383760" cy="38376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32" name="Image 3" descr="preencoded.png"/>
          <p:cNvPicPr/>
          <p:nvPr/>
        </p:nvPicPr>
        <p:blipFill>
          <a:blip r:embed="rId4"/>
          <a:stretch/>
        </p:blipFill>
        <p:spPr>
          <a:xfrm>
            <a:off x="648360" y="470844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 12"/>
          <p:cNvSpPr/>
          <p:nvPr/>
        </p:nvSpPr>
        <p:spPr>
          <a:xfrm>
            <a:off x="1134000" y="4572000"/>
            <a:ext cx="4672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Pantalla reducida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3"/>
          <p:cNvSpPr/>
          <p:nvPr/>
        </p:nvSpPr>
        <p:spPr>
          <a:xfrm>
            <a:off x="1134000" y="4846320"/>
            <a:ext cx="4672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Obliga a diseños “mobile first” y jerarquías de información simples.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4"/>
          <p:cNvSpPr/>
          <p:nvPr/>
        </p:nvSpPr>
        <p:spPr>
          <a:xfrm>
            <a:off x="6172200" y="1536120"/>
            <a:ext cx="383760" cy="38376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36" name="Image 4" descr="preencoded.png"/>
          <p:cNvPicPr/>
          <p:nvPr/>
        </p:nvPicPr>
        <p:blipFill>
          <a:blip r:embed="rId5"/>
          <a:stretch/>
        </p:blipFill>
        <p:spPr>
          <a:xfrm>
            <a:off x="6271920" y="163620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Text 15"/>
          <p:cNvSpPr/>
          <p:nvPr/>
        </p:nvSpPr>
        <p:spPr>
          <a:xfrm>
            <a:off x="6757560" y="1499760"/>
            <a:ext cx="469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Conectividad intermitente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6"/>
          <p:cNvSpPr/>
          <p:nvPr/>
        </p:nvSpPr>
        <p:spPr>
          <a:xfrm>
            <a:off x="6757560" y="1774080"/>
            <a:ext cx="4699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Hay que prever pérdidas de red y funcionar, al menos, sin conexión.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7"/>
          <p:cNvSpPr/>
          <p:nvPr/>
        </p:nvSpPr>
        <p:spPr>
          <a:xfrm>
            <a:off x="6172200" y="2560320"/>
            <a:ext cx="383760" cy="38376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40" name="Image 5" descr="preencoded.png"/>
          <p:cNvPicPr/>
          <p:nvPr/>
        </p:nvPicPr>
        <p:blipFill>
          <a:blip r:embed="rId6"/>
          <a:stretch/>
        </p:blipFill>
        <p:spPr>
          <a:xfrm>
            <a:off x="6271920" y="266004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 18"/>
          <p:cNvSpPr/>
          <p:nvPr/>
        </p:nvSpPr>
        <p:spPr>
          <a:xfrm>
            <a:off x="6757560" y="2523600"/>
            <a:ext cx="469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Fragmentación de hardware y de SO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9"/>
          <p:cNvSpPr/>
          <p:nvPr/>
        </p:nvSpPr>
        <p:spPr>
          <a:xfrm>
            <a:off x="6757560" y="2797920"/>
            <a:ext cx="4699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Miles de combinaciones de fabricante, gama y versión en uso simultáneo.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0"/>
          <p:cNvSpPr/>
          <p:nvPr/>
        </p:nvSpPr>
        <p:spPr>
          <a:xfrm>
            <a:off x="6172200" y="3584520"/>
            <a:ext cx="383760" cy="38376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44" name="Image 6" descr="preencoded.png"/>
          <p:cNvPicPr/>
          <p:nvPr/>
        </p:nvPicPr>
        <p:blipFill>
          <a:blip r:embed="rId7"/>
          <a:stretch/>
        </p:blipFill>
        <p:spPr>
          <a:xfrm>
            <a:off x="6271920" y="368424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Text 21"/>
          <p:cNvSpPr/>
          <p:nvPr/>
        </p:nvSpPr>
        <p:spPr>
          <a:xfrm>
            <a:off x="6757560" y="3547800"/>
            <a:ext cx="469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Restricciones del propio sistema operativo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2"/>
          <p:cNvSpPr/>
          <p:nvPr/>
        </p:nvSpPr>
        <p:spPr>
          <a:xfrm>
            <a:off x="6757560" y="3822120"/>
            <a:ext cx="4699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Sandboxing, permisos explícitos y políticas estrictas en segundo plano.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3"/>
          <p:cNvSpPr/>
          <p:nvPr/>
        </p:nvSpPr>
        <p:spPr>
          <a:xfrm>
            <a:off x="6172200" y="4608720"/>
            <a:ext cx="383760" cy="38376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48" name="Image 7" descr="preencoded.png"/>
          <p:cNvPicPr/>
          <p:nvPr/>
        </p:nvPicPr>
        <p:blipFill>
          <a:blip r:embed="rId8"/>
          <a:stretch/>
        </p:blipFill>
        <p:spPr>
          <a:xfrm>
            <a:off x="6271920" y="470844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Text 24"/>
          <p:cNvSpPr/>
          <p:nvPr/>
        </p:nvSpPr>
        <p:spPr>
          <a:xfrm>
            <a:off x="6757560" y="4572000"/>
            <a:ext cx="469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Interacción táctil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5"/>
          <p:cNvSpPr/>
          <p:nvPr/>
        </p:nvSpPr>
        <p:spPr>
          <a:xfrm>
            <a:off x="6757560" y="4846320"/>
            <a:ext cx="4699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Gestos en vez de ratón/teclado: exige tamaños mínimos y usabilidad específica.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6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7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5592960" y="1051560"/>
            <a:ext cx="1005480" cy="100548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54" name="Image 0" descr="preencoded.png"/>
          <p:cNvPicPr/>
          <p:nvPr/>
        </p:nvPicPr>
        <p:blipFill>
          <a:blip r:embed="rId1"/>
          <a:stretch/>
        </p:blipFill>
        <p:spPr>
          <a:xfrm>
            <a:off x="5854320" y="131292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 1"/>
          <p:cNvSpPr/>
          <p:nvPr/>
        </p:nvSpPr>
        <p:spPr>
          <a:xfrm>
            <a:off x="914400" y="233172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3DDC84"/>
                </a:solidFill>
                <a:effectLst/>
                <a:uFillTx/>
                <a:latin typeface="Calibri"/>
                <a:ea typeface="Calibri"/>
              </a:rPr>
              <a:t>BLOQUE 3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"/>
          <p:cNvSpPr/>
          <p:nvPr/>
        </p:nvSpPr>
        <p:spPr>
          <a:xfrm>
            <a:off x="914400" y="2743200"/>
            <a:ext cx="10362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Tecnologías de desarrollo de aplicaciones móviles</a:t>
            </a:r>
            <a:endParaRPr lang="es-E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"/>
          <p:cNvSpPr/>
          <p:nvPr/>
        </p:nvSpPr>
        <p:spPr>
          <a:xfrm>
            <a:off x="1645920" y="3977640"/>
            <a:ext cx="889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Nativo, multiplataforma e híbrido: cómo elegir el enfoque adecuado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5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3.1 · GRANDES ENFOQUES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Tres caminos para construir una app móvil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"/>
          <p:cNvSpPr/>
          <p:nvPr/>
        </p:nvSpPr>
        <p:spPr>
          <a:xfrm>
            <a:off x="548640" y="1600200"/>
            <a:ext cx="3456000" cy="443448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" name="Shape 3"/>
          <p:cNvSpPr/>
          <p:nvPr/>
        </p:nvSpPr>
        <p:spPr>
          <a:xfrm>
            <a:off x="1911240" y="1874520"/>
            <a:ext cx="731160" cy="73116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64" name="Image 0" descr="preencoded.png"/>
          <p:cNvPicPr/>
          <p:nvPr/>
        </p:nvPicPr>
        <p:blipFill>
          <a:blip r:embed="rId1"/>
          <a:stretch/>
        </p:blipFill>
        <p:spPr>
          <a:xfrm>
            <a:off x="2101320" y="2064600"/>
            <a:ext cx="35064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Text 4"/>
          <p:cNvSpPr/>
          <p:nvPr/>
        </p:nvSpPr>
        <p:spPr>
          <a:xfrm>
            <a:off x="731520" y="2743200"/>
            <a:ext cx="3090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Nativo</a:t>
            </a:r>
            <a:endParaRPr lang="es-E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5"/>
          <p:cNvSpPr/>
          <p:nvPr/>
        </p:nvSpPr>
        <p:spPr>
          <a:xfrm>
            <a:off x="804600" y="3200400"/>
            <a:ext cx="29440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Kotlin/Java + SDK Android, o Swift + SDK iOS. Un proyecto por plataforma.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6"/>
          <p:cNvSpPr/>
          <p:nvPr/>
        </p:nvSpPr>
        <p:spPr>
          <a:xfrm>
            <a:off x="868680" y="4370760"/>
            <a:ext cx="2816280" cy="360"/>
          </a:xfrm>
          <a:prstGeom prst="line">
            <a:avLst/>
          </a:prstGeom>
          <a:ln w="12700">
            <a:solidFill>
              <a:srgbClr val="E1E8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 7"/>
          <p:cNvSpPr/>
          <p:nvPr/>
        </p:nvSpPr>
        <p:spPr>
          <a:xfrm>
            <a:off x="804600" y="4526280"/>
            <a:ext cx="2944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A35C"/>
                </a:solidFill>
                <a:effectLst/>
                <a:uFillTx/>
                <a:latin typeface="Calibri"/>
              </a:rPr>
              <a:t>Ventaja  </a:t>
            </a:r>
            <a:r>
              <a:rPr lang="en-US" sz="1100" b="0" u="none" strike="noStrike">
                <a:solidFill>
                  <a:srgbClr val="1A2733"/>
                </a:solidFill>
                <a:effectLst/>
                <a:uFillTx/>
                <a:latin typeface="Calibri"/>
              </a:rPr>
              <a:t>Máximo rendimiento y acceso total al hardware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7A45"/>
                </a:solidFill>
                <a:effectLst/>
                <a:uFillTx/>
                <a:latin typeface="Calibri"/>
              </a:rPr>
              <a:t>Reto  </a:t>
            </a:r>
            <a:r>
              <a:rPr lang="en-US" sz="1100" b="0" u="none" strike="noStrike">
                <a:solidFill>
                  <a:srgbClr val="1A2733"/>
                </a:solidFill>
                <a:effectLst/>
                <a:uFillTx/>
                <a:latin typeface="Calibri"/>
              </a:rPr>
              <a:t>Mayor coste: un equipo por plataforma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8"/>
          <p:cNvSpPr/>
          <p:nvPr/>
        </p:nvSpPr>
        <p:spPr>
          <a:xfrm>
            <a:off x="4270320" y="1600200"/>
            <a:ext cx="3456000" cy="443448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0" name="Shape 9"/>
          <p:cNvSpPr/>
          <p:nvPr/>
        </p:nvSpPr>
        <p:spPr>
          <a:xfrm>
            <a:off x="5632560" y="1874520"/>
            <a:ext cx="731160" cy="73116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71" name="Image 1" descr="preencoded.png"/>
          <p:cNvPicPr/>
          <p:nvPr/>
        </p:nvPicPr>
        <p:blipFill>
          <a:blip r:embed="rId2"/>
          <a:stretch/>
        </p:blipFill>
        <p:spPr>
          <a:xfrm>
            <a:off x="5823000" y="2064600"/>
            <a:ext cx="35064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Text 10"/>
          <p:cNvSpPr/>
          <p:nvPr/>
        </p:nvSpPr>
        <p:spPr>
          <a:xfrm>
            <a:off x="4453200" y="2743200"/>
            <a:ext cx="3090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Multiplataforma</a:t>
            </a:r>
            <a:endParaRPr lang="es-E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1"/>
          <p:cNvSpPr/>
          <p:nvPr/>
        </p:nvSpPr>
        <p:spPr>
          <a:xfrm>
            <a:off x="4526280" y="3200400"/>
            <a:ext cx="29440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Flutter, React Native, Kotlin Multiplatform o .NET MAUI comparten código entre plataformas.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2"/>
          <p:cNvSpPr/>
          <p:nvPr/>
        </p:nvSpPr>
        <p:spPr>
          <a:xfrm>
            <a:off x="4590000" y="4370760"/>
            <a:ext cx="2816640" cy="360"/>
          </a:xfrm>
          <a:prstGeom prst="line">
            <a:avLst/>
          </a:prstGeom>
          <a:ln w="12700">
            <a:solidFill>
              <a:srgbClr val="E1E8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 13"/>
          <p:cNvSpPr/>
          <p:nvPr/>
        </p:nvSpPr>
        <p:spPr>
          <a:xfrm>
            <a:off x="4526280" y="4526280"/>
            <a:ext cx="2944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A35C"/>
                </a:solidFill>
                <a:effectLst/>
                <a:uFillTx/>
                <a:latin typeface="Calibri"/>
              </a:rPr>
              <a:t>Ventaja  </a:t>
            </a:r>
            <a:r>
              <a:rPr lang="en-US" sz="1100" b="0" u="none" strike="noStrike">
                <a:solidFill>
                  <a:srgbClr val="1A2733"/>
                </a:solidFill>
                <a:effectLst/>
                <a:uFillTx/>
                <a:latin typeface="Calibri"/>
              </a:rPr>
              <a:t>Un solo equipo y una base de código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7A45"/>
                </a:solidFill>
                <a:effectLst/>
                <a:uFillTx/>
                <a:latin typeface="Calibri"/>
              </a:rPr>
              <a:t>Reto  </a:t>
            </a:r>
            <a:r>
              <a:rPr lang="en-US" sz="1100" b="0" u="none" strike="noStrike">
                <a:solidFill>
                  <a:srgbClr val="1A2733"/>
                </a:solidFill>
                <a:effectLst/>
                <a:uFillTx/>
                <a:latin typeface="Calibri"/>
              </a:rPr>
              <a:t>Posible retraso ante novedades del SO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4"/>
          <p:cNvSpPr/>
          <p:nvPr/>
        </p:nvSpPr>
        <p:spPr>
          <a:xfrm>
            <a:off x="7992000" y="1600200"/>
            <a:ext cx="3456000" cy="443448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7" name="Shape 15"/>
          <p:cNvSpPr/>
          <p:nvPr/>
        </p:nvSpPr>
        <p:spPr>
          <a:xfrm>
            <a:off x="9354240" y="1874520"/>
            <a:ext cx="731160" cy="73116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78" name="Image 2" descr="preencoded.png"/>
          <p:cNvPicPr/>
          <p:nvPr/>
        </p:nvPicPr>
        <p:blipFill>
          <a:blip r:embed="rId3"/>
          <a:stretch/>
        </p:blipFill>
        <p:spPr>
          <a:xfrm>
            <a:off x="9544680" y="2064600"/>
            <a:ext cx="35064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 16"/>
          <p:cNvSpPr/>
          <p:nvPr/>
        </p:nvSpPr>
        <p:spPr>
          <a:xfrm>
            <a:off x="8174880" y="2743200"/>
            <a:ext cx="3090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Híbrido / PWA</a:t>
            </a:r>
            <a:endParaRPr lang="es-E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7"/>
          <p:cNvSpPr/>
          <p:nvPr/>
        </p:nvSpPr>
        <p:spPr>
          <a:xfrm>
            <a:off x="8247960" y="3200400"/>
            <a:ext cx="29440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HTML, CSS y JavaScript empaquetados (Cordova, Ionic, Capacitor) o como web instalable.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8"/>
          <p:cNvSpPr/>
          <p:nvPr/>
        </p:nvSpPr>
        <p:spPr>
          <a:xfrm>
            <a:off x="8311680" y="4370760"/>
            <a:ext cx="2816280" cy="360"/>
          </a:xfrm>
          <a:prstGeom prst="line">
            <a:avLst/>
          </a:prstGeom>
          <a:ln w="12700">
            <a:solidFill>
              <a:srgbClr val="E1E8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 19"/>
          <p:cNvSpPr/>
          <p:nvPr/>
        </p:nvSpPr>
        <p:spPr>
          <a:xfrm>
            <a:off x="8247960" y="4526280"/>
            <a:ext cx="2944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A35C"/>
                </a:solidFill>
                <a:effectLst/>
                <a:uFillTx/>
                <a:latin typeface="Calibri"/>
              </a:rPr>
              <a:t>Ventaja  </a:t>
            </a:r>
            <a:r>
              <a:rPr lang="en-US" sz="1100" b="0" u="none" strike="noStrike">
                <a:solidFill>
                  <a:srgbClr val="1A2733"/>
                </a:solidFill>
                <a:effectLst/>
                <a:uFillTx/>
                <a:latin typeface="Calibri"/>
              </a:rPr>
              <a:t>Coste mínimo y despliegue muy rápido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7A45"/>
                </a:solidFill>
                <a:effectLst/>
                <a:uFillTx/>
                <a:latin typeface="Calibri"/>
              </a:rPr>
              <a:t>Reto  </a:t>
            </a:r>
            <a:r>
              <a:rPr lang="en-US" sz="1100" b="0" u="none" strike="noStrike">
                <a:solidFill>
                  <a:srgbClr val="1A2733"/>
                </a:solidFill>
                <a:effectLst/>
                <a:uFillTx/>
                <a:latin typeface="Calibri"/>
              </a:rPr>
              <a:t>Rendimiento y acceso a hardware limitados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0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1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3.2 · MULTIPLATAFORMA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Cuatro tecnologías, cuatro filosofías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"/>
          <p:cNvSpPr/>
          <p:nvPr/>
        </p:nvSpPr>
        <p:spPr>
          <a:xfrm>
            <a:off x="548640" y="1600200"/>
            <a:ext cx="255528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8" name="Shape 3"/>
          <p:cNvSpPr/>
          <p:nvPr/>
        </p:nvSpPr>
        <p:spPr>
          <a:xfrm>
            <a:off x="749880" y="180144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89" name="Image 0" descr="preencoded.png"/>
          <p:cNvPicPr/>
          <p:nvPr/>
        </p:nvPicPr>
        <p:blipFill>
          <a:blip r:embed="rId1"/>
          <a:stretch/>
        </p:blipFill>
        <p:spPr>
          <a:xfrm>
            <a:off x="897120" y="194868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Text 4"/>
          <p:cNvSpPr/>
          <p:nvPr/>
        </p:nvSpPr>
        <p:spPr>
          <a:xfrm>
            <a:off x="749880" y="2468880"/>
            <a:ext cx="215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Flutter (Google)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5"/>
          <p:cNvSpPr/>
          <p:nvPr/>
        </p:nvSpPr>
        <p:spPr>
          <a:xfrm>
            <a:off x="749880" y="2807280"/>
            <a:ext cx="2153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Lenguaje Dart. Motor de renderizado propio (Skia/Impeller): dibuja cada píxel.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6"/>
          <p:cNvSpPr/>
          <p:nvPr/>
        </p:nvSpPr>
        <p:spPr>
          <a:xfrm>
            <a:off x="3332880" y="1600200"/>
            <a:ext cx="255528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3" name="Shape 7"/>
          <p:cNvSpPr/>
          <p:nvPr/>
        </p:nvSpPr>
        <p:spPr>
          <a:xfrm>
            <a:off x="3534120" y="180144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94" name="Image 1" descr="preencoded.png"/>
          <p:cNvPicPr/>
          <p:nvPr/>
        </p:nvPicPr>
        <p:blipFill>
          <a:blip r:embed="rId2"/>
          <a:stretch/>
        </p:blipFill>
        <p:spPr>
          <a:xfrm>
            <a:off x="3681720" y="194868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Text 8"/>
          <p:cNvSpPr/>
          <p:nvPr/>
        </p:nvSpPr>
        <p:spPr>
          <a:xfrm>
            <a:off x="3534120" y="2468880"/>
            <a:ext cx="215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React Native (Meta)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9"/>
          <p:cNvSpPr/>
          <p:nvPr/>
        </p:nvSpPr>
        <p:spPr>
          <a:xfrm>
            <a:off x="3534120" y="2807280"/>
            <a:ext cx="2153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JavaScript/TypeScript. Traduce a vistas nativas reales (New Architecture, Hermes).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0"/>
          <p:cNvSpPr/>
          <p:nvPr/>
        </p:nvSpPr>
        <p:spPr>
          <a:xfrm>
            <a:off x="6117480" y="1600200"/>
            <a:ext cx="255528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8" name="Shape 11"/>
          <p:cNvSpPr/>
          <p:nvPr/>
        </p:nvSpPr>
        <p:spPr>
          <a:xfrm>
            <a:off x="6318360" y="180144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99" name="Image 2" descr="preencoded.png"/>
          <p:cNvPicPr/>
          <p:nvPr/>
        </p:nvPicPr>
        <p:blipFill>
          <a:blip r:embed="rId3"/>
          <a:stretch/>
        </p:blipFill>
        <p:spPr>
          <a:xfrm>
            <a:off x="6465960" y="194868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Text 12"/>
          <p:cNvSpPr/>
          <p:nvPr/>
        </p:nvSpPr>
        <p:spPr>
          <a:xfrm>
            <a:off x="6318360" y="2468880"/>
            <a:ext cx="215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Kotlin Multiplatform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3"/>
          <p:cNvSpPr/>
          <p:nvPr/>
        </p:nvSpPr>
        <p:spPr>
          <a:xfrm>
            <a:off x="6318360" y="2807280"/>
            <a:ext cx="2153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Comparte lógica de negocio; la interfaz puede ser nativa o compartida con Compose.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4"/>
          <p:cNvSpPr/>
          <p:nvPr/>
        </p:nvSpPr>
        <p:spPr>
          <a:xfrm>
            <a:off x="8901720" y="1600200"/>
            <a:ext cx="2555280" cy="2331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3" name="Shape 15"/>
          <p:cNvSpPr/>
          <p:nvPr/>
        </p:nvSpPr>
        <p:spPr>
          <a:xfrm>
            <a:off x="9102960" y="180144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04" name="Image 3" descr="preencoded.png"/>
          <p:cNvPicPr/>
          <p:nvPr/>
        </p:nvPicPr>
        <p:blipFill>
          <a:blip r:embed="rId4"/>
          <a:stretch/>
        </p:blipFill>
        <p:spPr>
          <a:xfrm>
            <a:off x="9250200" y="194868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 16"/>
          <p:cNvSpPr/>
          <p:nvPr/>
        </p:nvSpPr>
        <p:spPr>
          <a:xfrm>
            <a:off x="9102960" y="2468880"/>
            <a:ext cx="215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.NET MAUI (Microsoft)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7"/>
          <p:cNvSpPr/>
          <p:nvPr/>
        </p:nvSpPr>
        <p:spPr>
          <a:xfrm>
            <a:off x="9102960" y="2807280"/>
            <a:ext cx="2153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Lenguaje C#. Evolución de Xamarin, orientado a equipos del ecosistema .NET.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7" name="Chart 0"/>
          <p:cNvGraphicFramePr/>
          <p:nvPr/>
        </p:nvGraphicFramePr>
        <p:xfrm>
          <a:off x="548640" y="4160520"/>
          <a:ext cx="10908360" cy="210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8" name="Text 18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9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3.3 · HÍBRIDAS Y PWA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Cuando la web se empaqueta como app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2"/>
          <p:cNvSpPr/>
          <p:nvPr/>
        </p:nvSpPr>
        <p:spPr>
          <a:xfrm>
            <a:off x="548640" y="1965960"/>
            <a:ext cx="5257440" cy="233136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3" name="Shape 3"/>
          <p:cNvSpPr/>
          <p:nvPr/>
        </p:nvSpPr>
        <p:spPr>
          <a:xfrm>
            <a:off x="868680" y="2286000"/>
            <a:ext cx="685440" cy="6854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14" name="Image 0" descr="preencoded.png"/>
          <p:cNvPicPr/>
          <p:nvPr/>
        </p:nvPicPr>
        <p:blipFill>
          <a:blip r:embed="rId1"/>
          <a:stretch/>
        </p:blipFill>
        <p:spPr>
          <a:xfrm>
            <a:off x="1046880" y="246420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 4"/>
          <p:cNvSpPr/>
          <p:nvPr/>
        </p:nvSpPr>
        <p:spPr>
          <a:xfrm>
            <a:off x="1737360" y="2286000"/>
            <a:ext cx="3794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Aplicaciones híbridas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5"/>
          <p:cNvSpPr/>
          <p:nvPr/>
        </p:nvSpPr>
        <p:spPr>
          <a:xfrm>
            <a:off x="868680" y="3200400"/>
            <a:ext cx="4617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Ejecutan HTML, CSS y JavaScript dentro de un contenedor nativo (WebView), empaquetadas con herramientas como Apache Cordova, Ionic o Capacitor.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6"/>
          <p:cNvSpPr/>
          <p:nvPr/>
        </p:nvSpPr>
        <p:spPr>
          <a:xfrm>
            <a:off x="6172200" y="1965960"/>
            <a:ext cx="5257440" cy="233136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8" name="Shape 7"/>
          <p:cNvSpPr/>
          <p:nvPr/>
        </p:nvSpPr>
        <p:spPr>
          <a:xfrm>
            <a:off x="6492240" y="2286000"/>
            <a:ext cx="685440" cy="6854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19" name="Image 1" descr="preencoded.png"/>
          <p:cNvPicPr/>
          <p:nvPr/>
        </p:nvPicPr>
        <p:blipFill>
          <a:blip r:embed="rId2"/>
          <a:stretch/>
        </p:blipFill>
        <p:spPr>
          <a:xfrm>
            <a:off x="6670440" y="246420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Text 8"/>
          <p:cNvSpPr/>
          <p:nvPr/>
        </p:nvSpPr>
        <p:spPr>
          <a:xfrm>
            <a:off x="7360920" y="2286000"/>
            <a:ext cx="3794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Progressive Web Apps (PWA)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9"/>
          <p:cNvSpPr/>
          <p:nvPr/>
        </p:nvSpPr>
        <p:spPr>
          <a:xfrm>
            <a:off x="6492240" y="3200400"/>
            <a:ext cx="4617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Sitios web que, gracias a los Service Workers, pueden instalarse en la pantalla de inicio, funcionar sin conexión y recibir notificaciones push, sin pasar por una tienda de apps.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0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1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3.4 · COMPARATIVA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¿Cuándo elegir cada enfoque?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6" name="Table 0"/>
          <p:cNvGraphicFramePr/>
          <p:nvPr/>
        </p:nvGraphicFramePr>
        <p:xfrm>
          <a:off x="548640" y="1645920"/>
          <a:ext cx="10908360" cy="3474360"/>
        </p:xfrm>
        <a:graphic>
          <a:graphicData uri="http://schemas.openxmlformats.org/drawingml/2006/table">
            <a:tbl>
              <a:tblPr/>
              <a:tblGrid>
                <a:gridCol w="2194560"/>
                <a:gridCol w="2907720"/>
                <a:gridCol w="2907720"/>
                <a:gridCol w="2898360"/>
              </a:tblGrid>
              <a:tr h="694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Criterio</a:t>
                      </a:r>
                      <a:endParaRPr lang="es-E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Nativo</a:t>
                      </a:r>
                      <a:endParaRPr lang="es-E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Multiplataforma</a:t>
                      </a:r>
                      <a:endParaRPr lang="es-E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Híbrido / PWA</a:t>
                      </a:r>
                      <a:endParaRPr lang="es-E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10243E"/>
                    </a:solidFill>
                  </a:tcPr>
                </a:tc>
              </a:tr>
              <a:tr h="694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Rendimiento</a:t>
                      </a:r>
                      <a:endParaRPr lang="es-E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Máximo</a:t>
                      </a:r>
                      <a:endParaRPr lang="es-E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Alto (casi nativo)</a:t>
                      </a:r>
                      <a:endParaRPr lang="es-E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Medio-bajo</a:t>
                      </a:r>
                      <a:endParaRPr lang="es-E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4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Acceso a hardware</a:t>
                      </a:r>
                      <a:endParaRPr lang="es-E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Total e inmediato</a:t>
                      </a:r>
                      <a:endParaRPr lang="es-E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Amplio, con retraso en novedades</a:t>
                      </a:r>
                      <a:endParaRPr lang="es-E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Limitado</a:t>
                      </a:r>
                      <a:endParaRPr lang="es-E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94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Coste de desarrollo</a:t>
                      </a:r>
                      <a:endParaRPr lang="es-E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Alto (un proyecto por plataforma)</a:t>
                      </a:r>
                      <a:endParaRPr lang="es-E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Medio (base compartida)</a:t>
                      </a:r>
                      <a:endParaRPr lang="es-E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Bajo</a:t>
                      </a:r>
                      <a:endParaRPr lang="es-E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4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Cuándo elegirlo</a:t>
                      </a:r>
                      <a:endParaRPr lang="es-E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Máximo rendimiento o uso intensivo de hardware</a:t>
                      </a:r>
                      <a:endParaRPr lang="es-E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La mayoría de apps de gestión, comercio o contenidos</a:t>
                      </a:r>
                      <a:endParaRPr lang="es-E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MVPs, prototipos o contenido informativo</a:t>
                      </a:r>
                      <a:endParaRPr lang="es-E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327" name="Shape 2"/>
          <p:cNvSpPr/>
          <p:nvPr/>
        </p:nvSpPr>
        <p:spPr>
          <a:xfrm>
            <a:off x="548640" y="5440680"/>
            <a:ext cx="10908360" cy="776880"/>
          </a:xfrm>
          <a:prstGeom prst="roundRect">
            <a:avLst>
              <a:gd name="adj" fmla="val 9412"/>
            </a:avLst>
          </a:prstGeom>
          <a:solidFill>
            <a:srgbClr val="EAF3FF"/>
          </a:solidFill>
          <a:ln w="12700">
            <a:solidFill>
              <a:srgbClr val="E1E8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 3"/>
          <p:cNvSpPr/>
          <p:nvPr/>
        </p:nvSpPr>
        <p:spPr>
          <a:xfrm>
            <a:off x="777240" y="5440680"/>
            <a:ext cx="10451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Recuerda: en este curso trabajaremos con Kotlin + Jetpack Compose sobre Android nativo (ver bloque de metodología).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4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5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0"/>
          <p:cNvSpPr/>
          <p:nvPr/>
        </p:nvSpPr>
        <p:spPr>
          <a:xfrm>
            <a:off x="5592960" y="1051560"/>
            <a:ext cx="1005480" cy="100548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32" name="Image 0" descr="preencoded.png"/>
          <p:cNvPicPr/>
          <p:nvPr/>
        </p:nvPicPr>
        <p:blipFill>
          <a:blip r:embed="rId1"/>
          <a:stretch/>
        </p:blipFill>
        <p:spPr>
          <a:xfrm>
            <a:off x="5854320" y="131292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Text 1"/>
          <p:cNvSpPr/>
          <p:nvPr/>
        </p:nvSpPr>
        <p:spPr>
          <a:xfrm>
            <a:off x="914400" y="233172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3DDC84"/>
                </a:solidFill>
                <a:effectLst/>
                <a:uFillTx/>
                <a:latin typeface="Calibri"/>
                <a:ea typeface="Calibri"/>
              </a:rPr>
              <a:t>BLOQUE 4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"/>
          <p:cNvSpPr/>
          <p:nvPr/>
        </p:nvSpPr>
        <p:spPr>
          <a:xfrm>
            <a:off x="914400" y="2743200"/>
            <a:ext cx="10362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Entornos de trabajo para el desarrollo móvil</a:t>
            </a:r>
            <a:endParaRPr lang="es-E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"/>
          <p:cNvSpPr/>
          <p:nvPr/>
        </p:nvSpPr>
        <p:spPr>
          <a:xfrm>
            <a:off x="1645920" y="3977640"/>
            <a:ext cx="889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Android Studio y las herramientas que lo componen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5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4.1 · EL IDE OFICIAL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Android Studio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"/>
          <p:cNvSpPr/>
          <p:nvPr/>
        </p:nvSpPr>
        <p:spPr>
          <a:xfrm>
            <a:off x="548640" y="1783080"/>
            <a:ext cx="1462680" cy="146268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41" name="Image 0" descr="preencoded.png"/>
          <p:cNvPicPr/>
          <p:nvPr/>
        </p:nvPicPr>
        <p:blipFill>
          <a:blip r:embed="rId1"/>
          <a:stretch/>
        </p:blipFill>
        <p:spPr>
          <a:xfrm>
            <a:off x="929160" y="2163600"/>
            <a:ext cx="702000" cy="70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Text 3"/>
          <p:cNvSpPr/>
          <p:nvPr/>
        </p:nvSpPr>
        <p:spPr>
          <a:xfrm>
            <a:off x="2331720" y="1783080"/>
            <a:ext cx="85035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Basado en IntelliJ IDEA (JetBrains) · Gratuito · Windows, macOS y Linux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4"/>
          <p:cNvSpPr/>
          <p:nvPr/>
        </p:nvSpPr>
        <p:spPr>
          <a:xfrm>
            <a:off x="548640" y="3657600"/>
            <a:ext cx="383760" cy="383760"/>
          </a:xfrm>
          <a:prstGeom prst="ellipse">
            <a:avLst/>
          </a:prstGeom>
          <a:solidFill>
            <a:srgbClr val="1AA3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44" name="Image 1" descr="preencoded.png"/>
          <p:cNvPicPr/>
          <p:nvPr/>
        </p:nvPicPr>
        <p:blipFill>
          <a:blip r:embed="rId2"/>
          <a:stretch/>
        </p:blipFill>
        <p:spPr>
          <a:xfrm>
            <a:off x="648360" y="375732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 5"/>
          <p:cNvSpPr/>
          <p:nvPr/>
        </p:nvSpPr>
        <p:spPr>
          <a:xfrm>
            <a:off x="1134000" y="3620880"/>
            <a:ext cx="1032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Versión actual (2026): Otter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6"/>
          <p:cNvSpPr/>
          <p:nvPr/>
        </p:nvSpPr>
        <p:spPr>
          <a:xfrm>
            <a:off x="1134000" y="3895200"/>
            <a:ext cx="10323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Nombres en clave: Koala, Ladybug, Meerkat, Narwhal, Otter…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7"/>
          <p:cNvSpPr/>
          <p:nvPr/>
        </p:nvSpPr>
        <p:spPr>
          <a:xfrm>
            <a:off x="548640" y="4425840"/>
            <a:ext cx="383760" cy="383760"/>
          </a:xfrm>
          <a:prstGeom prst="ellipse">
            <a:avLst/>
          </a:prstGeom>
          <a:solidFill>
            <a:srgbClr val="1AA3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48" name="Image 2" descr="preencoded.png"/>
          <p:cNvPicPr/>
          <p:nvPr/>
        </p:nvPicPr>
        <p:blipFill>
          <a:blip r:embed="rId3"/>
          <a:stretch/>
        </p:blipFill>
        <p:spPr>
          <a:xfrm>
            <a:off x="648360" y="452556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Text 8"/>
          <p:cNvSpPr/>
          <p:nvPr/>
        </p:nvSpPr>
        <p:spPr>
          <a:xfrm>
            <a:off x="1134000" y="4389120"/>
            <a:ext cx="1032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Gemini integrado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9"/>
          <p:cNvSpPr/>
          <p:nvPr/>
        </p:nvSpPr>
        <p:spPr>
          <a:xfrm>
            <a:off x="1134000" y="4663440"/>
            <a:ext cx="10323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Asistente de IA con modo agente para tareas de desarrollo de varios pasos.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0"/>
          <p:cNvSpPr/>
          <p:nvPr/>
        </p:nvSpPr>
        <p:spPr>
          <a:xfrm>
            <a:off x="548640" y="5193720"/>
            <a:ext cx="383760" cy="383760"/>
          </a:xfrm>
          <a:prstGeom prst="ellipse">
            <a:avLst/>
          </a:prstGeom>
          <a:solidFill>
            <a:srgbClr val="1AA3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52" name="Image 3" descr="preencoded.png"/>
          <p:cNvPicPr/>
          <p:nvPr/>
        </p:nvPicPr>
        <p:blipFill>
          <a:blip r:embed="rId4"/>
          <a:stretch/>
        </p:blipFill>
        <p:spPr>
          <a:xfrm>
            <a:off x="648360" y="529380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Text 11"/>
          <p:cNvSpPr/>
          <p:nvPr/>
        </p:nvSpPr>
        <p:spPr>
          <a:xfrm>
            <a:off x="1134000" y="5157360"/>
            <a:ext cx="1032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Compilador K2 de Kotlin por defecto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2"/>
          <p:cNvSpPr/>
          <p:nvPr/>
        </p:nvSpPr>
        <p:spPr>
          <a:xfrm>
            <a:off x="1134000" y="5431680"/>
            <a:ext cx="10323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Mejoras de velocidad y estabilidad en la compilación de proyectos Kotlin.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3"/>
          <p:cNvSpPr/>
          <p:nvPr/>
        </p:nvSpPr>
        <p:spPr>
          <a:xfrm>
            <a:off x="548640" y="5961960"/>
            <a:ext cx="383760" cy="383760"/>
          </a:xfrm>
          <a:prstGeom prst="ellipse">
            <a:avLst/>
          </a:prstGeom>
          <a:solidFill>
            <a:srgbClr val="1AA3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56" name="Image 4" descr="preencoded.png"/>
          <p:cNvPicPr/>
          <p:nvPr/>
        </p:nvPicPr>
        <p:blipFill>
          <a:blip r:embed="rId5"/>
          <a:stretch/>
        </p:blipFill>
        <p:spPr>
          <a:xfrm>
            <a:off x="648360" y="606168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Text 14"/>
          <p:cNvSpPr/>
          <p:nvPr/>
        </p:nvSpPr>
        <p:spPr>
          <a:xfrm>
            <a:off x="1134000" y="5925240"/>
            <a:ext cx="1032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Emulador con soporte XR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5"/>
          <p:cNvSpPr/>
          <p:nvPr/>
        </p:nvSpPr>
        <p:spPr>
          <a:xfrm>
            <a:off x="1134000" y="6199560"/>
            <a:ext cx="10323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Inspección de interfaces Compose en tiempo real y perfilado avanzado.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6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7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4.2 · COMPONENTES CLAVE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Piezas del entorno de desarrollo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2"/>
          <p:cNvSpPr/>
          <p:nvPr/>
        </p:nvSpPr>
        <p:spPr>
          <a:xfrm>
            <a:off x="548640" y="1600200"/>
            <a:ext cx="3453120" cy="21027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4" name="Shape 3"/>
          <p:cNvSpPr/>
          <p:nvPr/>
        </p:nvSpPr>
        <p:spPr>
          <a:xfrm>
            <a:off x="749880" y="180144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65" name="Image 0" descr="preencoded.png"/>
          <p:cNvPicPr/>
          <p:nvPr/>
        </p:nvPicPr>
        <p:blipFill>
          <a:blip r:embed="rId1"/>
          <a:stretch/>
        </p:blipFill>
        <p:spPr>
          <a:xfrm>
            <a:off x="897120" y="194868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Text 4"/>
          <p:cNvSpPr/>
          <p:nvPr/>
        </p:nvSpPr>
        <p:spPr>
          <a:xfrm>
            <a:off x="749880" y="2468880"/>
            <a:ext cx="3050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SDK de Android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5"/>
          <p:cNvSpPr/>
          <p:nvPr/>
        </p:nvSpPr>
        <p:spPr>
          <a:xfrm>
            <a:off x="749880" y="2807280"/>
            <a:ext cx="3050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Bibliotecas, herramientas y plataformas (una por API level).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6"/>
          <p:cNvSpPr/>
          <p:nvPr/>
        </p:nvSpPr>
        <p:spPr>
          <a:xfrm>
            <a:off x="4276440" y="1600200"/>
            <a:ext cx="3453120" cy="21027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9" name="Shape 7"/>
          <p:cNvSpPr/>
          <p:nvPr/>
        </p:nvSpPr>
        <p:spPr>
          <a:xfrm>
            <a:off x="4477680" y="180144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70" name="Image 1" descr="preencoded.png"/>
          <p:cNvPicPr/>
          <p:nvPr/>
        </p:nvPicPr>
        <p:blipFill>
          <a:blip r:embed="rId2"/>
          <a:stretch/>
        </p:blipFill>
        <p:spPr>
          <a:xfrm>
            <a:off x="4624920" y="194868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 8"/>
          <p:cNvSpPr/>
          <p:nvPr/>
        </p:nvSpPr>
        <p:spPr>
          <a:xfrm>
            <a:off x="4477680" y="2468880"/>
            <a:ext cx="3050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Gradle + AGP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9"/>
          <p:cNvSpPr/>
          <p:nvPr/>
        </p:nvSpPr>
        <p:spPr>
          <a:xfrm>
            <a:off x="4477680" y="2807280"/>
            <a:ext cx="3050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Compila, gestiona dependencias y empaqueta la aplicación.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0"/>
          <p:cNvSpPr/>
          <p:nvPr/>
        </p:nvSpPr>
        <p:spPr>
          <a:xfrm>
            <a:off x="8003880" y="1600200"/>
            <a:ext cx="3453120" cy="21027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4" name="Shape 11"/>
          <p:cNvSpPr/>
          <p:nvPr/>
        </p:nvSpPr>
        <p:spPr>
          <a:xfrm>
            <a:off x="8205120" y="180144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75" name="Image 2" descr="preencoded.png"/>
          <p:cNvPicPr/>
          <p:nvPr/>
        </p:nvPicPr>
        <p:blipFill>
          <a:blip r:embed="rId3"/>
          <a:stretch/>
        </p:blipFill>
        <p:spPr>
          <a:xfrm>
            <a:off x="8352720" y="194868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Text 12"/>
          <p:cNvSpPr/>
          <p:nvPr/>
        </p:nvSpPr>
        <p:spPr>
          <a:xfrm>
            <a:off x="8205120" y="2468880"/>
            <a:ext cx="3050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SDK Manager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3"/>
          <p:cNvSpPr/>
          <p:nvPr/>
        </p:nvSpPr>
        <p:spPr>
          <a:xfrm>
            <a:off x="8205120" y="2807280"/>
            <a:ext cx="3050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Instala y actualiza plataformas e imágenes de sistema.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4"/>
          <p:cNvSpPr/>
          <p:nvPr/>
        </p:nvSpPr>
        <p:spPr>
          <a:xfrm>
            <a:off x="548640" y="3977640"/>
            <a:ext cx="3453120" cy="21027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9" name="Shape 15"/>
          <p:cNvSpPr/>
          <p:nvPr/>
        </p:nvSpPr>
        <p:spPr>
          <a:xfrm>
            <a:off x="749880" y="417888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80" name="Image 3" descr="preencoded.png"/>
          <p:cNvPicPr/>
          <p:nvPr/>
        </p:nvPicPr>
        <p:blipFill>
          <a:blip r:embed="rId4"/>
          <a:stretch/>
        </p:blipFill>
        <p:spPr>
          <a:xfrm>
            <a:off x="897120" y="432612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Text 16"/>
          <p:cNvSpPr/>
          <p:nvPr/>
        </p:nvSpPr>
        <p:spPr>
          <a:xfrm>
            <a:off x="749880" y="4846320"/>
            <a:ext cx="3050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AVD Manager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7"/>
          <p:cNvSpPr/>
          <p:nvPr/>
        </p:nvSpPr>
        <p:spPr>
          <a:xfrm>
            <a:off x="749880" y="5184720"/>
            <a:ext cx="3050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Gestiona los dispositivos virtuales (emuladores).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8"/>
          <p:cNvSpPr/>
          <p:nvPr/>
        </p:nvSpPr>
        <p:spPr>
          <a:xfrm>
            <a:off x="4276440" y="3977640"/>
            <a:ext cx="3453120" cy="21027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4" name="Shape 19"/>
          <p:cNvSpPr/>
          <p:nvPr/>
        </p:nvSpPr>
        <p:spPr>
          <a:xfrm>
            <a:off x="4477680" y="417888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85" name="Image 4" descr="preencoded.png"/>
          <p:cNvPicPr/>
          <p:nvPr/>
        </p:nvPicPr>
        <p:blipFill>
          <a:blip r:embed="rId5"/>
          <a:stretch/>
        </p:blipFill>
        <p:spPr>
          <a:xfrm>
            <a:off x="4624920" y="432612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Text 20"/>
          <p:cNvSpPr/>
          <p:nvPr/>
        </p:nvSpPr>
        <p:spPr>
          <a:xfrm>
            <a:off x="4477680" y="4846320"/>
            <a:ext cx="3050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Logcat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21"/>
          <p:cNvSpPr/>
          <p:nvPr/>
        </p:nvSpPr>
        <p:spPr>
          <a:xfrm>
            <a:off x="4477680" y="5184720"/>
            <a:ext cx="3050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Consola de registro del sistema y de la propia app.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2"/>
          <p:cNvSpPr/>
          <p:nvPr/>
        </p:nvSpPr>
        <p:spPr>
          <a:xfrm>
            <a:off x="8003880" y="3977640"/>
            <a:ext cx="3453120" cy="21027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9" name="Shape 23"/>
          <p:cNvSpPr/>
          <p:nvPr/>
        </p:nvSpPr>
        <p:spPr>
          <a:xfrm>
            <a:off x="8205120" y="417888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90" name="Image 5" descr="preencoded.png"/>
          <p:cNvPicPr/>
          <p:nvPr/>
        </p:nvPicPr>
        <p:blipFill>
          <a:blip r:embed="rId6"/>
          <a:stretch/>
        </p:blipFill>
        <p:spPr>
          <a:xfrm>
            <a:off x="8352720" y="432612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Text 24"/>
          <p:cNvSpPr/>
          <p:nvPr/>
        </p:nvSpPr>
        <p:spPr>
          <a:xfrm>
            <a:off x="8205120" y="4846320"/>
            <a:ext cx="3050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Profiler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5"/>
          <p:cNvSpPr/>
          <p:nvPr/>
        </p:nvSpPr>
        <p:spPr>
          <a:xfrm>
            <a:off x="8205120" y="5184720"/>
            <a:ext cx="3050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Analiza CPU, memoria, red y batería en tiempo de ejecución.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6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7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4.3 · OTROS ENTORNOS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Cada tecnología, su IDE de referencia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7" name="Table 0"/>
          <p:cNvGraphicFramePr/>
          <p:nvPr/>
        </p:nvGraphicFramePr>
        <p:xfrm>
          <a:off x="548640" y="1828800"/>
          <a:ext cx="10908360" cy="3108600"/>
        </p:xfrm>
        <a:graphic>
          <a:graphicData uri="http://schemas.openxmlformats.org/drawingml/2006/table">
            <a:tbl>
              <a:tblPr/>
              <a:tblGrid>
                <a:gridCol w="4114800"/>
                <a:gridCol w="6793920"/>
              </a:tblGrid>
              <a:tr h="518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Tecnología</a:t>
                      </a:r>
                      <a:endParaRPr lang="es-E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Entorno habitual</a:t>
                      </a:r>
                      <a:endParaRPr lang="es-E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10243E"/>
                    </a:solidFill>
                  </a:tcPr>
                </a:tc>
              </a:tr>
              <a:tr h="518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iOS nativo (Swift)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Xcode (exclusivo de macOS)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8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Flutter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Android Studio o Visual Studio Code + plugin de Flutter/Dart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18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React Native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Visual Studio Code + Node.js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8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.NET MAUI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Visual Studio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18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Kotlin Multiplatform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Android Studio / IntelliJ IDEA</a:t>
                      </a:r>
                      <a:endParaRPr lang="es-E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8" name="Text 2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3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0"/>
          <p:cNvSpPr/>
          <p:nvPr/>
        </p:nvSpPr>
        <p:spPr>
          <a:xfrm>
            <a:off x="5592960" y="1051560"/>
            <a:ext cx="1005480" cy="100548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01" name="Image 0" descr="preencoded.png"/>
          <p:cNvPicPr/>
          <p:nvPr/>
        </p:nvPicPr>
        <p:blipFill>
          <a:blip r:embed="rId1"/>
          <a:stretch/>
        </p:blipFill>
        <p:spPr>
          <a:xfrm>
            <a:off x="5854320" y="131292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Text 1"/>
          <p:cNvSpPr/>
          <p:nvPr/>
        </p:nvSpPr>
        <p:spPr>
          <a:xfrm>
            <a:off x="914400" y="233172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3DDC84"/>
                </a:solidFill>
                <a:effectLst/>
                <a:uFillTx/>
                <a:latin typeface="Calibri"/>
                <a:ea typeface="Calibri"/>
              </a:rPr>
              <a:t>BLOQUE 5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2"/>
          <p:cNvSpPr/>
          <p:nvPr/>
        </p:nvSpPr>
        <p:spPr>
          <a:xfrm>
            <a:off x="914400" y="2743200"/>
            <a:ext cx="10362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Dispositivos virtuales, configuraciones y perfiles</a:t>
            </a:r>
            <a:endParaRPr lang="es-E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3"/>
          <p:cNvSpPr/>
          <p:nvPr/>
        </p:nvSpPr>
        <p:spPr>
          <a:xfrm>
            <a:off x="1645920" y="3977640"/>
            <a:ext cx="889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Qué es un AVD y cómo se relaciona con el dispositivo real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4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5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5.1 · EL EMULADOR DE ANDROID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Un dispositivo Android simulado por software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2"/>
          <p:cNvSpPr/>
          <p:nvPr/>
        </p:nvSpPr>
        <p:spPr>
          <a:xfrm>
            <a:off x="548640" y="1508760"/>
            <a:ext cx="10908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Se apoya en tecnología de virtualización (QEMU) acelerada por hardware: permite ejecutar y depurar aplicaciones reales exactamente igual que en un terminal físico, sin necesidad de disponer de él.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3"/>
          <p:cNvSpPr/>
          <p:nvPr/>
        </p:nvSpPr>
        <p:spPr>
          <a:xfrm>
            <a:off x="548640" y="3017520"/>
            <a:ext cx="301716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1" name="Shape 4"/>
          <p:cNvSpPr/>
          <p:nvPr/>
        </p:nvSpPr>
        <p:spPr>
          <a:xfrm>
            <a:off x="777240" y="3383280"/>
            <a:ext cx="639720" cy="6397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12" name="Image 0" descr="preencoded.png"/>
          <p:cNvPicPr/>
          <p:nvPr/>
        </p:nvPicPr>
        <p:blipFill>
          <a:blip r:embed="rId1"/>
          <a:stretch/>
        </p:blipFill>
        <p:spPr>
          <a:xfrm>
            <a:off x="943560" y="354960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Text 5"/>
          <p:cNvSpPr/>
          <p:nvPr/>
        </p:nvSpPr>
        <p:spPr>
          <a:xfrm>
            <a:off x="1554480" y="32004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Perfil de hardware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6"/>
          <p:cNvSpPr/>
          <p:nvPr/>
        </p:nvSpPr>
        <p:spPr>
          <a:xfrm>
            <a:off x="1554480" y="367596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Pantalla, densidad, RAM y almacenamiento simulados.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7"/>
          <p:cNvSpPr/>
          <p:nvPr/>
        </p:nvSpPr>
        <p:spPr>
          <a:xfrm>
            <a:off x="3703320" y="338328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5B6B7B"/>
                </a:solidFill>
                <a:effectLst/>
                <a:uFillTx/>
                <a:latin typeface="Cambria"/>
                <a:ea typeface="Cambria"/>
              </a:rPr>
              <a:t>+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8"/>
          <p:cNvSpPr/>
          <p:nvPr/>
        </p:nvSpPr>
        <p:spPr>
          <a:xfrm>
            <a:off x="4251960" y="3017520"/>
            <a:ext cx="3017160" cy="1371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7" name="Shape 9"/>
          <p:cNvSpPr/>
          <p:nvPr/>
        </p:nvSpPr>
        <p:spPr>
          <a:xfrm>
            <a:off x="4480560" y="3383280"/>
            <a:ext cx="639720" cy="6397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18" name="Image 1" descr="preencoded.png"/>
          <p:cNvPicPr/>
          <p:nvPr/>
        </p:nvPicPr>
        <p:blipFill>
          <a:blip r:embed="rId2"/>
          <a:stretch/>
        </p:blipFill>
        <p:spPr>
          <a:xfrm>
            <a:off x="4646880" y="354960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Text 10"/>
          <p:cNvSpPr/>
          <p:nvPr/>
        </p:nvSpPr>
        <p:spPr>
          <a:xfrm>
            <a:off x="5257800" y="32004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Imagen de sistema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1"/>
          <p:cNvSpPr/>
          <p:nvPr/>
        </p:nvSpPr>
        <p:spPr>
          <a:xfrm>
            <a:off x="5257800" y="367596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Versión de Android, arquitectura y Google Play (o sin ella).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2"/>
          <p:cNvSpPr/>
          <p:nvPr/>
        </p:nvSpPr>
        <p:spPr>
          <a:xfrm>
            <a:off x="7406640" y="338328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5B6B7B"/>
                </a:solidFill>
                <a:effectLst/>
                <a:uFillTx/>
                <a:latin typeface="Cambria"/>
                <a:ea typeface="Cambria"/>
              </a:rPr>
              <a:t>=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3"/>
          <p:cNvSpPr/>
          <p:nvPr/>
        </p:nvSpPr>
        <p:spPr>
          <a:xfrm>
            <a:off x="7955280" y="3017520"/>
            <a:ext cx="3382920" cy="1371240"/>
          </a:xfrm>
          <a:prstGeom prst="roundRect">
            <a:avLst>
              <a:gd name="adj" fmla="val 6667"/>
            </a:avLst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3" name="Shape 14"/>
          <p:cNvSpPr/>
          <p:nvPr/>
        </p:nvSpPr>
        <p:spPr>
          <a:xfrm>
            <a:off x="8183880" y="3383280"/>
            <a:ext cx="639720" cy="6397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24" name="Image 2" descr="preencoded.png"/>
          <p:cNvPicPr/>
          <p:nvPr/>
        </p:nvPicPr>
        <p:blipFill>
          <a:blip r:embed="rId3"/>
          <a:stretch/>
        </p:blipFill>
        <p:spPr>
          <a:xfrm>
            <a:off x="8350200" y="354960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Text 15"/>
          <p:cNvSpPr/>
          <p:nvPr/>
        </p:nvSpPr>
        <p:spPr>
          <a:xfrm>
            <a:off x="8961120" y="3017520"/>
            <a:ext cx="24685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AVD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6"/>
          <p:cNvSpPr/>
          <p:nvPr/>
        </p:nvSpPr>
        <p:spPr>
          <a:xfrm>
            <a:off x="548640" y="4892040"/>
            <a:ext cx="10908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Esta separación permite probar una misma app en decenas de configuraciones de pantalla y versión de sistema sin poseer ese hardware: es la respuesta práctica a la fragmentación (bloque 2).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7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8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5.3 · EMULADOR VS. FÍSICO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¿Cuándo usar cada uno?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31" name="Table 0"/>
          <p:cNvGraphicFramePr/>
          <p:nvPr/>
        </p:nvGraphicFramePr>
        <p:xfrm>
          <a:off x="548640" y="1737360"/>
          <a:ext cx="10908360" cy="4205880"/>
        </p:xfrm>
        <a:graphic>
          <a:graphicData uri="http://schemas.openxmlformats.org/drawingml/2006/table">
            <a:tbl>
              <a:tblPr/>
              <a:tblGrid>
                <a:gridCol w="3291840"/>
                <a:gridCol w="3803760"/>
                <a:gridCol w="3812760"/>
              </a:tblGrid>
              <a:tr h="700920">
                <a:tc>
                  <a:txBody>
                    <a:bodyPr anchor="ctr">
                      <a:noAutofit/>
                    </a:bodyPr>
                    <a:p>
                      <a:pPr/>
                      <a:endParaRPr lang="en-US" sz="14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Emulador (AVD)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Dispositivo físico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10243E"/>
                    </a:solidFill>
                  </a:tcPr>
                </a:tc>
              </a:tr>
              <a:tr h="700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Coste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Ninguno adicional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Requiere adquirir el terminal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Variedad de configuraciones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Ilimitada (pantallas, versiones, RAM…)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Limitada al hardware disponible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700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Simulación de sensores / ubicación / llamadas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Sí, de forma controlada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Requiere condiciones reales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Fidelidad de rendimiento gráfico y batería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Aproximada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Real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700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Recomendación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Ideal para el desarrollo diario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27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Imprescindible antes de publicar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1E8ED"/>
                      </a:solidFill>
                      <a:prstDash val="solid"/>
                    </a:lnL>
                    <a:lnR w="9360">
                      <a:solidFill>
                        <a:srgbClr val="E1E8ED"/>
                      </a:solidFill>
                      <a:prstDash val="solid"/>
                    </a:lnR>
                    <a:lnT w="9360">
                      <a:solidFill>
                        <a:srgbClr val="E1E8ED"/>
                      </a:solidFill>
                      <a:prstDash val="solid"/>
                    </a:lnT>
                    <a:lnB w="9360">
                      <a:solidFill>
                        <a:srgbClr val="E1E8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2" name="Text 2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3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0"/>
          <p:cNvSpPr/>
          <p:nvPr/>
        </p:nvSpPr>
        <p:spPr>
          <a:xfrm>
            <a:off x="5592960" y="1051560"/>
            <a:ext cx="1005480" cy="100548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35" name="Image 0" descr="preencoded.png"/>
          <p:cNvPicPr/>
          <p:nvPr/>
        </p:nvPicPr>
        <p:blipFill>
          <a:blip r:embed="rId1"/>
          <a:stretch/>
        </p:blipFill>
        <p:spPr>
          <a:xfrm>
            <a:off x="5854320" y="131292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Text 1"/>
          <p:cNvSpPr/>
          <p:nvPr/>
        </p:nvSpPr>
        <p:spPr>
          <a:xfrm>
            <a:off x="914400" y="233172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3DDC84"/>
                </a:solidFill>
                <a:effectLst/>
                <a:uFillTx/>
                <a:latin typeface="Calibri"/>
                <a:ea typeface="Calibri"/>
              </a:rPr>
              <a:t>BLOQUE 6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"/>
          <p:cNvSpPr/>
          <p:nvPr/>
        </p:nvSpPr>
        <p:spPr>
          <a:xfrm>
            <a:off x="914400" y="2743200"/>
            <a:ext cx="10362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Estructura de una aplicación móvil</a:t>
            </a:r>
            <a:endParaRPr lang="es-E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3"/>
          <p:cNvSpPr/>
          <p:nvPr/>
        </p:nvSpPr>
        <p:spPr>
          <a:xfrm>
            <a:off x="1645920" y="3977640"/>
            <a:ext cx="889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Componentes, jerarquía de clases y organización de un proyecto Android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4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5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6.1 · COMPONENTES ANDROID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Cuatro piezas, cualquier aplicación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2"/>
          <p:cNvSpPr/>
          <p:nvPr/>
        </p:nvSpPr>
        <p:spPr>
          <a:xfrm>
            <a:off x="548640" y="1691640"/>
            <a:ext cx="2555280" cy="2834280"/>
          </a:xfrm>
          <a:prstGeom prst="roundRect">
            <a:avLst>
              <a:gd name="adj" fmla="val 2862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4" name="Shape 3"/>
          <p:cNvSpPr/>
          <p:nvPr/>
        </p:nvSpPr>
        <p:spPr>
          <a:xfrm>
            <a:off x="749880" y="189288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45" name="Image 0" descr="preencoded.png"/>
          <p:cNvPicPr/>
          <p:nvPr/>
        </p:nvPicPr>
        <p:blipFill>
          <a:blip r:embed="rId1"/>
          <a:stretch/>
        </p:blipFill>
        <p:spPr>
          <a:xfrm>
            <a:off x="897120" y="204012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Text 4"/>
          <p:cNvSpPr/>
          <p:nvPr/>
        </p:nvSpPr>
        <p:spPr>
          <a:xfrm>
            <a:off x="749880" y="2560320"/>
            <a:ext cx="215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Activity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5"/>
          <p:cNvSpPr/>
          <p:nvPr/>
        </p:nvSpPr>
        <p:spPr>
          <a:xfrm>
            <a:off x="749880" y="2898720"/>
            <a:ext cx="21531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Representa una pantalla con la que interactúa el usuario.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6"/>
          <p:cNvSpPr/>
          <p:nvPr/>
        </p:nvSpPr>
        <p:spPr>
          <a:xfrm>
            <a:off x="3332880" y="1691640"/>
            <a:ext cx="2555280" cy="2834280"/>
          </a:xfrm>
          <a:prstGeom prst="roundRect">
            <a:avLst>
              <a:gd name="adj" fmla="val 2862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9" name="Shape 7"/>
          <p:cNvSpPr/>
          <p:nvPr/>
        </p:nvSpPr>
        <p:spPr>
          <a:xfrm>
            <a:off x="3534120" y="189288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50" name="Image 1" descr="preencoded.png"/>
          <p:cNvPicPr/>
          <p:nvPr/>
        </p:nvPicPr>
        <p:blipFill>
          <a:blip r:embed="rId2"/>
          <a:stretch/>
        </p:blipFill>
        <p:spPr>
          <a:xfrm>
            <a:off x="3681720" y="204012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Text 8"/>
          <p:cNvSpPr/>
          <p:nvPr/>
        </p:nvSpPr>
        <p:spPr>
          <a:xfrm>
            <a:off x="3534120" y="2560320"/>
            <a:ext cx="215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Service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9"/>
          <p:cNvSpPr/>
          <p:nvPr/>
        </p:nvSpPr>
        <p:spPr>
          <a:xfrm>
            <a:off x="3534120" y="2898720"/>
            <a:ext cx="21531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Ejecuta operaciones en segundo plano sin interfaz de usuario.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0"/>
          <p:cNvSpPr/>
          <p:nvPr/>
        </p:nvSpPr>
        <p:spPr>
          <a:xfrm>
            <a:off x="6117480" y="1691640"/>
            <a:ext cx="2555280" cy="2834280"/>
          </a:xfrm>
          <a:prstGeom prst="roundRect">
            <a:avLst>
              <a:gd name="adj" fmla="val 2862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4" name="Shape 11"/>
          <p:cNvSpPr/>
          <p:nvPr/>
        </p:nvSpPr>
        <p:spPr>
          <a:xfrm>
            <a:off x="6318360" y="189288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55" name="Image 2" descr="preencoded.png"/>
          <p:cNvPicPr/>
          <p:nvPr/>
        </p:nvPicPr>
        <p:blipFill>
          <a:blip r:embed="rId3"/>
          <a:stretch/>
        </p:blipFill>
        <p:spPr>
          <a:xfrm>
            <a:off x="6465960" y="204012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Text 12"/>
          <p:cNvSpPr/>
          <p:nvPr/>
        </p:nvSpPr>
        <p:spPr>
          <a:xfrm>
            <a:off x="6318360" y="2560320"/>
            <a:ext cx="215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Broadcast Receiver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3"/>
          <p:cNvSpPr/>
          <p:nvPr/>
        </p:nvSpPr>
        <p:spPr>
          <a:xfrm>
            <a:off x="6318360" y="2898720"/>
            <a:ext cx="21531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Reacciona a eventos del sistema o de otras apps.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14"/>
          <p:cNvSpPr/>
          <p:nvPr/>
        </p:nvSpPr>
        <p:spPr>
          <a:xfrm>
            <a:off x="8901720" y="1691640"/>
            <a:ext cx="2555280" cy="2834280"/>
          </a:xfrm>
          <a:prstGeom prst="roundRect">
            <a:avLst>
              <a:gd name="adj" fmla="val 2862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9" name="Shape 15"/>
          <p:cNvSpPr/>
          <p:nvPr/>
        </p:nvSpPr>
        <p:spPr>
          <a:xfrm>
            <a:off x="9102960" y="1892880"/>
            <a:ext cx="566640" cy="5666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60" name="Image 3" descr="preencoded.png"/>
          <p:cNvPicPr/>
          <p:nvPr/>
        </p:nvPicPr>
        <p:blipFill>
          <a:blip r:embed="rId4"/>
          <a:stretch/>
        </p:blipFill>
        <p:spPr>
          <a:xfrm>
            <a:off x="9250200" y="204012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Text 16"/>
          <p:cNvSpPr/>
          <p:nvPr/>
        </p:nvSpPr>
        <p:spPr>
          <a:xfrm>
            <a:off x="9102960" y="2560320"/>
            <a:ext cx="215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Content Provider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7"/>
          <p:cNvSpPr/>
          <p:nvPr/>
        </p:nvSpPr>
        <p:spPr>
          <a:xfrm>
            <a:off x="9102960" y="2898720"/>
            <a:ext cx="21531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Expone datos de la app para que otras los consulten.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8"/>
          <p:cNvSpPr/>
          <p:nvPr/>
        </p:nvSpPr>
        <p:spPr>
          <a:xfrm>
            <a:off x="548640" y="4892040"/>
            <a:ext cx="10908360" cy="1051200"/>
          </a:xfrm>
          <a:prstGeom prst="roundRect">
            <a:avLst>
              <a:gd name="adj" fmla="val 6957"/>
            </a:avLst>
          </a:prstGeom>
          <a:solidFill>
            <a:srgbClr val="EAF3FF"/>
          </a:solidFill>
          <a:ln w="12700">
            <a:solidFill>
              <a:srgbClr val="E1E8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4" name="Text 19"/>
          <p:cNvSpPr/>
          <p:nvPr/>
        </p:nvSpPr>
        <p:spPr>
          <a:xfrm>
            <a:off x="777240" y="4892040"/>
            <a:ext cx="10451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Con Jetpack Compose, la mayoría de pantallas se implementan como funciones @Composable dentro de una única Activity, en vez de crear una Activity por pantalla. Aun así, este modelo de cuatro componentes sigue siendo la base del sistema operativo.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20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21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6.2 · JERARQUÍA Y PROYECTO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Cómo se organiza un proyecto Android Studio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2"/>
          <p:cNvSpPr/>
          <p:nvPr/>
        </p:nvSpPr>
        <p:spPr>
          <a:xfrm>
            <a:off x="548640" y="1691640"/>
            <a:ext cx="456840" cy="4568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70" name="Image 0" descr="preencoded.png"/>
          <p:cNvPicPr/>
          <p:nvPr/>
        </p:nvPicPr>
        <p:blipFill>
          <a:blip r:embed="rId1"/>
          <a:stretch/>
        </p:blipFill>
        <p:spPr>
          <a:xfrm>
            <a:off x="667440" y="181044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1" name="Text 3"/>
          <p:cNvSpPr/>
          <p:nvPr/>
        </p:nvSpPr>
        <p:spPr>
          <a:xfrm>
            <a:off x="1207080" y="1654920"/>
            <a:ext cx="1024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manifests / AndroidManifest.xml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4"/>
          <p:cNvSpPr/>
          <p:nvPr/>
        </p:nvSpPr>
        <p:spPr>
          <a:xfrm>
            <a:off x="1207080" y="1929240"/>
            <a:ext cx="1024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Declara componentes, permisos y configuración general de la app.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5"/>
          <p:cNvSpPr/>
          <p:nvPr/>
        </p:nvSpPr>
        <p:spPr>
          <a:xfrm>
            <a:off x="548640" y="2743200"/>
            <a:ext cx="456840" cy="4568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74" name="Image 1" descr="preencoded.png"/>
          <p:cNvPicPr/>
          <p:nvPr/>
        </p:nvPicPr>
        <p:blipFill>
          <a:blip r:embed="rId2"/>
          <a:stretch/>
        </p:blipFill>
        <p:spPr>
          <a:xfrm>
            <a:off x="667440" y="286200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5" name="Text 6"/>
          <p:cNvSpPr/>
          <p:nvPr/>
        </p:nvSpPr>
        <p:spPr>
          <a:xfrm>
            <a:off x="1207080" y="2706480"/>
            <a:ext cx="1024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java (o kotlin) /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7"/>
          <p:cNvSpPr/>
          <p:nvPr/>
        </p:nvSpPr>
        <p:spPr>
          <a:xfrm>
            <a:off x="1207080" y="2980800"/>
            <a:ext cx="1024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Código fuente Kotlin/Java, incluida la clase Application y las Activity.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8"/>
          <p:cNvSpPr/>
          <p:nvPr/>
        </p:nvSpPr>
        <p:spPr>
          <a:xfrm>
            <a:off x="548640" y="3794760"/>
            <a:ext cx="456840" cy="4568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78" name="Image 2" descr="preencoded.png"/>
          <p:cNvPicPr/>
          <p:nvPr/>
        </p:nvPicPr>
        <p:blipFill>
          <a:blip r:embed="rId3"/>
          <a:stretch/>
        </p:blipFill>
        <p:spPr>
          <a:xfrm>
            <a:off x="667440" y="391356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9" name="Text 9"/>
          <p:cNvSpPr/>
          <p:nvPr/>
        </p:nvSpPr>
        <p:spPr>
          <a:xfrm>
            <a:off x="1207080" y="3758040"/>
            <a:ext cx="1024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res /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0"/>
          <p:cNvSpPr/>
          <p:nvPr/>
        </p:nvSpPr>
        <p:spPr>
          <a:xfrm>
            <a:off x="1207080" y="4032360"/>
            <a:ext cx="1024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Recursos: cadenas de texto, colores, imágenes, layouts heredados, temas.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11"/>
          <p:cNvSpPr/>
          <p:nvPr/>
        </p:nvSpPr>
        <p:spPr>
          <a:xfrm>
            <a:off x="548640" y="4846320"/>
            <a:ext cx="456840" cy="4568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82" name="Image 3" descr="preencoded.png"/>
          <p:cNvPicPr/>
          <p:nvPr/>
        </p:nvPicPr>
        <p:blipFill>
          <a:blip r:embed="rId4"/>
          <a:stretch/>
        </p:blipFill>
        <p:spPr>
          <a:xfrm>
            <a:off x="667440" y="496512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3" name="Text 12"/>
          <p:cNvSpPr/>
          <p:nvPr/>
        </p:nvSpPr>
        <p:spPr>
          <a:xfrm>
            <a:off x="1207080" y="4809600"/>
            <a:ext cx="1024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build.gradle.kts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3"/>
          <p:cNvSpPr/>
          <p:nvPr/>
        </p:nvSpPr>
        <p:spPr>
          <a:xfrm>
            <a:off x="1207080" y="5083920"/>
            <a:ext cx="1024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Configuración de compilación y dependencias del módulo o del proyecto.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4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5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6.3 · MANIFEST Y RECURSOS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La carta de presentación de la app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2"/>
          <p:cNvSpPr/>
          <p:nvPr/>
        </p:nvSpPr>
        <p:spPr>
          <a:xfrm>
            <a:off x="548640" y="1691640"/>
            <a:ext cx="5257440" cy="429732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0" name="Text 3"/>
          <p:cNvSpPr/>
          <p:nvPr/>
        </p:nvSpPr>
        <p:spPr>
          <a:xfrm>
            <a:off x="868680" y="192024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AndroidManifest.xml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4"/>
          <p:cNvSpPr/>
          <p:nvPr/>
        </p:nvSpPr>
        <p:spPr>
          <a:xfrm>
            <a:off x="868680" y="2514600"/>
            <a:ext cx="461736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5B6B7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Componentes declarados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5B6B7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Permisos solicitados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5B6B7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Paquete de la aplicación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5B6B7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Versión mínima y objetivo de Android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5B6B7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Icono y pantalla de inicio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5"/>
          <p:cNvSpPr/>
          <p:nvPr/>
        </p:nvSpPr>
        <p:spPr>
          <a:xfrm>
            <a:off x="6172200" y="1691640"/>
            <a:ext cx="5257440" cy="429732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  <a:effectLst>
            <a:outerShdw algn="bl" blurRad="76320" dir="5400000" dist="25560" rotWithShape="0">
              <a:srgbClr val="1A2733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3" name="Text 6"/>
          <p:cNvSpPr/>
          <p:nvPr/>
        </p:nvSpPr>
        <p:spPr>
          <a:xfrm>
            <a:off x="6492240" y="192024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Carpeta res/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7"/>
          <p:cNvSpPr/>
          <p:nvPr/>
        </p:nvSpPr>
        <p:spPr>
          <a:xfrm>
            <a:off x="6492240" y="2514600"/>
            <a:ext cx="461736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5B6B7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values-es, values-en… → idiomas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5B6B7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drawable-hdpi, drawable-xhdpi… → densidades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001"/>
              </a:spcAft>
              <a:buClr>
                <a:srgbClr val="5B6B7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Adaptación automática sin tocar código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8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9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Shape 0"/>
          <p:cNvSpPr/>
          <p:nvPr/>
        </p:nvSpPr>
        <p:spPr>
          <a:xfrm>
            <a:off x="5592960" y="1051560"/>
            <a:ext cx="1005480" cy="100548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98" name="Image 0" descr="preencoded.png"/>
          <p:cNvPicPr/>
          <p:nvPr/>
        </p:nvPicPr>
        <p:blipFill>
          <a:blip r:embed="rId1"/>
          <a:stretch/>
        </p:blipFill>
        <p:spPr>
          <a:xfrm>
            <a:off x="5854320" y="131292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9" name="Text 1"/>
          <p:cNvSpPr/>
          <p:nvPr/>
        </p:nvSpPr>
        <p:spPr>
          <a:xfrm>
            <a:off x="914400" y="233172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3DDC84"/>
                </a:solidFill>
                <a:effectLst/>
                <a:uFillTx/>
                <a:latin typeface="Calibri"/>
                <a:ea typeface="Calibri"/>
              </a:rPr>
              <a:t>BLOQUE 7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2"/>
          <p:cNvSpPr/>
          <p:nvPr/>
        </p:nvSpPr>
        <p:spPr>
          <a:xfrm>
            <a:off x="914400" y="2743200"/>
            <a:ext cx="10362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Ciclo de vida de una aplicación móvil</a:t>
            </a:r>
            <a:endParaRPr lang="es-E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3"/>
          <p:cNvSpPr/>
          <p:nvPr/>
        </p:nvSpPr>
        <p:spPr>
          <a:xfrm>
            <a:off x="1645920" y="3977640"/>
            <a:ext cx="889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Del “mercado” a los estados internos de una Activity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4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5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7.1 · MODELO DE ESTADOS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En qué situación puede estar una app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2"/>
          <p:cNvSpPr/>
          <p:nvPr/>
        </p:nvSpPr>
        <p:spPr>
          <a:xfrm>
            <a:off x="2194560" y="2820960"/>
            <a:ext cx="1980720" cy="2700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7" name="Shape 3"/>
          <p:cNvSpPr/>
          <p:nvPr/>
        </p:nvSpPr>
        <p:spPr>
          <a:xfrm>
            <a:off x="1280160" y="2377440"/>
            <a:ext cx="914040" cy="9140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08" name="Image 0" descr="preencoded.png"/>
          <p:cNvPicPr/>
          <p:nvPr/>
        </p:nvPicPr>
        <p:blipFill>
          <a:blip r:embed="rId1"/>
          <a:stretch/>
        </p:blipFill>
        <p:spPr>
          <a:xfrm>
            <a:off x="1517760" y="261504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9" name="Text 4"/>
          <p:cNvSpPr/>
          <p:nvPr/>
        </p:nvSpPr>
        <p:spPr>
          <a:xfrm>
            <a:off x="1938600" y="2267640"/>
            <a:ext cx="310680" cy="310680"/>
          </a:xfrm>
          <a:prstGeom prst="ellipse">
            <a:avLst/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5"/>
          <p:cNvSpPr/>
          <p:nvPr/>
        </p:nvSpPr>
        <p:spPr>
          <a:xfrm>
            <a:off x="960120" y="342000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Activo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6"/>
          <p:cNvSpPr/>
          <p:nvPr/>
        </p:nvSpPr>
        <p:spPr>
          <a:xfrm>
            <a:off x="868680" y="373068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Visible, el usuario interactúa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7"/>
          <p:cNvSpPr/>
          <p:nvPr/>
        </p:nvSpPr>
        <p:spPr>
          <a:xfrm>
            <a:off x="5090040" y="2820960"/>
            <a:ext cx="1980720" cy="2700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3" name="Shape 8"/>
          <p:cNvSpPr/>
          <p:nvPr/>
        </p:nvSpPr>
        <p:spPr>
          <a:xfrm>
            <a:off x="4175640" y="2377440"/>
            <a:ext cx="914040" cy="9140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14" name="Image 1" descr="preencoded.png"/>
          <p:cNvPicPr/>
          <p:nvPr/>
        </p:nvPicPr>
        <p:blipFill>
          <a:blip r:embed="rId2"/>
          <a:stretch/>
        </p:blipFill>
        <p:spPr>
          <a:xfrm>
            <a:off x="4413600" y="261504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Text 9"/>
          <p:cNvSpPr/>
          <p:nvPr/>
        </p:nvSpPr>
        <p:spPr>
          <a:xfrm>
            <a:off x="4834080" y="2267640"/>
            <a:ext cx="310680" cy="310680"/>
          </a:xfrm>
          <a:prstGeom prst="ellipse">
            <a:avLst/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0"/>
          <p:cNvSpPr/>
          <p:nvPr/>
        </p:nvSpPr>
        <p:spPr>
          <a:xfrm>
            <a:off x="3855600" y="342000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Pausado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1"/>
          <p:cNvSpPr/>
          <p:nvPr/>
        </p:nvSpPr>
        <p:spPr>
          <a:xfrm>
            <a:off x="3764160" y="373068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Parcialmente visible (p. ej. un diálogo)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12"/>
          <p:cNvSpPr/>
          <p:nvPr/>
        </p:nvSpPr>
        <p:spPr>
          <a:xfrm>
            <a:off x="7985880" y="2820960"/>
            <a:ext cx="1980720" cy="2700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9" name="Shape 13"/>
          <p:cNvSpPr/>
          <p:nvPr/>
        </p:nvSpPr>
        <p:spPr>
          <a:xfrm>
            <a:off x="7071480" y="2377440"/>
            <a:ext cx="914040" cy="9140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20" name="Image 2" descr="preencoded.png"/>
          <p:cNvPicPr/>
          <p:nvPr/>
        </p:nvPicPr>
        <p:blipFill>
          <a:blip r:embed="rId3"/>
          <a:stretch/>
        </p:blipFill>
        <p:spPr>
          <a:xfrm>
            <a:off x="7309080" y="261504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Text 14"/>
          <p:cNvSpPr/>
          <p:nvPr/>
        </p:nvSpPr>
        <p:spPr>
          <a:xfrm>
            <a:off x="7729560" y="2267640"/>
            <a:ext cx="310680" cy="310680"/>
          </a:xfrm>
          <a:prstGeom prst="ellipse">
            <a:avLst/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15"/>
          <p:cNvSpPr/>
          <p:nvPr/>
        </p:nvSpPr>
        <p:spPr>
          <a:xfrm>
            <a:off x="6751440" y="342000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Detenido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16"/>
          <p:cNvSpPr/>
          <p:nvPr/>
        </p:nvSpPr>
        <p:spPr>
          <a:xfrm>
            <a:off x="6660000" y="373068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En segundo plano, no visible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17"/>
          <p:cNvSpPr/>
          <p:nvPr/>
        </p:nvSpPr>
        <p:spPr>
          <a:xfrm>
            <a:off x="9966960" y="2377440"/>
            <a:ext cx="914040" cy="91404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25" name="Image 3" descr="preencoded.png"/>
          <p:cNvPicPr/>
          <p:nvPr/>
        </p:nvPicPr>
        <p:blipFill>
          <a:blip r:embed="rId4"/>
          <a:stretch/>
        </p:blipFill>
        <p:spPr>
          <a:xfrm>
            <a:off x="10204560" y="261504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Text 18"/>
          <p:cNvSpPr/>
          <p:nvPr/>
        </p:nvSpPr>
        <p:spPr>
          <a:xfrm>
            <a:off x="10625400" y="2267640"/>
            <a:ext cx="310680" cy="310680"/>
          </a:xfrm>
          <a:prstGeom prst="ellipse">
            <a:avLst/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19"/>
          <p:cNvSpPr/>
          <p:nvPr/>
        </p:nvSpPr>
        <p:spPr>
          <a:xfrm>
            <a:off x="9646920" y="342000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Destruido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20"/>
          <p:cNvSpPr/>
          <p:nvPr/>
        </p:nvSpPr>
        <p:spPr>
          <a:xfrm>
            <a:off x="9555480" y="373068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El proceso finaliza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1"/>
          <p:cNvSpPr/>
          <p:nvPr/>
        </p:nvSpPr>
        <p:spPr>
          <a:xfrm>
            <a:off x="548640" y="5394960"/>
            <a:ext cx="10908360" cy="868320"/>
          </a:xfrm>
          <a:prstGeom prst="roundRect">
            <a:avLst>
              <a:gd name="adj" fmla="val 8421"/>
            </a:avLst>
          </a:prstGeom>
          <a:solidFill>
            <a:srgbClr val="EAF3FF"/>
          </a:solidFill>
          <a:ln w="12700">
            <a:solidFill>
              <a:srgbClr val="E1E8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0" name="Text 22"/>
          <p:cNvSpPr/>
          <p:nvPr/>
        </p:nvSpPr>
        <p:spPr>
          <a:xfrm>
            <a:off x="777240" y="5394960"/>
            <a:ext cx="10451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El sistema puede mover una aplicación entre estos estados en cualquier momento, según la interacción del usuario y las necesidades de memoria del dispositivo.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23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24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7.2 · CICLO DE VIDA “DE MERCADO”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De la tienda de aplicaciones al borrado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2"/>
          <p:cNvSpPr/>
          <p:nvPr/>
        </p:nvSpPr>
        <p:spPr>
          <a:xfrm>
            <a:off x="1508760" y="2775240"/>
            <a:ext cx="1679760" cy="2700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6" name="Shape 3"/>
          <p:cNvSpPr/>
          <p:nvPr/>
        </p:nvSpPr>
        <p:spPr>
          <a:xfrm>
            <a:off x="685800" y="2377440"/>
            <a:ext cx="822600" cy="82260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37" name="Image 0" descr="preencoded.png"/>
          <p:cNvPicPr/>
          <p:nvPr/>
        </p:nvPicPr>
        <p:blipFill>
          <a:blip r:embed="rId1"/>
          <a:stretch/>
        </p:blipFill>
        <p:spPr>
          <a:xfrm>
            <a:off x="899640" y="25912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8" name="Text 4"/>
          <p:cNvSpPr/>
          <p:nvPr/>
        </p:nvSpPr>
        <p:spPr>
          <a:xfrm>
            <a:off x="1252800" y="2267640"/>
            <a:ext cx="310680" cy="310680"/>
          </a:xfrm>
          <a:prstGeom prst="ellipse">
            <a:avLst/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5"/>
          <p:cNvSpPr/>
          <p:nvPr/>
        </p:nvSpPr>
        <p:spPr>
          <a:xfrm>
            <a:off x="365760" y="332856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Descubrimiento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6"/>
          <p:cNvSpPr/>
          <p:nvPr/>
        </p:nvSpPr>
        <p:spPr>
          <a:xfrm>
            <a:off x="274320" y="3639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En una tienda o vía APK directa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7"/>
          <p:cNvSpPr/>
          <p:nvPr/>
        </p:nvSpPr>
        <p:spPr>
          <a:xfrm>
            <a:off x="4011840" y="2775240"/>
            <a:ext cx="1679760" cy="2700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2" name="Shape 8"/>
          <p:cNvSpPr/>
          <p:nvPr/>
        </p:nvSpPr>
        <p:spPr>
          <a:xfrm>
            <a:off x="3188880" y="2377440"/>
            <a:ext cx="822600" cy="82260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43" name="Image 1" descr="preencoded.png"/>
          <p:cNvPicPr/>
          <p:nvPr/>
        </p:nvPicPr>
        <p:blipFill>
          <a:blip r:embed="rId2"/>
          <a:stretch/>
        </p:blipFill>
        <p:spPr>
          <a:xfrm>
            <a:off x="3403080" y="25912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4" name="Text 9"/>
          <p:cNvSpPr/>
          <p:nvPr/>
        </p:nvSpPr>
        <p:spPr>
          <a:xfrm>
            <a:off x="3755880" y="2267640"/>
            <a:ext cx="310680" cy="310680"/>
          </a:xfrm>
          <a:prstGeom prst="ellipse">
            <a:avLst/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10"/>
          <p:cNvSpPr/>
          <p:nvPr/>
        </p:nvSpPr>
        <p:spPr>
          <a:xfrm>
            <a:off x="2868840" y="332856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Instalación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11"/>
          <p:cNvSpPr/>
          <p:nvPr/>
        </p:nvSpPr>
        <p:spPr>
          <a:xfrm>
            <a:off x="2777400" y="3639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Verificación de firma y permisos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12"/>
          <p:cNvSpPr/>
          <p:nvPr/>
        </p:nvSpPr>
        <p:spPr>
          <a:xfrm>
            <a:off x="6515280" y="2775240"/>
            <a:ext cx="1679760" cy="2700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8" name="Shape 13"/>
          <p:cNvSpPr/>
          <p:nvPr/>
        </p:nvSpPr>
        <p:spPr>
          <a:xfrm>
            <a:off x="5692320" y="2377440"/>
            <a:ext cx="822600" cy="82260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49" name="Image 2" descr="preencoded.png"/>
          <p:cNvPicPr/>
          <p:nvPr/>
        </p:nvPicPr>
        <p:blipFill>
          <a:blip r:embed="rId3"/>
          <a:stretch/>
        </p:blipFill>
        <p:spPr>
          <a:xfrm>
            <a:off x="5906160" y="25912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0" name="Text 14"/>
          <p:cNvSpPr/>
          <p:nvPr/>
        </p:nvSpPr>
        <p:spPr>
          <a:xfrm>
            <a:off x="6258960" y="2267640"/>
            <a:ext cx="310680" cy="310680"/>
          </a:xfrm>
          <a:prstGeom prst="ellipse">
            <a:avLst/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15"/>
          <p:cNvSpPr/>
          <p:nvPr/>
        </p:nvSpPr>
        <p:spPr>
          <a:xfrm>
            <a:off x="5372280" y="332856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Ejecución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16"/>
          <p:cNvSpPr/>
          <p:nvPr/>
        </p:nvSpPr>
        <p:spPr>
          <a:xfrm>
            <a:off x="5280840" y="3639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Uso repetido en el tiempo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17"/>
          <p:cNvSpPr/>
          <p:nvPr/>
        </p:nvSpPr>
        <p:spPr>
          <a:xfrm>
            <a:off x="9018360" y="2775240"/>
            <a:ext cx="1679760" cy="2700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4" name="Shape 18"/>
          <p:cNvSpPr/>
          <p:nvPr/>
        </p:nvSpPr>
        <p:spPr>
          <a:xfrm>
            <a:off x="8195400" y="2377440"/>
            <a:ext cx="822600" cy="82260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55" name="Image 3" descr="preencoded.png"/>
          <p:cNvPicPr/>
          <p:nvPr/>
        </p:nvPicPr>
        <p:blipFill>
          <a:blip r:embed="rId4"/>
          <a:stretch/>
        </p:blipFill>
        <p:spPr>
          <a:xfrm>
            <a:off x="8409240" y="25912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6" name="Text 19"/>
          <p:cNvSpPr/>
          <p:nvPr/>
        </p:nvSpPr>
        <p:spPr>
          <a:xfrm>
            <a:off x="8762400" y="2267640"/>
            <a:ext cx="310680" cy="310680"/>
          </a:xfrm>
          <a:prstGeom prst="ellipse">
            <a:avLst/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20"/>
          <p:cNvSpPr/>
          <p:nvPr/>
        </p:nvSpPr>
        <p:spPr>
          <a:xfrm>
            <a:off x="7875360" y="332856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Actualización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21"/>
          <p:cNvSpPr/>
          <p:nvPr/>
        </p:nvSpPr>
        <p:spPr>
          <a:xfrm>
            <a:off x="7783920" y="3639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Nuevas versiones distribuidas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22"/>
          <p:cNvSpPr/>
          <p:nvPr/>
        </p:nvSpPr>
        <p:spPr>
          <a:xfrm>
            <a:off x="10698480" y="2377440"/>
            <a:ext cx="822600" cy="82260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60" name="Image 4" descr="preencoded.png"/>
          <p:cNvPicPr/>
          <p:nvPr/>
        </p:nvPicPr>
        <p:blipFill>
          <a:blip r:embed="rId5"/>
          <a:stretch/>
        </p:blipFill>
        <p:spPr>
          <a:xfrm>
            <a:off x="10912320" y="25912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1" name="Text 23"/>
          <p:cNvSpPr/>
          <p:nvPr/>
        </p:nvSpPr>
        <p:spPr>
          <a:xfrm>
            <a:off x="11265480" y="2267640"/>
            <a:ext cx="310680" cy="310680"/>
          </a:xfrm>
          <a:prstGeom prst="ellipse">
            <a:avLst/>
          </a:prstGeom>
          <a:solidFill>
            <a:srgbClr val="1024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24"/>
          <p:cNvSpPr/>
          <p:nvPr/>
        </p:nvSpPr>
        <p:spPr>
          <a:xfrm>
            <a:off x="10378440" y="332856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Desinstalación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25"/>
          <p:cNvSpPr/>
          <p:nvPr/>
        </p:nvSpPr>
        <p:spPr>
          <a:xfrm>
            <a:off x="10287000" y="3639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Se eliminan app y datos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26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27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7.3 · CICLO DE VIDA DE UNA ACTIVITY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Los métodos que invoca el sistema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2"/>
          <p:cNvSpPr/>
          <p:nvPr/>
        </p:nvSpPr>
        <p:spPr>
          <a:xfrm>
            <a:off x="548640" y="1600200"/>
            <a:ext cx="3291480" cy="56664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9" name="Text 3"/>
          <p:cNvSpPr/>
          <p:nvPr/>
        </p:nvSpPr>
        <p:spPr>
          <a:xfrm>
            <a:off x="777240" y="1600200"/>
            <a:ext cx="2834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onCreate()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4"/>
          <p:cNvSpPr/>
          <p:nvPr/>
        </p:nvSpPr>
        <p:spPr>
          <a:xfrm>
            <a:off x="4069080" y="1600200"/>
            <a:ext cx="3291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Se crea la Activity (aquí se define la interfaz con setContent en Compose)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5"/>
          <p:cNvSpPr/>
          <p:nvPr/>
        </p:nvSpPr>
        <p:spPr>
          <a:xfrm>
            <a:off x="2183760" y="2167200"/>
            <a:ext cx="21600" cy="14580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2" name="Shape 6"/>
          <p:cNvSpPr/>
          <p:nvPr/>
        </p:nvSpPr>
        <p:spPr>
          <a:xfrm>
            <a:off x="548640" y="2313360"/>
            <a:ext cx="3291480" cy="56664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3" name="Text 7"/>
          <p:cNvSpPr/>
          <p:nvPr/>
        </p:nvSpPr>
        <p:spPr>
          <a:xfrm>
            <a:off x="777240" y="2313360"/>
            <a:ext cx="2834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onStart()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8"/>
          <p:cNvSpPr/>
          <p:nvPr/>
        </p:nvSpPr>
        <p:spPr>
          <a:xfrm>
            <a:off x="4069080" y="2313360"/>
            <a:ext cx="3291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La Activity se hace visible para el usuario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9"/>
          <p:cNvSpPr/>
          <p:nvPr/>
        </p:nvSpPr>
        <p:spPr>
          <a:xfrm>
            <a:off x="2183760" y="2880360"/>
            <a:ext cx="21600" cy="14580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6" name="Shape 10"/>
          <p:cNvSpPr/>
          <p:nvPr/>
        </p:nvSpPr>
        <p:spPr>
          <a:xfrm>
            <a:off x="548640" y="3026520"/>
            <a:ext cx="3291480" cy="566640"/>
          </a:xfrm>
          <a:prstGeom prst="roundRect">
            <a:avLst>
              <a:gd name="adj" fmla="val 9677"/>
            </a:avLst>
          </a:prstGeom>
          <a:solidFill>
            <a:srgbClr val="3DDC84"/>
          </a:solidFill>
          <a:ln w="12700">
            <a:solidFill>
              <a:srgbClr val="3DDC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7" name="Text 11"/>
          <p:cNvSpPr/>
          <p:nvPr/>
        </p:nvSpPr>
        <p:spPr>
          <a:xfrm>
            <a:off x="777240" y="3026520"/>
            <a:ext cx="2834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onResume()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12"/>
          <p:cNvSpPr/>
          <p:nvPr/>
        </p:nvSpPr>
        <p:spPr>
          <a:xfrm>
            <a:off x="4069080" y="3026520"/>
            <a:ext cx="3291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Pasa a primer plano; el usuario puede interactuar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13"/>
          <p:cNvSpPr/>
          <p:nvPr/>
        </p:nvSpPr>
        <p:spPr>
          <a:xfrm>
            <a:off x="2183760" y="3593520"/>
            <a:ext cx="21600" cy="14580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0" name="Shape 14"/>
          <p:cNvSpPr/>
          <p:nvPr/>
        </p:nvSpPr>
        <p:spPr>
          <a:xfrm>
            <a:off x="548640" y="3740040"/>
            <a:ext cx="3291480" cy="56664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1" name="Text 15"/>
          <p:cNvSpPr/>
          <p:nvPr/>
        </p:nvSpPr>
        <p:spPr>
          <a:xfrm>
            <a:off x="777240" y="3740040"/>
            <a:ext cx="2834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onPause()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16"/>
          <p:cNvSpPr/>
          <p:nvPr/>
        </p:nvSpPr>
        <p:spPr>
          <a:xfrm>
            <a:off x="4069080" y="3740040"/>
            <a:ext cx="3291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Pierde el foco, aunque sigue parcialmente visible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17"/>
          <p:cNvSpPr/>
          <p:nvPr/>
        </p:nvSpPr>
        <p:spPr>
          <a:xfrm>
            <a:off x="2183760" y="4306680"/>
            <a:ext cx="21600" cy="14580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4" name="Shape 18"/>
          <p:cNvSpPr/>
          <p:nvPr/>
        </p:nvSpPr>
        <p:spPr>
          <a:xfrm>
            <a:off x="548640" y="4453200"/>
            <a:ext cx="3291480" cy="56664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5" name="Text 19"/>
          <p:cNvSpPr/>
          <p:nvPr/>
        </p:nvSpPr>
        <p:spPr>
          <a:xfrm>
            <a:off x="777240" y="4453200"/>
            <a:ext cx="2834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onStop()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20"/>
          <p:cNvSpPr/>
          <p:nvPr/>
        </p:nvSpPr>
        <p:spPr>
          <a:xfrm>
            <a:off x="4069080" y="4453200"/>
            <a:ext cx="3291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Deja de ser visible por completo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21"/>
          <p:cNvSpPr/>
          <p:nvPr/>
        </p:nvSpPr>
        <p:spPr>
          <a:xfrm>
            <a:off x="2183760" y="5020200"/>
            <a:ext cx="21600" cy="14580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8" name="Shape 22"/>
          <p:cNvSpPr/>
          <p:nvPr/>
        </p:nvSpPr>
        <p:spPr>
          <a:xfrm>
            <a:off x="548640" y="5166360"/>
            <a:ext cx="3291480" cy="56664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8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9" name="Text 23"/>
          <p:cNvSpPr/>
          <p:nvPr/>
        </p:nvSpPr>
        <p:spPr>
          <a:xfrm>
            <a:off x="777240" y="5166360"/>
            <a:ext cx="2834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onDestroy()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24"/>
          <p:cNvSpPr/>
          <p:nvPr/>
        </p:nvSpPr>
        <p:spPr>
          <a:xfrm>
            <a:off x="4069080" y="5166360"/>
            <a:ext cx="3291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Se destruye definitivamente y libera recursos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25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26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Shape 0"/>
          <p:cNvSpPr/>
          <p:nvPr/>
        </p:nvSpPr>
        <p:spPr>
          <a:xfrm>
            <a:off x="5592960" y="1051560"/>
            <a:ext cx="1005480" cy="100548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94" name="Image 0" descr="preencoded.png"/>
          <p:cNvPicPr/>
          <p:nvPr/>
        </p:nvPicPr>
        <p:blipFill>
          <a:blip r:embed="rId1"/>
          <a:stretch/>
        </p:blipFill>
        <p:spPr>
          <a:xfrm>
            <a:off x="5854320" y="131292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5" name="Text 1"/>
          <p:cNvSpPr/>
          <p:nvPr/>
        </p:nvSpPr>
        <p:spPr>
          <a:xfrm>
            <a:off x="914400" y="233172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3DDC84"/>
                </a:solidFill>
                <a:effectLst/>
                <a:uFillTx/>
                <a:latin typeface="Calibri"/>
                <a:ea typeface="Calibri"/>
              </a:rPr>
              <a:t>BLOQUE 8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2"/>
          <p:cNvSpPr/>
          <p:nvPr/>
        </p:nvSpPr>
        <p:spPr>
          <a:xfrm>
            <a:off x="914400" y="2743200"/>
            <a:ext cx="10362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Mantenimiento y entorno de ejecución</a:t>
            </a:r>
            <a:endParaRPr lang="es-E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3"/>
          <p:cNvSpPr/>
          <p:nvPr/>
        </p:nvSpPr>
        <p:spPr>
          <a:xfrm>
            <a:off x="1645920" y="3977640"/>
            <a:ext cx="889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Trabajar sobre apps ya existentes y entender qué las ejecuta por dentro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4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5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8.1 · MANTENIMIENTO DE APPS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Lo habitual no es empezar de cero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2"/>
          <p:cNvSpPr/>
          <p:nvPr/>
        </p:nvSpPr>
        <p:spPr>
          <a:xfrm>
            <a:off x="548640" y="1691640"/>
            <a:ext cx="456840" cy="45684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03" name="Image 0" descr="preencoded.png"/>
          <p:cNvPicPr/>
          <p:nvPr/>
        </p:nvPicPr>
        <p:blipFill>
          <a:blip r:embed="rId1"/>
          <a:stretch/>
        </p:blipFill>
        <p:spPr>
          <a:xfrm>
            <a:off x="667440" y="181044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4" name="Text 3"/>
          <p:cNvSpPr/>
          <p:nvPr/>
        </p:nvSpPr>
        <p:spPr>
          <a:xfrm>
            <a:off x="1207080" y="1654920"/>
            <a:ext cx="1024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Comprender código ajeno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4"/>
          <p:cNvSpPr/>
          <p:nvPr/>
        </p:nvSpPr>
        <p:spPr>
          <a:xfrm>
            <a:off x="1207080" y="1929240"/>
            <a:ext cx="1024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Leer, documentar y razonar sobre decisiones de diseño de otra persona.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5"/>
          <p:cNvSpPr/>
          <p:nvPr/>
        </p:nvSpPr>
        <p:spPr>
          <a:xfrm>
            <a:off x="548640" y="2743200"/>
            <a:ext cx="456840" cy="45684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07" name="Image 1" descr="preencoded.png"/>
          <p:cNvPicPr/>
          <p:nvPr/>
        </p:nvPicPr>
        <p:blipFill>
          <a:blip r:embed="rId2"/>
          <a:stretch/>
        </p:blipFill>
        <p:spPr>
          <a:xfrm>
            <a:off x="667440" y="286200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8" name="Text 6"/>
          <p:cNvSpPr/>
          <p:nvPr/>
        </p:nvSpPr>
        <p:spPr>
          <a:xfrm>
            <a:off x="1207080" y="2706480"/>
            <a:ext cx="1024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Control de versiones (Git)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7"/>
          <p:cNvSpPr/>
          <p:nvPr/>
        </p:nvSpPr>
        <p:spPr>
          <a:xfrm>
            <a:off x="1207080" y="2980800"/>
            <a:ext cx="1024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Registrar cambios, trabajar en equipo y poder revertir errores.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8"/>
          <p:cNvSpPr/>
          <p:nvPr/>
        </p:nvSpPr>
        <p:spPr>
          <a:xfrm>
            <a:off x="548640" y="3794760"/>
            <a:ext cx="456840" cy="45684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11" name="Image 2" descr="preencoded.png"/>
          <p:cNvPicPr/>
          <p:nvPr/>
        </p:nvPicPr>
        <p:blipFill>
          <a:blip r:embed="rId3"/>
          <a:stretch/>
        </p:blipFill>
        <p:spPr>
          <a:xfrm>
            <a:off x="667440" y="391356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2" name="Text 9"/>
          <p:cNvSpPr/>
          <p:nvPr/>
        </p:nvSpPr>
        <p:spPr>
          <a:xfrm>
            <a:off x="1207080" y="3758040"/>
            <a:ext cx="1024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Gestión de dependencias y compatibilidad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0"/>
          <p:cNvSpPr/>
          <p:nvPr/>
        </p:nvSpPr>
        <p:spPr>
          <a:xfrm>
            <a:off x="1207080" y="4032360"/>
            <a:ext cx="1024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Actualizar librerías y versiones de Android sin romper funcionalidades.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11"/>
          <p:cNvSpPr/>
          <p:nvPr/>
        </p:nvSpPr>
        <p:spPr>
          <a:xfrm>
            <a:off x="548640" y="4846320"/>
            <a:ext cx="456840" cy="45684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15" name="Image 3" descr="preencoded.png"/>
          <p:cNvPicPr/>
          <p:nvPr/>
        </p:nvPicPr>
        <p:blipFill>
          <a:blip r:embed="rId4"/>
          <a:stretch/>
        </p:blipFill>
        <p:spPr>
          <a:xfrm>
            <a:off x="667440" y="496512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6" name="Text 12"/>
          <p:cNvSpPr/>
          <p:nvPr/>
        </p:nvSpPr>
        <p:spPr>
          <a:xfrm>
            <a:off x="1207080" y="4809600"/>
            <a:ext cx="1024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Pruebas de regresión</a:t>
            </a:r>
            <a:endParaRPr lang="es-E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13"/>
          <p:cNvSpPr/>
          <p:nvPr/>
        </p:nvSpPr>
        <p:spPr>
          <a:xfrm>
            <a:off x="1207080" y="5083920"/>
            <a:ext cx="1024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Comprobar que un cambio no rompe algo que ya funcionaba.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14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15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8.2 · ANDROID RUNTIME (ART)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Qué ejecuta realmente una app Android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2"/>
          <p:cNvSpPr/>
          <p:nvPr/>
        </p:nvSpPr>
        <p:spPr>
          <a:xfrm>
            <a:off x="548640" y="1737360"/>
            <a:ext cx="1279800" cy="127980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23" name="Image 0" descr="preencoded.png"/>
          <p:cNvPicPr/>
          <p:nvPr/>
        </p:nvPicPr>
        <p:blipFill>
          <a:blip r:embed="rId1"/>
          <a:stretch/>
        </p:blipFill>
        <p:spPr>
          <a:xfrm>
            <a:off x="881640" y="2070360"/>
            <a:ext cx="614160" cy="61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4" name="Text 3"/>
          <p:cNvSpPr/>
          <p:nvPr/>
        </p:nvSpPr>
        <p:spPr>
          <a:xfrm>
            <a:off x="2148840" y="1737360"/>
            <a:ext cx="8686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Sustituyó a la máquina virtual Dalvik desde Android 5.0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4"/>
          <p:cNvSpPr/>
          <p:nvPr/>
        </p:nvSpPr>
        <p:spPr>
          <a:xfrm>
            <a:off x="548640" y="3383280"/>
            <a:ext cx="383760" cy="38376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26" name="Image 1" descr="preencoded.png"/>
          <p:cNvPicPr/>
          <p:nvPr/>
        </p:nvPicPr>
        <p:blipFill>
          <a:blip r:embed="rId2"/>
          <a:stretch/>
        </p:blipFill>
        <p:spPr>
          <a:xfrm>
            <a:off x="648360" y="348300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7" name="Text 5"/>
          <p:cNvSpPr/>
          <p:nvPr/>
        </p:nvSpPr>
        <p:spPr>
          <a:xfrm>
            <a:off x="1134000" y="3346560"/>
            <a:ext cx="1032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Compilación AOT + JIT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6"/>
          <p:cNvSpPr/>
          <p:nvPr/>
        </p:nvSpPr>
        <p:spPr>
          <a:xfrm>
            <a:off x="1134000" y="3620880"/>
            <a:ext cx="10323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Combina compilación anticipada y en tiempo de ejecución para optimizar instalación y rendimiento.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7"/>
          <p:cNvSpPr/>
          <p:nvPr/>
        </p:nvSpPr>
        <p:spPr>
          <a:xfrm>
            <a:off x="548640" y="4133160"/>
            <a:ext cx="383760" cy="38376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30" name="Image 2" descr="preencoded.png"/>
          <p:cNvPicPr/>
          <p:nvPr/>
        </p:nvPicPr>
        <p:blipFill>
          <a:blip r:embed="rId3"/>
          <a:stretch/>
        </p:blipFill>
        <p:spPr>
          <a:xfrm>
            <a:off x="648360" y="423288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1" name="Text 8"/>
          <p:cNvSpPr/>
          <p:nvPr/>
        </p:nvSpPr>
        <p:spPr>
          <a:xfrm>
            <a:off x="1134000" y="4096440"/>
            <a:ext cx="1032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Recolector de basura (GC)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9"/>
          <p:cNvSpPr/>
          <p:nvPr/>
        </p:nvSpPr>
        <p:spPr>
          <a:xfrm>
            <a:off x="1134000" y="4370760"/>
            <a:ext cx="10323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Libera automáticamente la memoria que la aplicación ya no utiliza.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10"/>
          <p:cNvSpPr/>
          <p:nvPr/>
        </p:nvSpPr>
        <p:spPr>
          <a:xfrm>
            <a:off x="548640" y="4883040"/>
            <a:ext cx="383760" cy="38376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34" name="Image 3" descr="preencoded.png"/>
          <p:cNvPicPr/>
          <p:nvPr/>
        </p:nvPicPr>
        <p:blipFill>
          <a:blip r:embed="rId4"/>
          <a:stretch/>
        </p:blipFill>
        <p:spPr>
          <a:xfrm>
            <a:off x="648360" y="498276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5" name="Text 11"/>
          <p:cNvSpPr/>
          <p:nvPr/>
        </p:nvSpPr>
        <p:spPr>
          <a:xfrm>
            <a:off x="1134000" y="4846320"/>
            <a:ext cx="1032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Sandboxing por aplicación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12"/>
          <p:cNvSpPr/>
          <p:nvPr/>
        </p:nvSpPr>
        <p:spPr>
          <a:xfrm>
            <a:off x="1134000" y="5120640"/>
            <a:ext cx="10323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Cada app corre aislada, con su propio usuario Linux y permisos.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13"/>
          <p:cNvSpPr/>
          <p:nvPr/>
        </p:nvSpPr>
        <p:spPr>
          <a:xfrm>
            <a:off x="548640" y="5632560"/>
            <a:ext cx="383760" cy="38376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38" name="Image 4" descr="preencoded.png"/>
          <p:cNvPicPr/>
          <p:nvPr/>
        </p:nvPicPr>
        <p:blipFill>
          <a:blip r:embed="rId5"/>
          <a:stretch/>
        </p:blipFill>
        <p:spPr>
          <a:xfrm>
            <a:off x="648360" y="573264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9" name="Text 14"/>
          <p:cNvSpPr/>
          <p:nvPr/>
        </p:nvSpPr>
        <p:spPr>
          <a:xfrm>
            <a:off x="1134000" y="5596200"/>
            <a:ext cx="1032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Gestor de aplicaciones del sistema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15"/>
          <p:cNvSpPr/>
          <p:nvPr/>
        </p:nvSpPr>
        <p:spPr>
          <a:xfrm>
            <a:off x="1134000" y="5870520"/>
            <a:ext cx="10323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Package Manager y Activity Manager administran instalación, permisos y ciclo de vida.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16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17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10 · RESUMEN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Las ideas clave de la unidad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2"/>
          <p:cNvSpPr/>
          <p:nvPr/>
        </p:nvSpPr>
        <p:spPr>
          <a:xfrm>
            <a:off x="548640" y="1645920"/>
            <a:ext cx="420120" cy="4201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46" name="Image 0" descr="preencoded.png"/>
          <p:cNvPicPr/>
          <p:nvPr/>
        </p:nvPicPr>
        <p:blipFill>
          <a:blip r:embed="rId1"/>
          <a:stretch/>
        </p:blipFill>
        <p:spPr>
          <a:xfrm>
            <a:off x="658080" y="1755360"/>
            <a:ext cx="201600" cy="20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7" name="Text 3"/>
          <p:cNvSpPr/>
          <p:nvPr/>
        </p:nvSpPr>
        <p:spPr>
          <a:xfrm>
            <a:off x="1170360" y="1609200"/>
            <a:ext cx="463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Ecosistema móvil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4"/>
          <p:cNvSpPr/>
          <p:nvPr/>
        </p:nvSpPr>
        <p:spPr>
          <a:xfrm>
            <a:off x="1170360" y="1883520"/>
            <a:ext cx="463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Android e iOS concentran casi todo el mercado; Android es el sistema de referencia del curso.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5"/>
          <p:cNvSpPr/>
          <p:nvPr/>
        </p:nvSpPr>
        <p:spPr>
          <a:xfrm>
            <a:off x="548640" y="2807280"/>
            <a:ext cx="420120" cy="4201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50" name="Image 1" descr="preencoded.png"/>
          <p:cNvPicPr/>
          <p:nvPr/>
        </p:nvPicPr>
        <p:blipFill>
          <a:blip r:embed="rId2"/>
          <a:stretch/>
        </p:blipFill>
        <p:spPr>
          <a:xfrm>
            <a:off x="658080" y="2916720"/>
            <a:ext cx="201600" cy="20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1" name="Text 6"/>
          <p:cNvSpPr/>
          <p:nvPr/>
        </p:nvSpPr>
        <p:spPr>
          <a:xfrm>
            <a:off x="1170360" y="2770560"/>
            <a:ext cx="463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Hardware y limitaciones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7"/>
          <p:cNvSpPr/>
          <p:nvPr/>
        </p:nvSpPr>
        <p:spPr>
          <a:xfrm>
            <a:off x="1170360" y="3044880"/>
            <a:ext cx="463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Batería, memoria, cómputo y pantalla imponen restricciones propias del entorno móvil.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8"/>
          <p:cNvSpPr/>
          <p:nvPr/>
        </p:nvSpPr>
        <p:spPr>
          <a:xfrm>
            <a:off x="548640" y="3968640"/>
            <a:ext cx="420120" cy="4201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54" name="Image 2" descr="preencoded.png"/>
          <p:cNvPicPr/>
          <p:nvPr/>
        </p:nvPicPr>
        <p:blipFill>
          <a:blip r:embed="rId3"/>
          <a:stretch/>
        </p:blipFill>
        <p:spPr>
          <a:xfrm>
            <a:off x="658080" y="4077720"/>
            <a:ext cx="201600" cy="20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5" name="Text 9"/>
          <p:cNvSpPr/>
          <p:nvPr/>
        </p:nvSpPr>
        <p:spPr>
          <a:xfrm>
            <a:off x="1170360" y="3931920"/>
            <a:ext cx="463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Tecnologías de desarrollo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10"/>
          <p:cNvSpPr/>
          <p:nvPr/>
        </p:nvSpPr>
        <p:spPr>
          <a:xfrm>
            <a:off x="1170360" y="4206240"/>
            <a:ext cx="463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Nativo, multiplataforma (Flutter, React Native, KMP) e híbrido/PWA.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11"/>
          <p:cNvSpPr/>
          <p:nvPr/>
        </p:nvSpPr>
        <p:spPr>
          <a:xfrm>
            <a:off x="548640" y="5129640"/>
            <a:ext cx="420120" cy="4201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58" name="Image 3" descr="preencoded.png"/>
          <p:cNvPicPr/>
          <p:nvPr/>
        </p:nvPicPr>
        <p:blipFill>
          <a:blip r:embed="rId4"/>
          <a:stretch/>
        </p:blipFill>
        <p:spPr>
          <a:xfrm>
            <a:off x="658080" y="5239080"/>
            <a:ext cx="201600" cy="20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9" name="Text 12"/>
          <p:cNvSpPr/>
          <p:nvPr/>
        </p:nvSpPr>
        <p:spPr>
          <a:xfrm>
            <a:off x="1170360" y="5093280"/>
            <a:ext cx="463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Android Studio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13"/>
          <p:cNvSpPr/>
          <p:nvPr/>
        </p:nvSpPr>
        <p:spPr>
          <a:xfrm>
            <a:off x="1170360" y="5367600"/>
            <a:ext cx="463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IDE oficial, basado en Gradle/AGP, con AVD Manager, Logcat y Profiler.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14"/>
          <p:cNvSpPr/>
          <p:nvPr/>
        </p:nvSpPr>
        <p:spPr>
          <a:xfrm>
            <a:off x="6172200" y="1645920"/>
            <a:ext cx="420120" cy="4201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62" name="Image 4" descr="preencoded.png"/>
          <p:cNvPicPr/>
          <p:nvPr/>
        </p:nvPicPr>
        <p:blipFill>
          <a:blip r:embed="rId5"/>
          <a:stretch/>
        </p:blipFill>
        <p:spPr>
          <a:xfrm>
            <a:off x="6281640" y="1755360"/>
            <a:ext cx="201600" cy="20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3" name="Text 15"/>
          <p:cNvSpPr/>
          <p:nvPr/>
        </p:nvSpPr>
        <p:spPr>
          <a:xfrm>
            <a:off x="6793920" y="160920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Dispositivos virtuales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16"/>
          <p:cNvSpPr/>
          <p:nvPr/>
        </p:nvSpPr>
        <p:spPr>
          <a:xfrm>
            <a:off x="6793920" y="1883520"/>
            <a:ext cx="466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Un AVD combina un perfil de hardware y una imagen de sistema.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17"/>
          <p:cNvSpPr/>
          <p:nvPr/>
        </p:nvSpPr>
        <p:spPr>
          <a:xfrm>
            <a:off x="6172200" y="2807280"/>
            <a:ext cx="420120" cy="4201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66" name="Image 5" descr="preencoded.png"/>
          <p:cNvPicPr/>
          <p:nvPr/>
        </p:nvPicPr>
        <p:blipFill>
          <a:blip r:embed="rId6"/>
          <a:stretch/>
        </p:blipFill>
        <p:spPr>
          <a:xfrm>
            <a:off x="6281640" y="2916720"/>
            <a:ext cx="201600" cy="20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7" name="Text 18"/>
          <p:cNvSpPr/>
          <p:nvPr/>
        </p:nvSpPr>
        <p:spPr>
          <a:xfrm>
            <a:off x="6793920" y="277056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Estructura de una app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19"/>
          <p:cNvSpPr/>
          <p:nvPr/>
        </p:nvSpPr>
        <p:spPr>
          <a:xfrm>
            <a:off x="6793920" y="3044880"/>
            <a:ext cx="466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Cuatro componentes: Activity, Service, Broadcast Receiver, Content Provider.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20"/>
          <p:cNvSpPr/>
          <p:nvPr/>
        </p:nvSpPr>
        <p:spPr>
          <a:xfrm>
            <a:off x="6172200" y="3968640"/>
            <a:ext cx="420120" cy="4201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70" name="Image 6" descr="preencoded.png"/>
          <p:cNvPicPr/>
          <p:nvPr/>
        </p:nvPicPr>
        <p:blipFill>
          <a:blip r:embed="rId7"/>
          <a:stretch/>
        </p:blipFill>
        <p:spPr>
          <a:xfrm>
            <a:off x="6281640" y="4077720"/>
            <a:ext cx="201600" cy="20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1" name="Text 21"/>
          <p:cNvSpPr/>
          <p:nvPr/>
        </p:nvSpPr>
        <p:spPr>
          <a:xfrm>
            <a:off x="6793920" y="393192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Ciclo de vida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22"/>
          <p:cNvSpPr/>
          <p:nvPr/>
        </p:nvSpPr>
        <p:spPr>
          <a:xfrm>
            <a:off x="6793920" y="4206240"/>
            <a:ext cx="466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A nivel de “mercado” y a nivel de Activity (onCreate…onDestroy).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23"/>
          <p:cNvSpPr/>
          <p:nvPr/>
        </p:nvSpPr>
        <p:spPr>
          <a:xfrm>
            <a:off x="6172200" y="5129640"/>
            <a:ext cx="420120" cy="42012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74" name="Image 7" descr="preencoded.png"/>
          <p:cNvPicPr/>
          <p:nvPr/>
        </p:nvPicPr>
        <p:blipFill>
          <a:blip r:embed="rId8"/>
          <a:stretch/>
        </p:blipFill>
        <p:spPr>
          <a:xfrm>
            <a:off x="6281640" y="5239080"/>
            <a:ext cx="201600" cy="20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5" name="Text 24"/>
          <p:cNvSpPr/>
          <p:nvPr/>
        </p:nvSpPr>
        <p:spPr>
          <a:xfrm>
            <a:off x="6793920" y="509328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Android Runtime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25"/>
          <p:cNvSpPr/>
          <p:nvPr/>
        </p:nvSpPr>
        <p:spPr>
          <a:xfrm>
            <a:off x="6793920" y="5367600"/>
            <a:ext cx="466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Ejecuta y aísla cada app, gestionado por los servicios del sistema.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26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27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Text 0"/>
          <p:cNvSpPr/>
          <p:nvPr/>
        </p:nvSpPr>
        <p:spPr>
          <a:xfrm>
            <a:off x="548640" y="411480"/>
            <a:ext cx="1109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AA35C"/>
                </a:solidFill>
                <a:effectLst/>
                <a:uFillTx/>
                <a:latin typeface="Calibri"/>
                <a:ea typeface="Calibri"/>
              </a:rPr>
              <a:t>11 · ANTES DE LA PRÁCTICA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1"/>
          <p:cNvSpPr/>
          <p:nvPr/>
        </p:nvSpPr>
        <p:spPr>
          <a:xfrm>
            <a:off x="548640" y="713160"/>
            <a:ext cx="1109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43E"/>
                </a:solidFill>
                <a:effectLst/>
                <a:uFillTx/>
                <a:latin typeface="Cambria"/>
                <a:ea typeface="Cambria"/>
              </a:rPr>
              <a:t>Actividades de repaso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2"/>
          <p:cNvSpPr/>
          <p:nvPr/>
        </p:nvSpPr>
        <p:spPr>
          <a:xfrm>
            <a:off x="548640" y="1600200"/>
            <a:ext cx="383760" cy="38376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82" name="Image 0" descr="preencoded.png"/>
          <p:cNvPicPr/>
          <p:nvPr/>
        </p:nvPicPr>
        <p:blipFill>
          <a:blip r:embed="rId1"/>
          <a:stretch/>
        </p:blipFill>
        <p:spPr>
          <a:xfrm>
            <a:off x="648360" y="169992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3" name="Text 3"/>
          <p:cNvSpPr/>
          <p:nvPr/>
        </p:nvSpPr>
        <p:spPr>
          <a:xfrm>
            <a:off x="1134000" y="1563480"/>
            <a:ext cx="1032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Enumera tres limitaciones del hardware móvil frente a un ordenador de sobremesa.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4"/>
          <p:cNvSpPr/>
          <p:nvPr/>
        </p:nvSpPr>
        <p:spPr>
          <a:xfrm>
            <a:off x="548640" y="2404800"/>
            <a:ext cx="383760" cy="38376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85" name="Image 1" descr="preencoded.png"/>
          <p:cNvPicPr/>
          <p:nvPr/>
        </p:nvPicPr>
        <p:blipFill>
          <a:blip r:embed="rId2"/>
          <a:stretch/>
        </p:blipFill>
        <p:spPr>
          <a:xfrm>
            <a:off x="648360" y="250488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6" name="Text 5"/>
          <p:cNvSpPr/>
          <p:nvPr/>
        </p:nvSpPr>
        <p:spPr>
          <a:xfrm>
            <a:off x="1134000" y="2368440"/>
            <a:ext cx="1032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Explica la diferencia entre una app nativa y una multiplataforma, con un ejemplo de cuándo elegir cada una.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6"/>
          <p:cNvSpPr/>
          <p:nvPr/>
        </p:nvSpPr>
        <p:spPr>
          <a:xfrm>
            <a:off x="548640" y="3209400"/>
            <a:ext cx="383760" cy="38376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88" name="Image 2" descr="preencoded.png"/>
          <p:cNvPicPr/>
          <p:nvPr/>
        </p:nvPicPr>
        <p:blipFill>
          <a:blip r:embed="rId3"/>
          <a:stretch/>
        </p:blipFill>
        <p:spPr>
          <a:xfrm>
            <a:off x="648360" y="330948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9" name="Text 7"/>
          <p:cNvSpPr/>
          <p:nvPr/>
        </p:nvSpPr>
        <p:spPr>
          <a:xfrm>
            <a:off x="1134000" y="3173040"/>
            <a:ext cx="1032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¿Qué es un perfil de hardware en un AVD y en qué se diferencia de una imagen de sistema?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8"/>
          <p:cNvSpPr/>
          <p:nvPr/>
        </p:nvSpPr>
        <p:spPr>
          <a:xfrm>
            <a:off x="548640" y="4014360"/>
            <a:ext cx="383760" cy="38376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91" name="Image 3" descr="preencoded.png"/>
          <p:cNvPicPr/>
          <p:nvPr/>
        </p:nvPicPr>
        <p:blipFill>
          <a:blip r:embed="rId4"/>
          <a:stretch/>
        </p:blipFill>
        <p:spPr>
          <a:xfrm>
            <a:off x="648360" y="411408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2" name="Text 9"/>
          <p:cNvSpPr/>
          <p:nvPr/>
        </p:nvSpPr>
        <p:spPr>
          <a:xfrm>
            <a:off x="1134000" y="3977640"/>
            <a:ext cx="1032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Enumera los cuatro componentes de una app Android y para qué sirve cada uno.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10"/>
          <p:cNvSpPr/>
          <p:nvPr/>
        </p:nvSpPr>
        <p:spPr>
          <a:xfrm>
            <a:off x="548640" y="4818960"/>
            <a:ext cx="383760" cy="38376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94" name="Image 4" descr="preencoded.png"/>
          <p:cNvPicPr/>
          <p:nvPr/>
        </p:nvPicPr>
        <p:blipFill>
          <a:blip r:embed="rId5"/>
          <a:stretch/>
        </p:blipFill>
        <p:spPr>
          <a:xfrm>
            <a:off x="648360" y="491868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5" name="Text 11"/>
          <p:cNvSpPr/>
          <p:nvPr/>
        </p:nvSpPr>
        <p:spPr>
          <a:xfrm>
            <a:off x="1134000" y="4782240"/>
            <a:ext cx="1032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Ordena los métodos del ciclo de vida de una Activity: onStart, onDestroy, onResume, onCreate, onPause, onStop.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12"/>
          <p:cNvSpPr/>
          <p:nvPr/>
        </p:nvSpPr>
        <p:spPr>
          <a:xfrm>
            <a:off x="548640" y="5623560"/>
            <a:ext cx="383760" cy="383760"/>
          </a:xfrm>
          <a:prstGeom prst="ellipse">
            <a:avLst/>
          </a:prstGeom>
          <a:solidFill>
            <a:srgbClr val="FF7A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97" name="Image 5" descr="preencoded.png"/>
          <p:cNvPicPr/>
          <p:nvPr/>
        </p:nvPicPr>
        <p:blipFill>
          <a:blip r:embed="rId6"/>
          <a:stretch/>
        </p:blipFill>
        <p:spPr>
          <a:xfrm>
            <a:off x="648360" y="5723280"/>
            <a:ext cx="18396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8" name="Text 13"/>
          <p:cNvSpPr/>
          <p:nvPr/>
        </p:nvSpPr>
        <p:spPr>
          <a:xfrm>
            <a:off x="1134000" y="5586840"/>
            <a:ext cx="1032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43E"/>
                </a:solidFill>
                <a:effectLst/>
                <a:uFillTx/>
                <a:latin typeface="Calibri"/>
                <a:ea typeface="Calibri"/>
              </a:rPr>
              <a:t>¿Qué ventaja aporta un emulador frente a un dispositivo físico? ¿Y qué limitación tiene?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14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15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1139400" y="1899000"/>
            <a:ext cx="6060600" cy="261000"/>
          </a:xfrm>
          <a:prstGeom prst="rect">
            <a:avLst/>
          </a:prstGeom>
          <a:noFill/>
          <a:ln w="38160">
            <a:noFill/>
          </a:ln>
        </p:spPr>
        <p:txBody>
          <a:bodyPr wrap="none" lIns="90000" tIns="45000" rIns="90000" bIns="45000" anchor="t">
            <a:spAutoFit/>
          </a:bodyPr>
          <a:p>
            <a:pPr/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capacidad de almacenamiento, el tamaño de pantalla y la potencia de computación.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1134000" y="2637720"/>
            <a:ext cx="10634400" cy="602280"/>
          </a:xfrm>
          <a:prstGeom prst="rect">
            <a:avLst/>
          </a:prstGeom>
          <a:noFill/>
          <a:ln w="38160">
            <a:noFill/>
          </a:ln>
        </p:spPr>
        <p:txBody>
          <a:bodyPr wrap="none" lIns="90000" tIns="45000" rIns="90000" bIns="45000" anchor="t">
            <a:spAutoFit/>
          </a:bodyPr>
          <a:p>
            <a:pPr/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Una app nativa se programa exclusivamente para el sistema operativo de destino, una multiplataforma no tiene limitación de SO.</a:t>
            </a:r>
            <a:br>
              <a:rPr sz="1200"/>
            </a:b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Elegiremos una nativa cuando se priorice el rendimiento y no tengamos limitación de recursos y una multiplataforma cuando el desarrollo base nos ahorre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/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Costes significativos y el rendimiento final de la app no requiera de una optimización total.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1211040" y="3528360"/>
            <a:ext cx="10308960" cy="431640"/>
          </a:xfrm>
          <a:prstGeom prst="rect">
            <a:avLst/>
          </a:prstGeom>
          <a:noFill/>
          <a:ln w="38160">
            <a:noFill/>
          </a:ln>
        </p:spPr>
        <p:txBody>
          <a:bodyPr wrap="none" lIns="90000" tIns="45000" rIns="90000" bIns="45000" anchor="t">
            <a:spAutoFit/>
          </a:bodyPr>
          <a:p>
            <a:pPr/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 el conjunto de componentes hardware simulados del AVD, RAM, CPU, Almacenamiento, pantalla… Por otra parte la imagen es el SO y su versión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/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escogida para el AVD, por ejemplo, Android 14.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1260000" y="4257720"/>
            <a:ext cx="6797160" cy="602280"/>
          </a:xfrm>
          <a:prstGeom prst="rect">
            <a:avLst/>
          </a:prstGeom>
          <a:noFill/>
          <a:ln w="38160">
            <a:noFill/>
          </a:ln>
        </p:spPr>
        <p:txBody>
          <a:bodyPr wrap="none" lIns="90000" tIns="45000" rIns="90000" bIns="45000" anchor="t">
            <a:spAutoFit/>
          </a:bodyPr>
          <a:p>
            <a:pPr/>
            <a:r>
              <a:rPr lang="es-E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Activities</a:t>
            </a: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Lo que ve el usuario, la interfaz interactuable. </a:t>
            </a:r>
            <a:r>
              <a:rPr lang="es-E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Servicios</a:t>
            </a: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Procesos en segundo plano.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/>
            <a:r>
              <a:rPr lang="es-E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Broadcast</a:t>
            </a: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receiver</a:t>
            </a: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Escucha de eventos de sistema u otras apps.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/>
            <a:r>
              <a:rPr lang="es-E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Content</a:t>
            </a: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Provider</a:t>
            </a: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Exposición de recursos e información a otras apps.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1260000" y="5220000"/>
            <a:ext cx="5203440" cy="261000"/>
          </a:xfrm>
          <a:prstGeom prst="rect">
            <a:avLst/>
          </a:prstGeom>
          <a:noFill/>
          <a:ln w="38160">
            <a:noFill/>
          </a:ln>
        </p:spPr>
        <p:txBody>
          <a:bodyPr wrap="none" lIns="90000" tIns="45000" rIns="90000" bIns="45000" anchor="t">
            <a:spAutoFit/>
          </a:bodyPr>
          <a:p>
            <a:pPr/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OnCreate → OnStart → OnResume → OnPause → OnStop → OnDestroy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1252440" y="5940000"/>
            <a:ext cx="10261800" cy="431640"/>
          </a:xfrm>
          <a:prstGeom prst="rect">
            <a:avLst/>
          </a:prstGeom>
          <a:noFill/>
          <a:ln w="38160">
            <a:noFill/>
          </a:ln>
        </p:spPr>
        <p:txBody>
          <a:bodyPr wrap="none" lIns="90000" tIns="45000" rIns="90000" bIns="45000" anchor="t">
            <a:spAutoFit/>
          </a:bodyPr>
          <a:p>
            <a:pPr/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Aporta flexibilidad en simular entornos de diferentes capacidades a nivel hardware y SO, no obstante, estos entornos son aproximados y no permiten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/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 el resultado final en un dispositivo real con acierto total.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Shape 0"/>
          <p:cNvSpPr/>
          <p:nvPr/>
        </p:nvSpPr>
        <p:spPr>
          <a:xfrm>
            <a:off x="5592960" y="1828800"/>
            <a:ext cx="1005480" cy="1005480"/>
          </a:xfrm>
          <a:prstGeom prst="ellipse">
            <a:avLst/>
          </a:prstGeom>
          <a:solidFill>
            <a:srgbClr val="3DDC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08" name="Image 0" descr="preencoded.png"/>
          <p:cNvPicPr/>
          <p:nvPr/>
        </p:nvPicPr>
        <p:blipFill>
          <a:blip r:embed="rId1"/>
          <a:stretch/>
        </p:blipFill>
        <p:spPr>
          <a:xfrm>
            <a:off x="5854320" y="209016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9" name="Text 1"/>
          <p:cNvSpPr/>
          <p:nvPr/>
        </p:nvSpPr>
        <p:spPr>
          <a:xfrm>
            <a:off x="914400" y="3108960"/>
            <a:ext cx="10362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¿Dudas?</a:t>
            </a:r>
            <a:endParaRPr lang="es-E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2"/>
          <p:cNvSpPr/>
          <p:nvPr/>
        </p:nvSpPr>
        <p:spPr>
          <a:xfrm>
            <a:off x="1920240" y="4114800"/>
            <a:ext cx="8350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La próxima sesión empezamos con la parte práctica: instalación y primer proyecto en Android Studio.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3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UT1 · Análisis de tecnologías para dispositivos móviles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4"/>
          <p:cNvSpPr/>
          <p:nvPr/>
        </p:nvSpPr>
        <p:spPr>
          <a:xfrm>
            <a:off x="1109448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B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Application>LibreOffice/26.8.0.3$Windows_X86_64 LibreOffice_project/bce0998afefdbc355585ca324285661a2170ba77</Application>
  <AppVersion>15.0000</AppVersion>
  <Words>3009</Words>
  <Paragraphs>508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2026-09-21T21:49:08Z</dcterms:created>
  <dc:creator>PptxGenJS</dc:creator>
  <dc:description/>
  <dc:language>es-ES</dc:language>
  <cp:lastModifiedBy/>
  <dcterms:modified xsi:type="dcterms:W3CDTF">2026-09-24T10:03:56Z</dcterms:modified>
  <cp:revision>2</cp:revision>
  <dc:subject>PptxGenJS Presentation</dc:subject>
  <dc:title>UT1 - Análisis de tecnologías para aplicaciones en dispositivos móviles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37</vt:i4>
  </property>
  <property fmtid="{D5CDD505-2E9C-101B-9397-08002B2CF9AE}" pid="3" name="PresentationFormat">
    <vt:lpwstr>Panorámica</vt:lpwstr>
  </property>
  <property fmtid="{D5CDD505-2E9C-101B-9397-08002B2CF9AE}" pid="4" name="Slides">
    <vt:i4>37</vt:i4>
  </property>
</Properties>
</file>