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LUQUE GONZÁLEZ" userId="0162aaa0-ca1e-4c39-97ae-e72016ccf12c" providerId="ADAL" clId="{40F50496-2754-4E6C-BE78-A36407827F7B}"/>
    <pc:docChg chg="undo custSel delSld modSld">
      <pc:chgData name="CARLOS LUQUE GONZÁLEZ" userId="0162aaa0-ca1e-4c39-97ae-e72016ccf12c" providerId="ADAL" clId="{40F50496-2754-4E6C-BE78-A36407827F7B}" dt="2026-09-28T21:28:09.729" v="6" actId="2696"/>
      <pc:docMkLst>
        <pc:docMk/>
      </pc:docMkLst>
      <pc:sldChg chg="modSp mod">
        <pc:chgData name="CARLOS LUQUE GONZÁLEZ" userId="0162aaa0-ca1e-4c39-97ae-e72016ccf12c" providerId="ADAL" clId="{40F50496-2754-4E6C-BE78-A36407827F7B}" dt="2026-09-28T21:23:59.908" v="3" actId="1038"/>
        <pc:sldMkLst>
          <pc:docMk/>
          <pc:sldMk cId="0" sldId="260"/>
        </pc:sldMkLst>
        <pc:spChg chg="mod">
          <ac:chgData name="CARLOS LUQUE GONZÁLEZ" userId="0162aaa0-ca1e-4c39-97ae-e72016ccf12c" providerId="ADAL" clId="{40F50496-2754-4E6C-BE78-A36407827F7B}" dt="2026-09-28T21:23:59.908" v="3" actId="1038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CARLOS LUQUE GONZÁLEZ" userId="0162aaa0-ca1e-4c39-97ae-e72016ccf12c" providerId="ADAL" clId="{40F50496-2754-4E6C-BE78-A36407827F7B}" dt="2026-09-28T21:25:29.032" v="5" actId="1076"/>
        <pc:sldMkLst>
          <pc:docMk/>
          <pc:sldMk cId="0" sldId="262"/>
        </pc:sldMkLst>
        <pc:spChg chg="mod">
          <ac:chgData name="CARLOS LUQUE GONZÁLEZ" userId="0162aaa0-ca1e-4c39-97ae-e72016ccf12c" providerId="ADAL" clId="{40F50496-2754-4E6C-BE78-A36407827F7B}" dt="2026-09-28T21:25:25.636" v="4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ARLOS LUQUE GONZÁLEZ" userId="0162aaa0-ca1e-4c39-97ae-e72016ccf12c" providerId="ADAL" clId="{40F50496-2754-4E6C-BE78-A36407827F7B}" dt="2026-09-28T21:25:29.032" v="5" actId="1076"/>
          <ac:spMkLst>
            <pc:docMk/>
            <pc:sldMk cId="0" sldId="262"/>
            <ac:spMk id="16" creationId="{00000000-0000-0000-0000-000000000000}"/>
          </ac:spMkLst>
        </pc:spChg>
      </pc:sldChg>
      <pc:sldChg chg="del">
        <pc:chgData name="CARLOS LUQUE GONZÁLEZ" userId="0162aaa0-ca1e-4c39-97ae-e72016ccf12c" providerId="ADAL" clId="{40F50496-2754-4E6C-BE78-A36407827F7B}" dt="2026-09-28T21:28:09.729" v="6" actId="2696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2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18.png"/><Relationship Id="rId10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FORMATIVO DE GRADO SUPERIOR · DAM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Multimedia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Dispositivos Móviles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17325A"/>
          </a:solidFill>
          <a:ln w="1905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960120" y="329184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320040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dispositivos, compatibilidad con las aplicaciones y SDK de Android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280160"/>
            <a:ext cx="2560320" cy="2560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CIFP Santa Catalina · Aranda de Duero  —  Curso 2026/2027  —  Carlos Luque González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COMPLEMENTO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preguntas antes de publicar una app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67335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clasifican los dispositivos?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03911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 pantalla, por su versión de Android y por su procesador.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8232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6791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decide si mi app es compatible con un dispositivo?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0449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declara la aplicación frente a lo que ofrece el dispositivo.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290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6850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hay dentro del SDK de Android?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05079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Paquetes, herramientas y configuración de compilación del proyecto.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83489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69087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lenguajes y librerías de cada tecnología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463040" y="50566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versión actual de Android Studio.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0136" y="1737360"/>
            <a:ext cx="868680" cy="8686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306" y="1954530"/>
            <a:ext cx="434340" cy="4343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88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A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15468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dispositivos según sus características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29768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Pantalla, versión del sistema y arquitectura del procesador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 · PANTALLA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magnitudes que no hay que confundir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 física de la pantalla, en pulgadas.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6,2 pulgadas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4256" y="16459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62856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46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62856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30632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total de píxeles físicos (px) en horizontal y en vertical.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1080 × 2400 px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19872" y="16459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348472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062" y="20231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48472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2" y="30632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píxeles caben en una pulgada: puntos por pulgada (dpi).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420 dpi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7"/>
          <p:cNvSpPr txBox="1"/>
          <p:nvPr/>
        </p:nvSpPr>
        <p:spPr>
          <a:xfrm>
            <a:off x="822960" y="51663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pantallas del mismo tamaño pueden tener resoluciones muy distintas: lo que las diferencia es la densidad.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 · EL PÍXEL INDEPENDIENTE DE LA DENSIDAD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no se diseña en píxeles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de 100 px sería enorme en un móvil antiguo de baja densidad y diminuto en uno moderno de alta densidad. Por eso Android usa una unidad virtual: el dp.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60350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dp = 1 px a 160 dpi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74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A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= dp × (dpi / 160)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A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 = px × 160 / dpi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cociente dpi / 160 es el factor de densidad.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2697480"/>
            <a:ext cx="478231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086600" y="292608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0" y="3074670"/>
            <a:ext cx="297180" cy="2971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3657600"/>
            <a:ext cx="4325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para el texto: sp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4114800"/>
            <a:ext cx="4325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al dp, pero además respeta el tamaño de letra que el usuario haya elegido en los ajustes de accesibilidad.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 · EJEMPLO RESUELTO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teléfono de 1080 × 2400 px y 420 dpi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2,625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densidad = 420 / 160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4361688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A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411 dp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= 1080 / 2,625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65592" y="173736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8165592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914 dp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165592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= 2400 / 2,625</a:t>
            </a:r>
            <a:endParaRPr lang="en-US" sz="15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2560320"/>
            <a:ext cx="274320" cy="27432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56032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420624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 txBox="1"/>
          <p:nvPr/>
        </p:nvSpPr>
        <p:spPr>
          <a:xfrm>
            <a:off x="822960" y="429768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igual cuántos píxeles tenga el teléfono: para diseñar lo que importa es que ofrece unos 411 dp de ancho. Otro móvil con 720 px y 280 dpi también tendría unos 411 dp.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A.2 · GRUPOS DE DENSIDAD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carpeta de recursos por densidad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766560" cy="3520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drawable-ldpi (en desuso)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drawable-mdpi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drawable-hdpi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xhdpi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drawable-xhdpi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xxhdpi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drawable-xxhdpi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xxxhdpi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mipmap-xxxhdpi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645920"/>
            <a:ext cx="3959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5"/>
          <p:cNvSpPr/>
          <p:nvPr/>
        </p:nvSpPr>
        <p:spPr>
          <a:xfrm>
            <a:off x="790956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0" y="202311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09560" y="26060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cercano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2866644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pantalla de 420 dpi usa los recursos xxhdpi, escalados.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680960" y="3657600"/>
            <a:ext cx="3959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7909560" y="388620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150" y="403479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09560" y="461772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Mejor, vectoriales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909560" y="4928429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Vector Drawables sirven para cualquier densidad sin perder calidad.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· CLASES DE TAMAÑO DE VENTANA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espacio hay para la interfaz?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clasifica el ancho disponible en cinco intervalos medidos en dp: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167128" cy="1188720"/>
          </a:xfrm>
          <a:prstGeom prst="rect">
            <a:avLst/>
          </a:prstGeom>
          <a:solidFill>
            <a:srgbClr val="CFF5E1"/>
          </a:solidFill>
          <a:ln w="12700">
            <a:solidFill>
              <a:srgbClr val="CFF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600 dp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61188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Teléfonos en vertical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79776" y="2286000"/>
            <a:ext cx="2167128" cy="1188720"/>
          </a:xfrm>
          <a:prstGeom prst="rect">
            <a:avLst/>
          </a:prstGeom>
          <a:solidFill>
            <a:srgbClr val="9EEBC2"/>
          </a:solidFill>
          <a:ln w="12700">
            <a:solidFill>
              <a:srgbClr val="9EEBC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2779776" y="22860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– 840 dp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825496" y="361188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en vertical, plegables abiertos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10912" y="2286000"/>
            <a:ext cx="2167128" cy="1188720"/>
          </a:xfrm>
          <a:prstGeom prst="rect">
            <a:avLst/>
          </a:prstGeom>
          <a:solidFill>
            <a:srgbClr val="6BE3A3"/>
          </a:solidFill>
          <a:ln w="12700">
            <a:solidFill>
              <a:srgbClr val="6BE3A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5010912" y="22860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 – 1200 dp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056632" y="361188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en horizontal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42048" y="2286000"/>
            <a:ext cx="2167128" cy="11887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7242048" y="22860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– 1600 dp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287768" y="361188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grandes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73184" y="2286000"/>
            <a:ext cx="2167128" cy="1188720"/>
          </a:xfrm>
          <a:prstGeom prst="rect">
            <a:avLst/>
          </a:prstGeom>
          <a:solidFill>
            <a:srgbClr val="1AA35C"/>
          </a:solidFill>
          <a:ln w="12700">
            <a:solidFill>
              <a:srgbClr val="1AA3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9473184" y="228600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Extra-large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1600 dp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518904" y="361188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y monitores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 txBox="1"/>
          <p:nvPr/>
        </p:nvSpPr>
        <p:spPr>
          <a:xfrm>
            <a:off x="822960" y="49377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hay clases de altura: compact (&lt; 480 dp), medium (480 – 900 dp) y expanded (≥ 900 dp). La clase de ancho es la que más se usa, porque en vertical casi siempre se puede desplazar el contenido.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· IMPORTANTE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es de la ventana, no del dispositivo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691640"/>
            <a:ext cx="13716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146304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 dp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 compact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651760"/>
            <a:ext cx="822960" cy="822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0" y="2468880"/>
            <a:ext cx="29260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45720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914 dp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4800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expanded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138160" y="173736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890" y="18630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869680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girar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138160" y="256032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890" y="26860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69680" y="25420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dividida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8138160" y="338328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890" y="35090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69680" y="33649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Plegable que se abre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138160" y="42062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bien diseñada se adapta a esos cambios en tiempo real.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· EJEMPLO RESUELTO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 de 10 pulgadas: 2560 × 1600 px y 320 dpi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densidad (xhdpi)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69164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990" y="2068830"/>
            <a:ext cx="297180" cy="2971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34340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horizontal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31089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800 dp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Ancho: large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Alto: medium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82712" y="169164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8211312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902" y="206883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211312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vertical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211312" y="31089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× 1280 dp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Ancho: medium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Alto: expanded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tablet cambia de clase según cómo se sujete.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A.4 · VERSIÓN DEL SISTEMA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número que importa: el nivel de API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44988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7.0 / 7.1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8.0 / 8.1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12 / 12L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/ 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600200"/>
            <a:ext cx="46908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78040" y="182880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630" y="197739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2560320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por versión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178040" y="3017520"/>
            <a:ext cx="4233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nueva incrementa el nivel de API. Es el valor que se usa al configurar el proyecto.</a:t>
            </a:r>
            <a:endParaRPr lang="en-US" sz="1500" dirty="0"/>
          </a:p>
        </p:txBody>
      </p:sp>
      <p:sp>
        <p:nvSpPr>
          <p:cNvPr id="6" name="Shape 8"/>
          <p:cNvSpPr/>
          <p:nvPr/>
        </p:nvSpPr>
        <p:spPr>
          <a:xfrm>
            <a:off x="6949440" y="3931920"/>
            <a:ext cx="46908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7178040" y="4160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630" y="430911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78040" y="4892040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178040" y="5349240"/>
            <a:ext cx="4233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dispositivo con API 30 ofrece todo hasta Android 11 y nada de lo posterior.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 · ARQUITECTURA DEL PROCESADOR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ABI: qué procesador hay dentro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arm64-v8a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64 bits. Casi todos los móviles y tablets actuales.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64992" y="16459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593592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182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93592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armeabi-v7a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593592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32 bits. Dispositivos antiguos o de gama muy baja.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81344" y="16459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6409944" y="1874520"/>
            <a:ext cx="594360" cy="59436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534" y="20231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9944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x86_64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9944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Intel/AMD 64 bits. Emulador en los PC del aula.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997696" y="16459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7"/>
          <p:cNvSpPr/>
          <p:nvPr/>
        </p:nvSpPr>
        <p:spPr>
          <a:xfrm>
            <a:off x="9226296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4886" y="202311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26296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226296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Intel/AMD 32 bits. Imágenes de emulador antiguas, en desuso.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1"/>
          <p:cNvSpPr txBox="1"/>
          <p:nvPr/>
        </p:nvSpPr>
        <p:spPr>
          <a:xfrm>
            <a:off x="822960" y="51206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emulador del aula usa x86_64 porque el PC puede ejecutar esa imagen de forma nativa con virtualización: mucho más rápido que simular un procesador ARM.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 · ¿CUÁNDO IMPORTA LA ABI?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si la aplicación incluye código nativo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solo en Kotlin o Java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compila a DEX, un formato intermedio que el Android Runtime traduce en cada dispositivo.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igual en ARM y en x86_64.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45352" y="16459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473952" y="1874520"/>
            <a:ext cx="594360" cy="59436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42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 código C o C++ (NDK)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3063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compila a instrucciones de un procesador concreto: hace falta una versión por cada ABI.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en juegos y multimedia.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 txBox="1"/>
          <p:nvPr/>
        </p:nvSpPr>
        <p:spPr>
          <a:xfrm>
            <a:off x="822960" y="50292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exige que exista siempre la versión de 64 bits del código nativo.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A.6 · OTRAS CARACTERÍSTICAS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sistema compara con la aplicación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6883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opcional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Cámara, telefonía, NFC, GPS, sensores concretos.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4256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62856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46" y="206883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62856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RAM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3108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 cuántas apps se mantienen abiertas y el rendimiento.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19872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348472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062" y="206883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48472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forma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2" y="3108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Teléfono, tablet, plegable, reloj, televisor o coche.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características son las que el sistema o la tienda comparan con los requisitos de la aplicación.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0136" y="1737360"/>
            <a:ext cx="868680" cy="8686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306" y="1954530"/>
            <a:ext cx="434340" cy="4343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88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15468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entre el dispositivo y la aplicación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29768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compatibilidad: quién puede instalar qué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 · LA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 para decidir la compatibilidad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11455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 app declara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546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necesita: versión mínima, hardware, ABI.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3063240"/>
            <a:ext cx="411480" cy="411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98264" y="17373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626864" y="196596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454" y="211455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26864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 dispositivo ofrece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626864" y="31546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tiene: nivel de API, hardware, procesador.</a:t>
            </a:r>
            <a:endParaRPr lang="en-US" sz="16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3063240"/>
            <a:ext cx="411480" cy="4114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247888" y="17373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3"/>
          <p:cNvSpPr/>
          <p:nvPr/>
        </p:nvSpPr>
        <p:spPr>
          <a:xfrm>
            <a:off x="8476488" y="196596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078" y="211455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76488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 comparan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8476488" y="31546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al instalar o la tienda al mostrar la app.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48640" y="51663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7"/>
          <p:cNvSpPr txBox="1"/>
          <p:nvPr/>
        </p:nvSpPr>
        <p:spPr>
          <a:xfrm>
            <a:off x="822960" y="52578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que la app exige no está en el dispositivo, no se instala o no aparece en la tienda.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B.2 · LOS TRES NIVELES DE API DEL PROYECTO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minSdk, targetSdk y compileSdk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minSdk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mínimo para funcionar.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dispositivo tiene uno menor, no se instala y Google Play no la muestra.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34256" y="16459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62856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46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62856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targetSdk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30632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para la que se ha diseñado y probado.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aplica los comportamientos de esa versión.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19872" y="16459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348472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062" y="20231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48472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compileSdk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2" y="30632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del SDK con la que se compila.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funciones se pueden usar al programar. No viaja con la app.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A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minSdk  ≤  targetSdk  ≤  compileSdk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B.2 · DÓNDE SE CONFIGURAN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app/build.gradle.kts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035040" cy="3657600"/>
          </a:xfrm>
          <a:prstGeom prst="roundRect">
            <a:avLst>
              <a:gd name="adj" fmla="val 1500"/>
            </a:avLst>
          </a:prstGeom>
          <a:solidFill>
            <a:srgbClr val="1A2733"/>
          </a:solidFill>
          <a:ln w="12700">
            <a:solidFill>
              <a:srgbClr val="1A27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 = "com.cifpsantacatalina..."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compileSdk = 36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defaultConfig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applicationId = "com.cifpsantacatalina..."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minSdk = 24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targetSdk = 36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versionCode =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versionName = "1.0"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169164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170" y="181737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80960" y="1673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fusionado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0391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compilar, estos valores se copian al manifiesto final, que es el que lee el sistema.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949440" y="3063240"/>
            <a:ext cx="502920" cy="50292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31889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80960" y="3044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cumple el minSdk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34107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instalación falla con INSTALL_FAILED_OLDER_SDK.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949440" y="443484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170" y="45605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80960" y="4416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recientes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680960" y="47823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compileSdk puede aparecer como compileSdk { version = release(36) }.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B.2 · POR QUÉ IMPORTA EL TARGETSDK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ejemplo actual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10243E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31/08/2026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targetSdk ≥ 36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Google Play para las apps nuevas y sus actualizaciones. Relojes, coches y televisores tienen requisitos algo menores.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1737360"/>
            <a:ext cx="502920" cy="50292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370" y="18630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852160" y="17190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Subirlo no es cambiar un número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20848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los comportamientos nuevos de esa versión.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120640" y="292608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370" y="305181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852160" y="29077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 en pantallas grandes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327355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las restricciones de orientación y de redimensionado de las apps que apuntan a esa versión.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120640" y="429768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370" y="442341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852160" y="42793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17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852160" y="464515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Desaparece la opción de excluirse: la app debe adaptarse a cualquier tamaño de ventana.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 · CARACTERÍSTICAS DE HARDWARE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etiqueta uses-feature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2103120"/>
          </a:xfrm>
          <a:prstGeom prst="roundRect">
            <a:avLst>
              <a:gd name="adj" fmla="val 2609"/>
            </a:avLst>
          </a:prstGeom>
          <a:solidFill>
            <a:srgbClr val="1A2733"/>
          </a:solidFill>
          <a:ln w="12700">
            <a:solidFill>
              <a:srgbClr val="1A27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Imprescindible: solo se ofrece a dispositivos con cámara --&gt;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&lt;uses-feature android:name="android.hardware.camera.any"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android:required="true" /&gt;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Opcional: la usa si existe, pero funciona sin ella --&gt;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&lt;uses-feature android:name="android.hardware.telephony" android:required="false" /&gt;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77724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required="true"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oculta la app en los dispositivos que no tienen esa característica.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5352" y="4023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6473952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required="false"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en cualquier dispositivo; el código comprueba si existe antes de usarla.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 · CUIDADO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Algunos permisos implican una característica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05840" cy="100584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345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737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app pide el permiso de cámara y no declara nada más, Google Play entiende que la cámara es obligatoria.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926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la app desaparece de la tienda en las tablets sin cámara.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822960" y="411480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declarar la característica con required="false" y comprobar en el código si está disponible antes de usarla, ofreciendo una alternativa (por ejemplo, importar una imagen de la galería).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 · GOOGLE PLAY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filtra las aplicaciones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0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declara la aplicación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ofrece el dispositivo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minSdk (y targetSdk para los requisitos de la tienda)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API del sistema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uses-feature con required="true"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disponible (cámara, telefonía, NFC…)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 del código nativo incluido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 del procesador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Tamaños de pantalla y tipo de dispositivo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de forma y pantalla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Países de distribución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 de la cuenta del usuario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822960" y="53492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muestran al usuario las aplicaciones compatibles con su dispositivo.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 · DENTRO Y FUERA DE LA TIENDA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siempre se comprueba lo mismo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6883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51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Google Play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aplican todos los filtros. En la consola de Play, el catálogo de dispositivos indica en qué modelos concretos se podrá instalar la app.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45352" y="16916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473952" y="1920240"/>
            <a:ext cx="594360" cy="59436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42" y="206883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73952" y="2651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Instalando un APK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31089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Android Studio solo se comprueban las restricciones del propio sistema, como el minSdk.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se puede instalar en el emulador una app que Play no ofrecería en ese dispositivo.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0136" y="1737360"/>
            <a:ext cx="868680" cy="8686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306" y="1954530"/>
            <a:ext cx="434340" cy="4343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88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C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15468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SDK de Android con más detalle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29768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Paquetes, versiones del proyecto y herramientas de terminal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 · SDK MANAGER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SDK no es un único paquete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73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abre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0391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SDK Manager, o Settings → Languages &amp; Frameworks → Android SDK.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31432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pestañas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336499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Platforms (versiones de Android) y SDK Tools (herramientas).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44691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4325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Package Details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46908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paquetes de cada versión, incluidas las imágenes de sistema.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92240" y="1691640"/>
            <a:ext cx="5148072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4"/>
          <p:cNvSpPr/>
          <p:nvPr/>
        </p:nvSpPr>
        <p:spPr>
          <a:xfrm>
            <a:off x="6720840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430" y="206883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20840" y="2651760"/>
            <a:ext cx="4690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del SDK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310896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proyecto, compartida por todos.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Windows, por defecto: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C:\Users\&lt;usuario&gt;\AppData\Local\Android\Sdk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 · PAQUETES PRINCIPALES (1/2)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compilar y para emular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Platform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bibliotecas de una versión de Android (una por nivel de API). Es contra lo que se compila.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SDK Platforms.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4256" y="164592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62856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46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62856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Images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30632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para el emulador: un nivel de API, una ABI y una variante (Google Play, Google APIs o sin Google).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Platforms (Show Package Details).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19872" y="164592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348472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062" y="20231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48472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Build-Tools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2" y="30632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Convierten el proyecto en app: aapt2 (recursos), d8 (a DEX), zipalign y apksigner (firma).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SDK Tools.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emular Android 17 hace falta su imagen de sistema; la plataforma solo sirve para compilar.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 · PAQUETES PRINCIPALES (2/2)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comunicarse y ejecutar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Platform-Tools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(Android Debug Bridge) para hablar con los dispositivos.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64992" y="16459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593592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182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93592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Emulator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593592" y="30632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que ejecuta los dispositivos virtuales.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81344" y="16459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6409944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534" y="20231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9944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Tools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9944" y="30632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sdkmanager y avdmanager en versión de terminal.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997696" y="16459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7"/>
          <p:cNvSpPr/>
          <p:nvPr/>
        </p:nvSpPr>
        <p:spPr>
          <a:xfrm>
            <a:off x="9226296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4886" y="202311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26296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NDK y CMake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226296" y="30632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C y C++. Solo si el proyecto tiene código nativo.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están en la pestaña SDK Tools.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 · VERSIONES DEL PROYECTO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compilan con las mismas herramientas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6883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51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gradle/wrapper/gradle-wrapper.properties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descarga esa versión la primera vez (Gradle Wrapper).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45352" y="16916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473952" y="192024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42" y="206883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73952" y="2651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AGP, Kotlin y librerías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31089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gradle/libs.versions.toml (catálogo de versiones)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usa una BOM: un único número que garantiza que todas sus piezas son compatibles.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 txBox="1"/>
          <p:nvPr/>
        </p:nvSpPr>
        <p:spPr>
          <a:xfrm>
            <a:off x="822960" y="55778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abra el proyecto en otro equipo compila con exactamente las mismas versiones.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 · DESDE LA TERMINAL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del SDK sin pasar por el IDE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 del SDK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adb devices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platform-tools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los dispositivos conectados y su estado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adb shell getprop ro.build.version.sdk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platform-tools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Devuelve el nivel de API del dispositivo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emulator -list-avds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los dispositivos virtuales creados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sdkmanager --list_installed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cmdline-tools/latest/bin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los paquetes del SDK instalados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292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se estudiará a fondo en la UT2, junto con Logcat, para depurar aplicaciones.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0136" y="1737360"/>
            <a:ext cx="868680" cy="8686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306" y="1954530"/>
            <a:ext cx="434340" cy="4343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88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15468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Lenguajes, módulos y librerías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29768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detrás de cada tecnología de desarrollo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DESARROLLO NATIVO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e iOS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nativo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Lenguaje: Kotlin (y Java)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Librerías: SDK de Android y Jetpack (Compose, Navigation, ViewModel, Room, DataStore, WorkManager, CameraX, Media3)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Dependencias: Gradle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45352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473952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42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nativo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30632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Lenguaje: Swift (y Objective-C)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Librerías: SwiftUI y UIKit (interfaz), Foundation, SwiftData y Core Data (datos), AVFoundation (multimedia)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Dependencias: Swift Package Manager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MULTIPLATAFORMA (1/2)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Flutter, React Native y Kotlin Multiplatform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Material y Cupertino; paquetes de pub.dev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Gestor: pub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34256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62856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46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62856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30632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Text, Image; React Navigation; SDK de Expo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Gestor: npm / yarn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19872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8348472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062" y="20231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48472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Multiplatform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2" y="30632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compartido (expect/actual), Ktor, SQLDelight, coroutines, Compose Multiplatform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Gestor: Gradle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MULTIPLATAFORMA (2/2)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MAUI e híbridas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231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632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y XAML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.NET MAUI y bibliotecas de .NET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Gestor: NuGet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45352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473952" y="1874520"/>
            <a:ext cx="594360" cy="5943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42" y="20231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Híbridas (Ionic, Capacitor)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30632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/ TypeScript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Ionic sobre Angular, React o Vue; plugins de Capacitor para el hardware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Gestor: npm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ACTUALIZACIÓN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Studio hoy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1560" y="2514600"/>
            <a:ext cx="10113264" cy="0"/>
          </a:xfrm>
          <a:prstGeom prst="line">
            <a:avLst/>
          </a:prstGeom>
          <a:noFill/>
          <a:ln w="254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36576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Koala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267712" y="2286000"/>
            <a:ext cx="457200" cy="457200"/>
          </a:xfrm>
          <a:prstGeom prst="ellipse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810512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Ladybug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12464" y="2286000"/>
            <a:ext cx="457200" cy="457200"/>
          </a:xfrm>
          <a:prstGeom prst="ellipse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3255264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Meerkat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57216" y="2286000"/>
            <a:ext cx="457200" cy="457200"/>
          </a:xfrm>
          <a:prstGeom prst="ellipse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4700016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Narwhal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01968" y="2286000"/>
            <a:ext cx="457200" cy="457200"/>
          </a:xfrm>
          <a:prstGeom prst="ellipse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6144768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46720" y="2286000"/>
            <a:ext cx="457200" cy="457200"/>
          </a:xfrm>
          <a:prstGeom prst="ellipse">
            <a:avLst/>
          </a:prstGeom>
          <a:solidFill>
            <a:srgbClr val="C7D2E0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758952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491472" y="2286000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9034272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936224" y="2286000"/>
            <a:ext cx="457200" cy="45720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 txBox="1"/>
          <p:nvPr/>
        </p:nvSpPr>
        <p:spPr>
          <a:xfrm>
            <a:off x="10479024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034272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387584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 txBox="1"/>
          <p:nvPr/>
        </p:nvSpPr>
        <p:spPr>
          <a:xfrm>
            <a:off x="822960" y="39319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finales de septiembre de 2026, la versión estable es Android Studio Quail (2026.1). Rabbit está en fase de pruebas.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la última versión para las prácticas. En una empresa, lo normal es revisar las notas de cada versión antes de actualizar.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ideas clave del complemento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7716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27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diseña en dp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= px × 160 / dpi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28689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724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tamaño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30906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 la ventana y cambian al girar.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39662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API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que identifica la versión.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" y="506349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280160" y="5285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importa con código nativo.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245352" y="164592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1082" y="177165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76872" y="1627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minSdk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76872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dónde se instala.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245352" y="274320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1082" y="286893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976872" y="2724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targetSdk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6976872" y="30906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comportamientos se aplican.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6245352" y="384048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1082" y="3966210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76872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uses-feature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6976872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filtra por hardware.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6245352" y="4937760"/>
            <a:ext cx="502920" cy="50292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1082" y="5063490"/>
            <a:ext cx="251460" cy="25146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976872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Manager</a:t>
            </a:r>
            <a:endParaRPr lang="en-US" sz="1800" dirty="0"/>
          </a:p>
        </p:txBody>
      </p:sp>
      <p:sp>
        <p:nvSpPr>
          <p:cNvPr id="37" name="Text 27"/>
          <p:cNvSpPr txBox="1"/>
          <p:nvPr/>
        </p:nvSpPr>
        <p:spPr>
          <a:xfrm>
            <a:off x="6976872" y="5285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Plataformas, imágenes y herramientas.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 REPASO (1/2)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 la práctica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78308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teléfono de 720 × 1600 px y 320 dpi: calcula su ancho en dp en vertical, su grupo de densidad y su clase de ancho en vertical y en horizontal.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7772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4612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tablet de 1800 × 2880 px y 360 dpi: ¿qué ancho en dp ofrece en vertical y en horizontal? ¿Qué clase corresponde a cada caso?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7772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70916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con minSdk = 26 y targetSdk = 36: ¿se instala en Android 7.1? ¿Y en Android 17? Justifícalo con los niveles de API.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 REPASO (2/2)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 la práctica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78308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escaneo declara la cámara con required="true". ¿Aparece en Play para una tablet sin cámara? ¿Qué cambiarías?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7772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4612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compañero dice que necesita «el SDK de Android 17» para que el emulador arranque con esa versión. ¿Qué paquetes necesita y en qué pestaña están?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7772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70916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app solo en Kotlin funciona igual en un móvil ARM que en el emulador x86_64, y un juego en C++ necesita una versión por ABI?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2704" y="1737360"/>
            <a:ext cx="914400" cy="9144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19659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880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¿Dudas?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97764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lo comprobamos en Android Studio: Práctica 1 · SDK, primer proyecto y dispositivos virtuales.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Complemento: clasificación de dispositivos, compatibilidad y SDK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3439</Words>
  <Application>Microsoft Office PowerPoint</Application>
  <PresentationFormat>Panorámica</PresentationFormat>
  <Paragraphs>585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UT1 · Complemento</dc:title>
  <dc:subject>PptxGenJS Presentation</dc:subject>
  <dc:creator>PptxGenJS</dc:creator>
  <cp:lastModifiedBy>CARLOS LUQUE GONZÁLEZ</cp:lastModifiedBy>
  <cp:revision>1</cp:revision>
  <dcterms:created xsi:type="dcterms:W3CDTF">2026-09-27T09:27:57Z</dcterms:created>
  <dcterms:modified xsi:type="dcterms:W3CDTF">2026-09-28T21:28:19Z</dcterms:modified>
</cp:coreProperties>
</file>