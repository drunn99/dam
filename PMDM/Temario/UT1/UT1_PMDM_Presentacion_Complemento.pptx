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desplazar la diapositiva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las notas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74C449A1-BF01-4147-A0B9-F29AE3531DA8}" type="slidenum"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0E63C0D-1275-4109-A49F-D19D0F9859F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2136342-63F2-4431-B2CA-2B9DE36D8B1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4509D1A-0789-4479-A284-C0EB855DEB4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F2E792B-E246-4E84-B8AF-F2CA7D1F164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63CFBF7-95B6-450E-9D26-E58FEE26DD3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071B99A-6DB1-4D9B-9B9B-85F78AA5315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5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FA2C9CD-E5EA-4533-97C7-3B338306077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5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7F2C199-EB75-4206-B50C-1FE5AD6E79D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5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C956F97-48D7-44FB-A0C6-C035F77887B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5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0710B0C-475E-45C9-918D-184656751E2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6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2E13BCB-F72F-489D-A631-D3108534A70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6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8443015-90EB-4EDC-8421-EBC60FE6495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6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A2F1636-C5AD-43CD-A2C9-0284BEE9894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7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EC3B79E-B7E8-4067-B538-8C52C5B7706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7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81A3B19-BB2F-4558-A957-10B44CF8B22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7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729C373-1A71-4AB6-B25F-F0FF0EFD116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8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03B5018-5075-4522-BFC6-374DFB498D8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8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AC50195-EC06-4ACC-B012-2226917E7A0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8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AE87123-132D-4E9D-BB7D-DD1180CB795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8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84016A9-1D27-4F98-AECF-A4E9F7B2BA7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9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FADA91D-A090-4E38-B1F5-7EC71726AF2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9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FEBE4AF-91A4-4575-918B-4AA1BB63E3F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9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ADF97D0-16E8-4DCE-AE6A-FA608E5873D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0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FABE35C-AE56-44C4-A3A2-41B9236CC85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0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1EC7C30-3C73-4014-90A5-E4A2746C81C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0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1BAB63D-072F-4963-8B8F-56FAAB4FF5A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1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670E4D3-0486-459A-8B78-3D2F217871B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1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328BEB1-B76E-4395-9373-FB7F4A8294F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1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626E39C-E2BB-4612-8283-4E7E06A4EAA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1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PlaceHolder 3"/>
          <p:cNvSpPr>
            <a:spLocks noGrp="1"/>
          </p:cNvSpPr>
          <p:nvPr>
            <p:ph type="sldNum" idx="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D66ED6B-6FCE-4959-90FA-148F6773520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2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PlaceHolder 3"/>
          <p:cNvSpPr>
            <a:spLocks noGrp="1"/>
          </p:cNvSpPr>
          <p:nvPr>
            <p:ph type="sldNum" idx="3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A55E32F-0425-408E-B457-48925CBD91A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2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6" name="PlaceHolder 3"/>
          <p:cNvSpPr>
            <a:spLocks noGrp="1"/>
          </p:cNvSpPr>
          <p:nvPr>
            <p:ph type="sldNum" idx="3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AB6ECCF-75B8-447C-A579-F8FDE67A5D0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2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PlaceHolder 3"/>
          <p:cNvSpPr>
            <a:spLocks noGrp="1"/>
          </p:cNvSpPr>
          <p:nvPr>
            <p:ph type="sldNum" idx="3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19C4721-CE4C-4779-BBF7-B47E956819C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3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PlaceHolder 3"/>
          <p:cNvSpPr>
            <a:spLocks noGrp="1"/>
          </p:cNvSpPr>
          <p:nvPr>
            <p:ph type="sldNum" idx="3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A139AA8-9248-4CE4-BC97-4A585FA718C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3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PlaceHolder 3"/>
          <p:cNvSpPr>
            <a:spLocks noGrp="1"/>
          </p:cNvSpPr>
          <p:nvPr>
            <p:ph type="sldNum" idx="3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3656F37-7D34-45B6-863D-315C6F3C981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3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PlaceHolder 3"/>
          <p:cNvSpPr>
            <a:spLocks noGrp="1"/>
          </p:cNvSpPr>
          <p:nvPr>
            <p:ph type="sldNum" idx="3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A052680-6488-4356-B51D-0E92BADED9B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1" name="PlaceHolder 3"/>
          <p:cNvSpPr>
            <a:spLocks noGrp="1"/>
          </p:cNvSpPr>
          <p:nvPr>
            <p:ph type="sldNum" idx="4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9C51D86-6C62-4BFF-8705-211CBC03671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PlaceHolder 3"/>
          <p:cNvSpPr>
            <a:spLocks noGrp="1"/>
          </p:cNvSpPr>
          <p:nvPr>
            <p:ph type="sldNum" idx="4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617020F-947A-4DB5-9CE9-F5C66D714B8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del texto de título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E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E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E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E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E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E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E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7.png"/><Relationship Id="rId3" Type="http://schemas.openxmlformats.org/officeDocument/2006/relationships/image" Target="../media/image17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image" Target="../media/image28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image" Target="../media/image16.png"/><Relationship Id="rId3" Type="http://schemas.openxmlformats.org/officeDocument/2006/relationships/image" Target="../media/image3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36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41.png"/><Relationship Id="rId2" Type="http://schemas.openxmlformats.org/officeDocument/2006/relationships/image" Target="../media/image42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43.png"/><Relationship Id="rId2" Type="http://schemas.openxmlformats.org/officeDocument/2006/relationships/image" Target="../media/image17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46.png"/><Relationship Id="rId2" Type="http://schemas.openxmlformats.org/officeDocument/2006/relationships/image" Target="../media/image4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41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48.png"/><Relationship Id="rId2" Type="http://schemas.openxmlformats.org/officeDocument/2006/relationships/image" Target="../media/image9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47.png"/><Relationship Id="rId2" Type="http://schemas.openxmlformats.org/officeDocument/2006/relationships/image" Target="../media/image49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5.png"/><Relationship Id="rId3" Type="http://schemas.openxmlformats.org/officeDocument/2006/relationships/image" Target="../media/image18.png"/><Relationship Id="rId4" Type="http://schemas.openxmlformats.org/officeDocument/2006/relationships/image" Target="../media/image50.png"/><Relationship Id="rId5" Type="http://schemas.openxmlformats.org/officeDocument/2006/relationships/image" Target="../media/image29.png"/><Relationship Id="rId6" Type="http://schemas.openxmlformats.org/officeDocument/2006/relationships/image" Target="../media/image28.png"/><Relationship Id="rId7" Type="http://schemas.openxmlformats.org/officeDocument/2006/relationships/image" Target="../media/image3.png"/><Relationship Id="rId8" Type="http://schemas.openxmlformats.org/officeDocument/2006/relationships/image" Target="../media/image4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5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2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731520" y="91440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3DDC84"/>
                </a:solidFill>
                <a:effectLst/>
                <a:uFillTx/>
                <a:latin typeface="Calibri"/>
                <a:ea typeface="Calibri"/>
              </a:rPr>
              <a:t>CICLO FORMATIVO DE GRADO SUPERIOR · DAM</a:t>
            </a: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731520" y="1417320"/>
            <a:ext cx="777204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Programación Multimedia</a:t>
            </a:r>
            <a:endParaRPr lang="es-E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y Dispositivos Móviles</a:t>
            </a:r>
            <a:endParaRPr lang="es-E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731520" y="3063240"/>
            <a:ext cx="7863480" cy="1416960"/>
          </a:xfrm>
          <a:prstGeom prst="roundRect">
            <a:avLst>
              <a:gd name="adj" fmla="val 5161"/>
            </a:avLst>
          </a:prstGeom>
          <a:solidFill>
            <a:srgbClr val="17325A"/>
          </a:solidFill>
          <a:ln w="1905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Text 3"/>
          <p:cNvSpPr/>
          <p:nvPr/>
        </p:nvSpPr>
        <p:spPr>
          <a:xfrm>
            <a:off x="960120" y="3291840"/>
            <a:ext cx="100548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3DDC84"/>
                </a:solidFill>
                <a:effectLst/>
                <a:uFillTx/>
                <a:latin typeface="Cambria"/>
                <a:ea typeface="Cambria"/>
              </a:rPr>
              <a:t>UT1</a:t>
            </a:r>
            <a:endParaRPr lang="es-E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2011680" y="3200400"/>
            <a:ext cx="64004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7D2E0"/>
                </a:solidFill>
                <a:effectLst/>
                <a:uFillTx/>
                <a:latin typeface="Calibri"/>
                <a:ea typeface="Calibri"/>
              </a:rPr>
              <a:t>Complemento</a:t>
            </a:r>
            <a:endParaRPr lang="es-E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Clasificación de dispositivos, compatibilidad con las aplicaciones y SDK de Android</a:t>
            </a:r>
            <a:endParaRPr lang="es-E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" name="Image 0" descr="preencoded.png"/>
          <p:cNvPicPr/>
          <p:nvPr/>
        </p:nvPicPr>
        <p:blipFill>
          <a:blip r:embed="rId1"/>
          <a:stretch/>
        </p:blipFill>
        <p:spPr>
          <a:xfrm>
            <a:off x="9052560" y="1280160"/>
            <a:ext cx="2559960" cy="2559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" name="Text 5"/>
          <p:cNvSpPr/>
          <p:nvPr/>
        </p:nvSpPr>
        <p:spPr>
          <a:xfrm>
            <a:off x="731520" y="6035040"/>
            <a:ext cx="10058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9FB0C6"/>
                </a:solidFill>
                <a:effectLst/>
                <a:uFillTx/>
                <a:latin typeface="Calibri"/>
                <a:ea typeface="Calibri"/>
              </a:rPr>
              <a:t>CIFP Santa Catalina · Aranda de Duero  —  Curso 2026/2027  —  Carlos Luque González</a:t>
            </a:r>
            <a:endParaRPr lang="es-E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0"/>
          <p:cNvSpPr/>
          <p:nvPr/>
        </p:nvSpPr>
        <p:spPr>
          <a:xfrm>
            <a:off x="548640" y="36576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150" strike="noStrike">
                <a:solidFill>
                  <a:srgbClr val="1AA35C"/>
                </a:solidFill>
                <a:effectLst/>
                <a:uFillTx/>
                <a:latin typeface="Calibri"/>
                <a:ea typeface="Calibri"/>
              </a:rPr>
              <a:t>EN ESTE COMPLEMENTO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1"/>
          <p:cNvSpPr/>
          <p:nvPr/>
        </p:nvSpPr>
        <p:spPr>
          <a:xfrm>
            <a:off x="548640" y="713160"/>
            <a:ext cx="11063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0243E"/>
                </a:solidFill>
                <a:effectLst/>
                <a:uFillTx/>
                <a:latin typeface="Cambria"/>
                <a:ea typeface="Cambria"/>
              </a:rPr>
              <a:t>Tres preguntas antes de publicar una app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2"/>
          <p:cNvSpPr/>
          <p:nvPr/>
        </p:nvSpPr>
        <p:spPr>
          <a:xfrm>
            <a:off x="548640" y="64465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UT1 · Complemento: clasificación de dispositivos, compatibilidad y SDK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3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4"/>
          <p:cNvSpPr/>
          <p:nvPr/>
        </p:nvSpPr>
        <p:spPr>
          <a:xfrm>
            <a:off x="731520" y="1691640"/>
            <a:ext cx="502560" cy="50256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2" name="Image 0" descr="preencoded.png"/>
          <p:cNvPicPr/>
          <p:nvPr/>
        </p:nvPicPr>
        <p:blipFill>
          <a:blip r:embed="rId1"/>
          <a:stretch/>
        </p:blipFill>
        <p:spPr>
          <a:xfrm>
            <a:off x="857160" y="1817280"/>
            <a:ext cx="251280" cy="2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Text 5"/>
          <p:cNvSpPr/>
          <p:nvPr/>
        </p:nvSpPr>
        <p:spPr>
          <a:xfrm>
            <a:off x="1463040" y="1673280"/>
            <a:ext cx="9783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¿Cómo se clasifican los dispositivos?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6"/>
          <p:cNvSpPr/>
          <p:nvPr/>
        </p:nvSpPr>
        <p:spPr>
          <a:xfrm>
            <a:off x="1463040" y="2039040"/>
            <a:ext cx="9783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Por su pantalla, por su versión de Android y por su procesador.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7"/>
          <p:cNvSpPr/>
          <p:nvPr/>
        </p:nvSpPr>
        <p:spPr>
          <a:xfrm>
            <a:off x="731520" y="2697480"/>
            <a:ext cx="502560" cy="50256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6" name="Image 1" descr="preencoded.png"/>
          <p:cNvPicPr/>
          <p:nvPr/>
        </p:nvPicPr>
        <p:blipFill>
          <a:blip r:embed="rId2"/>
          <a:stretch/>
        </p:blipFill>
        <p:spPr>
          <a:xfrm>
            <a:off x="857160" y="2823120"/>
            <a:ext cx="251280" cy="2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Text 8"/>
          <p:cNvSpPr/>
          <p:nvPr/>
        </p:nvSpPr>
        <p:spPr>
          <a:xfrm>
            <a:off x="1463040" y="2679120"/>
            <a:ext cx="9783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¿Cómo se decide si mi app es compatible con un dispositivo?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9"/>
          <p:cNvSpPr/>
          <p:nvPr/>
        </p:nvSpPr>
        <p:spPr>
          <a:xfrm>
            <a:off x="1463040" y="3044880"/>
            <a:ext cx="9783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Lo que declara la aplicación frente a lo que ofrece el dispositivo.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0"/>
          <p:cNvSpPr/>
          <p:nvPr/>
        </p:nvSpPr>
        <p:spPr>
          <a:xfrm>
            <a:off x="731520" y="3703320"/>
            <a:ext cx="502560" cy="50256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0" name="Image 2" descr="preencoded.png"/>
          <p:cNvPicPr/>
          <p:nvPr/>
        </p:nvPicPr>
        <p:blipFill>
          <a:blip r:embed="rId3"/>
          <a:stretch/>
        </p:blipFill>
        <p:spPr>
          <a:xfrm>
            <a:off x="857160" y="3828960"/>
            <a:ext cx="251280" cy="2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" name="Text 11"/>
          <p:cNvSpPr/>
          <p:nvPr/>
        </p:nvSpPr>
        <p:spPr>
          <a:xfrm>
            <a:off x="1463040" y="3684960"/>
            <a:ext cx="9783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¿Qué hay dentro del SDK de Android?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2"/>
          <p:cNvSpPr/>
          <p:nvPr/>
        </p:nvSpPr>
        <p:spPr>
          <a:xfrm>
            <a:off x="1463040" y="4050720"/>
            <a:ext cx="9783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Paquetes, herramientas y configuración de compilación del proyecto.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3"/>
          <p:cNvSpPr/>
          <p:nvPr/>
        </p:nvSpPr>
        <p:spPr>
          <a:xfrm>
            <a:off x="731520" y="4709160"/>
            <a:ext cx="502560" cy="50256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4" name="Image 3" descr="preencoded.png"/>
          <p:cNvPicPr/>
          <p:nvPr/>
        </p:nvPicPr>
        <p:blipFill>
          <a:blip r:embed="rId4"/>
          <a:stretch/>
        </p:blipFill>
        <p:spPr>
          <a:xfrm>
            <a:off x="857160" y="4834800"/>
            <a:ext cx="251280" cy="2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Text 14"/>
          <p:cNvSpPr/>
          <p:nvPr/>
        </p:nvSpPr>
        <p:spPr>
          <a:xfrm>
            <a:off x="1463040" y="4690800"/>
            <a:ext cx="9783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Además: lenguajes y librerías de cada tecnología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5"/>
          <p:cNvSpPr/>
          <p:nvPr/>
        </p:nvSpPr>
        <p:spPr>
          <a:xfrm>
            <a:off x="1463040" y="5056560"/>
            <a:ext cx="9783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Y la versión actual de Android Studio.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2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0"/>
          <p:cNvSpPr/>
          <p:nvPr/>
        </p:nvSpPr>
        <p:spPr>
          <a:xfrm>
            <a:off x="5660280" y="1737360"/>
            <a:ext cx="868320" cy="86832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8" name="Image 0" descr="preencoded.png"/>
          <p:cNvPicPr/>
          <p:nvPr/>
        </p:nvPicPr>
        <p:blipFill>
          <a:blip r:embed="rId1"/>
          <a:stretch/>
        </p:blipFill>
        <p:spPr>
          <a:xfrm>
            <a:off x="5877360" y="1954440"/>
            <a:ext cx="434160" cy="434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" name="Text 1"/>
          <p:cNvSpPr/>
          <p:nvPr/>
        </p:nvSpPr>
        <p:spPr>
          <a:xfrm>
            <a:off x="548640" y="2788920"/>
            <a:ext cx="1109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300" strike="noStrike">
                <a:solidFill>
                  <a:srgbClr val="3DDC84"/>
                </a:solidFill>
                <a:effectLst/>
                <a:uFillTx/>
                <a:latin typeface="Calibri"/>
                <a:ea typeface="Calibri"/>
              </a:rPr>
              <a:t>BLOQUE A</a:t>
            </a: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2"/>
          <p:cNvSpPr/>
          <p:nvPr/>
        </p:nvSpPr>
        <p:spPr>
          <a:xfrm>
            <a:off x="1097280" y="3154680"/>
            <a:ext cx="99939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Clasificación de los dispositivos según sus características</a:t>
            </a:r>
            <a:endParaRPr lang="es-E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3"/>
          <p:cNvSpPr/>
          <p:nvPr/>
        </p:nvSpPr>
        <p:spPr>
          <a:xfrm>
            <a:off x="1097280" y="4297680"/>
            <a:ext cx="99939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7D2E0"/>
                </a:solidFill>
                <a:effectLst/>
                <a:uFillTx/>
                <a:latin typeface="Calibri"/>
                <a:ea typeface="Calibri"/>
              </a:rPr>
              <a:t>Pantalla, versión del sistema y arquitectura del procesador</a:t>
            </a: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4"/>
          <p:cNvSpPr/>
          <p:nvPr/>
        </p:nvSpPr>
        <p:spPr>
          <a:xfrm>
            <a:off x="548640" y="64465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FB0C6"/>
                </a:solidFill>
                <a:effectLst/>
                <a:uFillTx/>
                <a:latin typeface="Calibri"/>
                <a:ea typeface="Calibri"/>
              </a:rPr>
              <a:t>UT1 · Complemento: clasificación de dispositivos, compatibilidad y SDK</a:t>
            </a:r>
            <a:endParaRPr lang="es-E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5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FB0C6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s-E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0"/>
          <p:cNvSpPr/>
          <p:nvPr/>
        </p:nvSpPr>
        <p:spPr>
          <a:xfrm>
            <a:off x="548640" y="36576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150" strike="noStrike">
                <a:solidFill>
                  <a:srgbClr val="1AA35C"/>
                </a:solidFill>
                <a:effectLst/>
                <a:uFillTx/>
                <a:latin typeface="Calibri"/>
                <a:ea typeface="Calibri"/>
              </a:rPr>
              <a:t>A.1 · PANTALLA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"/>
          <p:cNvSpPr/>
          <p:nvPr/>
        </p:nvSpPr>
        <p:spPr>
          <a:xfrm>
            <a:off x="548640" y="713160"/>
            <a:ext cx="11063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0243E"/>
                </a:solidFill>
                <a:effectLst/>
                <a:uFillTx/>
                <a:latin typeface="Cambria"/>
                <a:ea typeface="Cambria"/>
              </a:rPr>
              <a:t>Tres magnitudes que no hay que confundir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2"/>
          <p:cNvSpPr/>
          <p:nvPr/>
        </p:nvSpPr>
        <p:spPr>
          <a:xfrm>
            <a:off x="548640" y="64465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UT1 · Complemento: clasificación de dispositivos, compatibilidad y SDK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3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4"/>
          <p:cNvSpPr/>
          <p:nvPr/>
        </p:nvSpPr>
        <p:spPr>
          <a:xfrm>
            <a:off x="548640" y="1645920"/>
            <a:ext cx="3520080" cy="310860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Shape 5"/>
          <p:cNvSpPr/>
          <p:nvPr/>
        </p:nvSpPr>
        <p:spPr>
          <a:xfrm>
            <a:off x="777240" y="187452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0" name="Image 0" descr="preencoded.png"/>
          <p:cNvPicPr/>
          <p:nvPr/>
        </p:nvPicPr>
        <p:blipFill>
          <a:blip r:embed="rId1"/>
          <a:stretch/>
        </p:blipFill>
        <p:spPr>
          <a:xfrm>
            <a:off x="925920" y="202320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" name="Text 6"/>
          <p:cNvSpPr/>
          <p:nvPr/>
        </p:nvSpPr>
        <p:spPr>
          <a:xfrm>
            <a:off x="777240" y="2606040"/>
            <a:ext cx="30628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Tamaño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7"/>
          <p:cNvSpPr/>
          <p:nvPr/>
        </p:nvSpPr>
        <p:spPr>
          <a:xfrm>
            <a:off x="777240" y="3063240"/>
            <a:ext cx="306288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La diagonal física de la pantalla, en pulgadas.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Ejemplo: 6,2 pulgadas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8"/>
          <p:cNvSpPr/>
          <p:nvPr/>
        </p:nvSpPr>
        <p:spPr>
          <a:xfrm>
            <a:off x="4334400" y="1645920"/>
            <a:ext cx="3520080" cy="310860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Shape 9"/>
          <p:cNvSpPr/>
          <p:nvPr/>
        </p:nvSpPr>
        <p:spPr>
          <a:xfrm>
            <a:off x="4563000" y="187452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5" name="Image 1" descr="preencoded.png"/>
          <p:cNvPicPr/>
          <p:nvPr/>
        </p:nvPicPr>
        <p:blipFill>
          <a:blip r:embed="rId2"/>
          <a:stretch/>
        </p:blipFill>
        <p:spPr>
          <a:xfrm>
            <a:off x="4711320" y="202320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Text 10"/>
          <p:cNvSpPr/>
          <p:nvPr/>
        </p:nvSpPr>
        <p:spPr>
          <a:xfrm>
            <a:off x="4563000" y="2606040"/>
            <a:ext cx="30628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Resolución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11"/>
          <p:cNvSpPr/>
          <p:nvPr/>
        </p:nvSpPr>
        <p:spPr>
          <a:xfrm>
            <a:off x="4563000" y="3063240"/>
            <a:ext cx="306288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Número total de píxeles físicos (px) en horizontal y en vertical.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Ejemplo: 1080 × 2400 px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12"/>
          <p:cNvSpPr/>
          <p:nvPr/>
        </p:nvSpPr>
        <p:spPr>
          <a:xfrm>
            <a:off x="8119800" y="1645920"/>
            <a:ext cx="3520080" cy="310860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" name="Shape 13"/>
          <p:cNvSpPr/>
          <p:nvPr/>
        </p:nvSpPr>
        <p:spPr>
          <a:xfrm>
            <a:off x="8348400" y="187452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0" name="Image 2" descr="preencoded.png"/>
          <p:cNvPicPr/>
          <p:nvPr/>
        </p:nvPicPr>
        <p:blipFill>
          <a:blip r:embed="rId3"/>
          <a:stretch/>
        </p:blipFill>
        <p:spPr>
          <a:xfrm>
            <a:off x="8497080" y="202320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" name="Text 14"/>
          <p:cNvSpPr/>
          <p:nvPr/>
        </p:nvSpPr>
        <p:spPr>
          <a:xfrm>
            <a:off x="8348400" y="2606040"/>
            <a:ext cx="30628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Densidad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5"/>
          <p:cNvSpPr/>
          <p:nvPr/>
        </p:nvSpPr>
        <p:spPr>
          <a:xfrm>
            <a:off x="8348400" y="3063240"/>
            <a:ext cx="306288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Cuántos píxeles caben en una pulgada: puntos por pulgada (dpi).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Ejemplo: 420 dpi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16"/>
          <p:cNvSpPr/>
          <p:nvPr/>
        </p:nvSpPr>
        <p:spPr>
          <a:xfrm>
            <a:off x="548640" y="5074920"/>
            <a:ext cx="11091240" cy="868320"/>
          </a:xfrm>
          <a:prstGeom prst="roundRect">
            <a:avLst>
              <a:gd name="adj" fmla="val 6316"/>
            </a:avLst>
          </a:prstGeom>
          <a:solidFill>
            <a:srgbClr val="EAF3FF"/>
          </a:solidFill>
          <a:ln w="12700">
            <a:solidFill>
              <a:srgbClr val="EAF3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" name="Text 17"/>
          <p:cNvSpPr/>
          <p:nvPr/>
        </p:nvSpPr>
        <p:spPr>
          <a:xfrm>
            <a:off x="822960" y="5166360"/>
            <a:ext cx="10542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Dos pantallas del mismo tamaño pueden tener resoluciones muy distintas: lo que las diferencia es la densidad.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 0"/>
          <p:cNvSpPr/>
          <p:nvPr/>
        </p:nvSpPr>
        <p:spPr>
          <a:xfrm>
            <a:off x="548640" y="36576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150" strike="noStrike">
                <a:solidFill>
                  <a:srgbClr val="1AA35C"/>
                </a:solidFill>
                <a:effectLst/>
                <a:uFillTx/>
                <a:latin typeface="Calibri"/>
                <a:ea typeface="Calibri"/>
              </a:rPr>
              <a:t>A.1 · EL PÍXEL INDEPENDIENTE DE LA DENSIDAD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"/>
          <p:cNvSpPr/>
          <p:nvPr/>
        </p:nvSpPr>
        <p:spPr>
          <a:xfrm>
            <a:off x="548640" y="713160"/>
            <a:ext cx="11063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0243E"/>
                </a:solidFill>
                <a:effectLst/>
                <a:uFillTx/>
                <a:latin typeface="Cambria"/>
                <a:ea typeface="Cambria"/>
              </a:rPr>
              <a:t>Por qué no se diseña en píxeles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2"/>
          <p:cNvSpPr/>
          <p:nvPr/>
        </p:nvSpPr>
        <p:spPr>
          <a:xfrm>
            <a:off x="548640" y="64465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UT1 · Complemento: clasificación de dispositivos, compatibilidad y SDK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3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4"/>
          <p:cNvSpPr/>
          <p:nvPr/>
        </p:nvSpPr>
        <p:spPr>
          <a:xfrm>
            <a:off x="548640" y="1600200"/>
            <a:ext cx="110638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Un botón de 100 px sería enorme en un móvil antiguo de baja densidad y diminuto en uno moderno de alta densidad. Por eso Android usa una unidad virtual: el dp.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5"/>
          <p:cNvSpPr/>
          <p:nvPr/>
        </p:nvSpPr>
        <p:spPr>
          <a:xfrm>
            <a:off x="548640" y="2697480"/>
            <a:ext cx="6034680" cy="26514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 6"/>
          <p:cNvSpPr/>
          <p:nvPr/>
        </p:nvSpPr>
        <p:spPr>
          <a:xfrm>
            <a:off x="822960" y="2880360"/>
            <a:ext cx="5486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243E"/>
                </a:solidFill>
                <a:effectLst/>
                <a:uFillTx/>
                <a:latin typeface="Cambria"/>
                <a:ea typeface="Cambria"/>
              </a:rPr>
              <a:t>1 dp = 1 px a 160 dpi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7"/>
          <p:cNvSpPr/>
          <p:nvPr/>
        </p:nvSpPr>
        <p:spPr>
          <a:xfrm>
            <a:off x="822960" y="3474720"/>
            <a:ext cx="54860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AA35C"/>
                </a:solidFill>
                <a:effectLst/>
                <a:uFillTx/>
                <a:latin typeface="Courier New"/>
                <a:ea typeface="Courier New"/>
              </a:rPr>
              <a:t>px = dp × (dpi / 160)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AA35C"/>
                </a:solidFill>
                <a:effectLst/>
                <a:uFillTx/>
                <a:latin typeface="Courier New"/>
                <a:ea typeface="Courier New"/>
              </a:rPr>
              <a:t>dp = px × 160 / dpi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8"/>
          <p:cNvSpPr/>
          <p:nvPr/>
        </p:nvSpPr>
        <p:spPr>
          <a:xfrm>
            <a:off x="822960" y="4617720"/>
            <a:ext cx="5486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El cociente dpi / 160 es el factor de densidad.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9"/>
          <p:cNvSpPr/>
          <p:nvPr/>
        </p:nvSpPr>
        <p:spPr>
          <a:xfrm>
            <a:off x="6858000" y="2697480"/>
            <a:ext cx="4781880" cy="26514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" name="Shape 10"/>
          <p:cNvSpPr/>
          <p:nvPr/>
        </p:nvSpPr>
        <p:spPr>
          <a:xfrm>
            <a:off x="7086600" y="292608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6" name="Image 0" descr="preencoded.png"/>
          <p:cNvPicPr/>
          <p:nvPr/>
        </p:nvPicPr>
        <p:blipFill>
          <a:blip r:embed="rId1"/>
          <a:stretch/>
        </p:blipFill>
        <p:spPr>
          <a:xfrm>
            <a:off x="7235280" y="307476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Text 11"/>
          <p:cNvSpPr/>
          <p:nvPr/>
        </p:nvSpPr>
        <p:spPr>
          <a:xfrm>
            <a:off x="7086600" y="3657600"/>
            <a:ext cx="4324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Y para el texto: sp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2"/>
          <p:cNvSpPr/>
          <p:nvPr/>
        </p:nvSpPr>
        <p:spPr>
          <a:xfrm>
            <a:off x="7086600" y="4114800"/>
            <a:ext cx="43246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Equivale al dp, pero además respeta el tamaño de letra que el usuario haya elegido en los ajustes de accesibilidad.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 0"/>
          <p:cNvSpPr/>
          <p:nvPr/>
        </p:nvSpPr>
        <p:spPr>
          <a:xfrm>
            <a:off x="548640" y="36576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150" strike="noStrike">
                <a:solidFill>
                  <a:srgbClr val="1AA35C"/>
                </a:solidFill>
                <a:effectLst/>
                <a:uFillTx/>
                <a:latin typeface="Calibri"/>
                <a:ea typeface="Calibri"/>
              </a:rPr>
              <a:t>A.1 · EJEMPLO RESUELTO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"/>
          <p:cNvSpPr/>
          <p:nvPr/>
        </p:nvSpPr>
        <p:spPr>
          <a:xfrm>
            <a:off x="548640" y="713160"/>
            <a:ext cx="11063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0243E"/>
                </a:solidFill>
                <a:effectLst/>
                <a:uFillTx/>
                <a:latin typeface="Cambria"/>
                <a:ea typeface="Cambria"/>
              </a:rPr>
              <a:t>Un teléfono de 1080 × 2400 px y 420 dpi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2"/>
          <p:cNvSpPr/>
          <p:nvPr/>
        </p:nvSpPr>
        <p:spPr>
          <a:xfrm>
            <a:off x="548640" y="64465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UT1 · Complemento: clasificación de dispositivos, compatibilidad y SDK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3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4"/>
          <p:cNvSpPr/>
          <p:nvPr/>
        </p:nvSpPr>
        <p:spPr>
          <a:xfrm>
            <a:off x="548640" y="1737360"/>
            <a:ext cx="3474360" cy="20113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 5"/>
          <p:cNvSpPr/>
          <p:nvPr/>
        </p:nvSpPr>
        <p:spPr>
          <a:xfrm>
            <a:off x="548640" y="1965960"/>
            <a:ext cx="34743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u="none" strike="noStrike">
                <a:solidFill>
                  <a:srgbClr val="10243E"/>
                </a:solidFill>
                <a:effectLst/>
                <a:uFillTx/>
                <a:latin typeface="Cambria"/>
                <a:ea typeface="Cambria"/>
              </a:rPr>
              <a:t>2,625</a:t>
            </a:r>
            <a:endParaRPr lang="es-E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6"/>
          <p:cNvSpPr/>
          <p:nvPr/>
        </p:nvSpPr>
        <p:spPr>
          <a:xfrm>
            <a:off x="548640" y="2788920"/>
            <a:ext cx="3474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factor de densidad = 420 / 160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7"/>
          <p:cNvSpPr/>
          <p:nvPr/>
        </p:nvSpPr>
        <p:spPr>
          <a:xfrm>
            <a:off x="4361760" y="1737360"/>
            <a:ext cx="3474360" cy="20113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 8"/>
          <p:cNvSpPr/>
          <p:nvPr/>
        </p:nvSpPr>
        <p:spPr>
          <a:xfrm>
            <a:off x="4361760" y="1965960"/>
            <a:ext cx="34743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u="none" strike="noStrike">
                <a:solidFill>
                  <a:srgbClr val="1AA35C"/>
                </a:solidFill>
                <a:effectLst/>
                <a:uFillTx/>
                <a:latin typeface="Cambria"/>
                <a:ea typeface="Cambria"/>
              </a:rPr>
              <a:t>411 dp</a:t>
            </a:r>
            <a:endParaRPr lang="es-E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9"/>
          <p:cNvSpPr/>
          <p:nvPr/>
        </p:nvSpPr>
        <p:spPr>
          <a:xfrm>
            <a:off x="4361760" y="2788920"/>
            <a:ext cx="3474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ancho = 1080 / 2,625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10"/>
          <p:cNvSpPr/>
          <p:nvPr/>
        </p:nvSpPr>
        <p:spPr>
          <a:xfrm>
            <a:off x="8165520" y="1737360"/>
            <a:ext cx="3474360" cy="20113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 11"/>
          <p:cNvSpPr/>
          <p:nvPr/>
        </p:nvSpPr>
        <p:spPr>
          <a:xfrm>
            <a:off x="8165520" y="1965960"/>
            <a:ext cx="34743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u="none" strike="noStrike">
                <a:solidFill>
                  <a:srgbClr val="10243E"/>
                </a:solidFill>
                <a:effectLst/>
                <a:uFillTx/>
                <a:latin typeface="Cambria"/>
                <a:ea typeface="Cambria"/>
              </a:rPr>
              <a:t>914 dp</a:t>
            </a:r>
            <a:endParaRPr lang="es-E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2"/>
          <p:cNvSpPr/>
          <p:nvPr/>
        </p:nvSpPr>
        <p:spPr>
          <a:xfrm>
            <a:off x="8165520" y="2788920"/>
            <a:ext cx="3474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alto = 2400 / 2,625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2" name="Image 0" descr="preencoded.png"/>
          <p:cNvPicPr/>
          <p:nvPr/>
        </p:nvPicPr>
        <p:blipFill>
          <a:blip r:embed="rId1"/>
          <a:stretch/>
        </p:blipFill>
        <p:spPr>
          <a:xfrm>
            <a:off x="4050720" y="2560320"/>
            <a:ext cx="273960" cy="273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3" name="Image 1" descr="preencoded.png"/>
          <p:cNvPicPr/>
          <p:nvPr/>
        </p:nvPicPr>
        <p:blipFill>
          <a:blip r:embed="rId2"/>
          <a:stretch/>
        </p:blipFill>
        <p:spPr>
          <a:xfrm>
            <a:off x="7863840" y="2560320"/>
            <a:ext cx="273960" cy="27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" name="Shape 13"/>
          <p:cNvSpPr/>
          <p:nvPr/>
        </p:nvSpPr>
        <p:spPr>
          <a:xfrm>
            <a:off x="548640" y="4206240"/>
            <a:ext cx="11091240" cy="1188360"/>
          </a:xfrm>
          <a:prstGeom prst="roundRect">
            <a:avLst>
              <a:gd name="adj" fmla="val 4615"/>
            </a:avLst>
          </a:prstGeom>
          <a:solidFill>
            <a:srgbClr val="EAF3FF"/>
          </a:solidFill>
          <a:ln w="12700">
            <a:solidFill>
              <a:srgbClr val="EAF3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" name="Text 14"/>
          <p:cNvSpPr/>
          <p:nvPr/>
        </p:nvSpPr>
        <p:spPr>
          <a:xfrm>
            <a:off x="822960" y="4297680"/>
            <a:ext cx="105426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Da igual cuántos píxeles tenga el teléfono: para diseñar lo que importa es que ofrece unos 411 dp de ancho. Otro móvil con 720 px y 280 dpi también tendría unos 411 dp.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Text 0"/>
          <p:cNvSpPr/>
          <p:nvPr/>
        </p:nvSpPr>
        <p:spPr>
          <a:xfrm>
            <a:off x="548640" y="36576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150" strike="noStrike">
                <a:solidFill>
                  <a:srgbClr val="1AA35C"/>
                </a:solidFill>
                <a:effectLst/>
                <a:uFillTx/>
                <a:latin typeface="Calibri"/>
                <a:ea typeface="Calibri"/>
              </a:rPr>
              <a:t>A.2 · GRUPOS DE DENSIDAD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"/>
          <p:cNvSpPr/>
          <p:nvPr/>
        </p:nvSpPr>
        <p:spPr>
          <a:xfrm>
            <a:off x="548640" y="713160"/>
            <a:ext cx="11063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0243E"/>
                </a:solidFill>
                <a:effectLst/>
                <a:uFillTx/>
                <a:latin typeface="Cambria"/>
                <a:ea typeface="Cambria"/>
              </a:rPr>
              <a:t>Una carpeta de recursos por densidad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2"/>
          <p:cNvSpPr/>
          <p:nvPr/>
        </p:nvSpPr>
        <p:spPr>
          <a:xfrm>
            <a:off x="548640" y="64465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UT1 · Complemento: clasificación de dispositivos, compatibilidad y SDK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3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0" name="Table 0"/>
          <p:cNvGraphicFramePr/>
          <p:nvPr/>
        </p:nvGraphicFramePr>
        <p:xfrm>
          <a:off x="548640" y="1645920"/>
          <a:ext cx="6766200" cy="3520440"/>
        </p:xfrm>
        <a:graphic>
          <a:graphicData uri="http://schemas.openxmlformats.org/drawingml/2006/table">
            <a:tbl>
              <a:tblPr/>
              <a:tblGrid>
                <a:gridCol w="1188720"/>
                <a:gridCol w="1280160"/>
                <a:gridCol w="1005840"/>
                <a:gridCol w="3291840"/>
              </a:tblGrid>
              <a:tr h="50292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Grupo</a:t>
                      </a:r>
                      <a:endParaRPr lang="es-E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10243E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Densidad</a:t>
                      </a:r>
                      <a:endParaRPr lang="es-E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10243E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Factor</a:t>
                      </a:r>
                      <a:endParaRPr lang="es-E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10243E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Carpeta</a:t>
                      </a:r>
                      <a:endParaRPr lang="es-E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10243E"/>
                    </a:solidFill>
                  </a:tcPr>
                </a:tc>
              </a:tr>
              <a:tr h="50292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ldpi</a:t>
                      </a:r>
                      <a:endParaRPr lang="es-E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120 dpi</a:t>
                      </a:r>
                      <a:endParaRPr lang="es-E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0,75×</a:t>
                      </a:r>
                      <a:endParaRPr lang="es-E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drawable-ldpi (en desuso)</a:t>
                      </a:r>
                      <a:endParaRPr lang="es-E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mdpi</a:t>
                      </a:r>
                      <a:endParaRPr lang="es-E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160 dpi</a:t>
                      </a:r>
                      <a:endParaRPr lang="es-E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1×</a:t>
                      </a:r>
                      <a:endParaRPr lang="es-E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drawable-mdpi</a:t>
                      </a:r>
                      <a:endParaRPr lang="es-E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EEF3F7"/>
                    </a:solidFill>
                  </a:tcPr>
                </a:tc>
              </a:tr>
              <a:tr h="50292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hdpi</a:t>
                      </a:r>
                      <a:endParaRPr lang="es-E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240 dpi</a:t>
                      </a:r>
                      <a:endParaRPr lang="es-E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1,5×</a:t>
                      </a:r>
                      <a:endParaRPr lang="es-E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drawable-hdpi</a:t>
                      </a:r>
                      <a:endParaRPr lang="es-E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xhdpi</a:t>
                      </a:r>
                      <a:endParaRPr lang="es-E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320 dpi</a:t>
                      </a:r>
                      <a:endParaRPr lang="es-E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2×</a:t>
                      </a:r>
                      <a:endParaRPr lang="es-E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drawable-xhdpi</a:t>
                      </a:r>
                      <a:endParaRPr lang="es-E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EEF3F7"/>
                    </a:solidFill>
                  </a:tcPr>
                </a:tc>
              </a:tr>
              <a:tr h="50292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xxhdpi</a:t>
                      </a:r>
                      <a:endParaRPr lang="es-E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480 dpi</a:t>
                      </a:r>
                      <a:endParaRPr lang="es-E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3×</a:t>
                      </a:r>
                      <a:endParaRPr lang="es-E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drawable-xxhdpi</a:t>
                      </a:r>
                      <a:endParaRPr lang="es-E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xxxhdpi</a:t>
                      </a:r>
                      <a:endParaRPr lang="es-E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640 dpi</a:t>
                      </a:r>
                      <a:endParaRPr lang="es-E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4×</a:t>
                      </a:r>
                      <a:endParaRPr lang="es-E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mipmap-xxxhdpi</a:t>
                      </a:r>
                      <a:endParaRPr lang="es-E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EEF3F7"/>
                    </a:solidFill>
                  </a:tcPr>
                </a:tc>
              </a:tr>
            </a:tbl>
          </a:graphicData>
        </a:graphic>
      </p:graphicFrame>
      <p:sp>
        <p:nvSpPr>
          <p:cNvPr id="101" name="Shape 4"/>
          <p:cNvSpPr/>
          <p:nvPr/>
        </p:nvSpPr>
        <p:spPr>
          <a:xfrm>
            <a:off x="7680960" y="1645920"/>
            <a:ext cx="3958920" cy="178272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" name="Shape 5"/>
          <p:cNvSpPr/>
          <p:nvPr/>
        </p:nvSpPr>
        <p:spPr>
          <a:xfrm>
            <a:off x="7909560" y="187452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3" name="Image 0" descr="preencoded.png"/>
          <p:cNvPicPr/>
          <p:nvPr/>
        </p:nvPicPr>
        <p:blipFill>
          <a:blip r:embed="rId1"/>
          <a:stretch/>
        </p:blipFill>
        <p:spPr>
          <a:xfrm>
            <a:off x="8058240" y="202320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Text 6"/>
          <p:cNvSpPr/>
          <p:nvPr/>
        </p:nvSpPr>
        <p:spPr>
          <a:xfrm>
            <a:off x="7909560" y="2606040"/>
            <a:ext cx="35017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El más cercano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7"/>
          <p:cNvSpPr/>
          <p:nvPr/>
        </p:nvSpPr>
        <p:spPr>
          <a:xfrm>
            <a:off x="7909560" y="2866680"/>
            <a:ext cx="3501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Una pantalla de 420 dpi usa los recursos xxhdpi, escalados.</a:t>
            </a: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	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8"/>
          <p:cNvSpPr/>
          <p:nvPr/>
        </p:nvSpPr>
        <p:spPr>
          <a:xfrm>
            <a:off x="7680960" y="3657600"/>
            <a:ext cx="3958920" cy="178272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" name="Shape 9"/>
          <p:cNvSpPr/>
          <p:nvPr/>
        </p:nvSpPr>
        <p:spPr>
          <a:xfrm>
            <a:off x="7909560" y="388620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8" name="Image 1" descr="preencoded.png"/>
          <p:cNvPicPr/>
          <p:nvPr/>
        </p:nvPicPr>
        <p:blipFill>
          <a:blip r:embed="rId2"/>
          <a:stretch/>
        </p:blipFill>
        <p:spPr>
          <a:xfrm>
            <a:off x="8058240" y="403488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Text 10"/>
          <p:cNvSpPr/>
          <p:nvPr/>
        </p:nvSpPr>
        <p:spPr>
          <a:xfrm>
            <a:off x="7909560" y="4617720"/>
            <a:ext cx="35017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Mejor, vectoriales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1"/>
          <p:cNvSpPr/>
          <p:nvPr/>
        </p:nvSpPr>
        <p:spPr>
          <a:xfrm>
            <a:off x="7909560" y="4928400"/>
            <a:ext cx="3501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Los Vector Drawables sirven para cualquier densidad sin perder calidad.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ext 0"/>
          <p:cNvSpPr/>
          <p:nvPr/>
        </p:nvSpPr>
        <p:spPr>
          <a:xfrm>
            <a:off x="548640" y="36576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150" strike="noStrike">
                <a:solidFill>
                  <a:srgbClr val="1AA35C"/>
                </a:solidFill>
                <a:effectLst/>
                <a:uFillTx/>
                <a:latin typeface="Calibri"/>
                <a:ea typeface="Calibri"/>
              </a:rPr>
              <a:t>A.3 · CLASES DE TAMAÑO DE VENTANA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"/>
          <p:cNvSpPr/>
          <p:nvPr/>
        </p:nvSpPr>
        <p:spPr>
          <a:xfrm>
            <a:off x="548640" y="713160"/>
            <a:ext cx="11063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0243E"/>
                </a:solidFill>
                <a:effectLst/>
                <a:uFillTx/>
                <a:latin typeface="Cambria"/>
                <a:ea typeface="Cambria"/>
              </a:rPr>
              <a:t>¿Cuánto espacio hay para la interfaz?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2"/>
          <p:cNvSpPr/>
          <p:nvPr/>
        </p:nvSpPr>
        <p:spPr>
          <a:xfrm>
            <a:off x="548640" y="64465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UT1 · Complemento: clasificación de dispositivos, compatibilidad y SDK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3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4"/>
          <p:cNvSpPr/>
          <p:nvPr/>
        </p:nvSpPr>
        <p:spPr>
          <a:xfrm>
            <a:off x="548640" y="1554480"/>
            <a:ext cx="109724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Android clasifica el ancho disponible en cinco intervalos medidos en dp: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5"/>
          <p:cNvSpPr/>
          <p:nvPr/>
        </p:nvSpPr>
        <p:spPr>
          <a:xfrm>
            <a:off x="548640" y="2286000"/>
            <a:ext cx="2166840" cy="1188360"/>
          </a:xfrm>
          <a:prstGeom prst="rect">
            <a:avLst/>
          </a:prstGeom>
          <a:solidFill>
            <a:srgbClr val="CFF5E1"/>
          </a:solidFill>
          <a:ln w="12700">
            <a:solidFill>
              <a:srgbClr val="CFF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" name="Text 6"/>
          <p:cNvSpPr/>
          <p:nvPr/>
        </p:nvSpPr>
        <p:spPr>
          <a:xfrm>
            <a:off x="548640" y="2286000"/>
            <a:ext cx="216684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Compact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&lt; 600 dp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7"/>
          <p:cNvSpPr/>
          <p:nvPr/>
        </p:nvSpPr>
        <p:spPr>
          <a:xfrm>
            <a:off x="594360" y="3611880"/>
            <a:ext cx="20754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Teléfonos en vertical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8"/>
          <p:cNvSpPr/>
          <p:nvPr/>
        </p:nvSpPr>
        <p:spPr>
          <a:xfrm>
            <a:off x="2779920" y="2286000"/>
            <a:ext cx="2166840" cy="1188360"/>
          </a:xfrm>
          <a:prstGeom prst="rect">
            <a:avLst/>
          </a:prstGeom>
          <a:solidFill>
            <a:srgbClr val="9EEBC2"/>
          </a:solidFill>
          <a:ln w="12700">
            <a:solidFill>
              <a:srgbClr val="9EEBC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 9"/>
          <p:cNvSpPr/>
          <p:nvPr/>
        </p:nvSpPr>
        <p:spPr>
          <a:xfrm>
            <a:off x="2779920" y="2286000"/>
            <a:ext cx="216684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Medium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600 – 840 dp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0"/>
          <p:cNvSpPr/>
          <p:nvPr/>
        </p:nvSpPr>
        <p:spPr>
          <a:xfrm>
            <a:off x="2825640" y="3611880"/>
            <a:ext cx="20754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Tablets en vertical, plegables abiertos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11"/>
          <p:cNvSpPr/>
          <p:nvPr/>
        </p:nvSpPr>
        <p:spPr>
          <a:xfrm>
            <a:off x="5010840" y="2286000"/>
            <a:ext cx="2166840" cy="1188360"/>
          </a:xfrm>
          <a:prstGeom prst="rect">
            <a:avLst/>
          </a:prstGeom>
          <a:solidFill>
            <a:srgbClr val="6BE3A3"/>
          </a:solidFill>
          <a:ln w="12700">
            <a:solidFill>
              <a:srgbClr val="6BE3A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3" name="Text 12"/>
          <p:cNvSpPr/>
          <p:nvPr/>
        </p:nvSpPr>
        <p:spPr>
          <a:xfrm>
            <a:off x="5010840" y="2286000"/>
            <a:ext cx="216684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Expanded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840 – 1200 dp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3"/>
          <p:cNvSpPr/>
          <p:nvPr/>
        </p:nvSpPr>
        <p:spPr>
          <a:xfrm>
            <a:off x="5056560" y="3611880"/>
            <a:ext cx="20754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Tablets en horizontal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14"/>
          <p:cNvSpPr/>
          <p:nvPr/>
        </p:nvSpPr>
        <p:spPr>
          <a:xfrm>
            <a:off x="7242120" y="2286000"/>
            <a:ext cx="2166840" cy="1188360"/>
          </a:xfrm>
          <a:prstGeom prst="rect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6" name="Text 15"/>
          <p:cNvSpPr/>
          <p:nvPr/>
        </p:nvSpPr>
        <p:spPr>
          <a:xfrm>
            <a:off x="7242120" y="2286000"/>
            <a:ext cx="216684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Large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1200 – 1600 dp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6"/>
          <p:cNvSpPr/>
          <p:nvPr/>
        </p:nvSpPr>
        <p:spPr>
          <a:xfrm>
            <a:off x="7287840" y="3611880"/>
            <a:ext cx="20754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Tablets grandes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17"/>
          <p:cNvSpPr/>
          <p:nvPr/>
        </p:nvSpPr>
        <p:spPr>
          <a:xfrm>
            <a:off x="9473040" y="2286000"/>
            <a:ext cx="2166840" cy="1188360"/>
          </a:xfrm>
          <a:prstGeom prst="rect">
            <a:avLst/>
          </a:prstGeom>
          <a:solidFill>
            <a:srgbClr val="1AA35C"/>
          </a:solidFill>
          <a:ln w="12700">
            <a:solidFill>
              <a:srgbClr val="1AA3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9" name="Text 18"/>
          <p:cNvSpPr/>
          <p:nvPr/>
        </p:nvSpPr>
        <p:spPr>
          <a:xfrm>
            <a:off x="9473040" y="2286000"/>
            <a:ext cx="216684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Extra-large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≥ 1600 dp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9"/>
          <p:cNvSpPr/>
          <p:nvPr/>
        </p:nvSpPr>
        <p:spPr>
          <a:xfrm>
            <a:off x="9518760" y="3611880"/>
            <a:ext cx="20754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Escritorio y monitores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20"/>
          <p:cNvSpPr/>
          <p:nvPr/>
        </p:nvSpPr>
        <p:spPr>
          <a:xfrm>
            <a:off x="548640" y="4846320"/>
            <a:ext cx="11091240" cy="1096920"/>
          </a:xfrm>
          <a:prstGeom prst="roundRect">
            <a:avLst>
              <a:gd name="adj" fmla="val 5000"/>
            </a:avLst>
          </a:prstGeom>
          <a:solidFill>
            <a:srgbClr val="EAF3FF"/>
          </a:solidFill>
          <a:ln w="12700">
            <a:solidFill>
              <a:srgbClr val="EAF3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" name="Text 21"/>
          <p:cNvSpPr/>
          <p:nvPr/>
        </p:nvSpPr>
        <p:spPr>
          <a:xfrm>
            <a:off x="822960" y="4937760"/>
            <a:ext cx="105426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También hay clases de altura: compact (&lt; 480 dp), medium (480 – 900 dp) y expanded (≥ 900 dp). La clase de ancho es la que más se usa, porque en vertical casi siempre se puede desplazar el contenido.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Text 0"/>
          <p:cNvSpPr/>
          <p:nvPr/>
        </p:nvSpPr>
        <p:spPr>
          <a:xfrm>
            <a:off x="548640" y="36576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150" strike="noStrike">
                <a:solidFill>
                  <a:srgbClr val="1AA35C"/>
                </a:solidFill>
                <a:effectLst/>
                <a:uFillTx/>
                <a:latin typeface="Calibri"/>
                <a:ea typeface="Calibri"/>
              </a:rPr>
              <a:t>A.3 · IMPORTANTE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1"/>
          <p:cNvSpPr/>
          <p:nvPr/>
        </p:nvSpPr>
        <p:spPr>
          <a:xfrm>
            <a:off x="548640" y="713160"/>
            <a:ext cx="11063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0243E"/>
                </a:solidFill>
                <a:effectLst/>
                <a:uFillTx/>
                <a:latin typeface="Cambria"/>
                <a:ea typeface="Cambria"/>
              </a:rPr>
              <a:t>La clase es de la ventana, no del dispositivo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2"/>
          <p:cNvSpPr/>
          <p:nvPr/>
        </p:nvSpPr>
        <p:spPr>
          <a:xfrm>
            <a:off x="548640" y="64465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UT1 · Complemento: clasificación de dispositivos, compatibilidad y SDK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3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9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4"/>
          <p:cNvSpPr/>
          <p:nvPr/>
        </p:nvSpPr>
        <p:spPr>
          <a:xfrm>
            <a:off x="1463040" y="1691640"/>
            <a:ext cx="1371240" cy="2925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8100">
            <a:solidFill>
              <a:srgbClr val="10243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" name="Text 5"/>
          <p:cNvSpPr/>
          <p:nvPr/>
        </p:nvSpPr>
        <p:spPr>
          <a:xfrm>
            <a:off x="1463040" y="2743200"/>
            <a:ext cx="137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411 dp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6"/>
          <p:cNvSpPr/>
          <p:nvPr/>
        </p:nvSpPr>
        <p:spPr>
          <a:xfrm>
            <a:off x="548640" y="4800600"/>
            <a:ext cx="3200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AA35C"/>
                </a:solidFill>
                <a:effectLst/>
                <a:uFillTx/>
                <a:latin typeface="Calibri"/>
                <a:ea typeface="Calibri"/>
              </a:rPr>
              <a:t>Vertical: compact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0" name="Image 0" descr="preencoded.png"/>
          <p:cNvPicPr/>
          <p:nvPr/>
        </p:nvPicPr>
        <p:blipFill>
          <a:blip r:embed="rId1"/>
          <a:stretch/>
        </p:blipFill>
        <p:spPr>
          <a:xfrm>
            <a:off x="3429000" y="2651760"/>
            <a:ext cx="822600" cy="82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1" name="Shape 7"/>
          <p:cNvSpPr/>
          <p:nvPr/>
        </p:nvSpPr>
        <p:spPr>
          <a:xfrm>
            <a:off x="4572000" y="2468880"/>
            <a:ext cx="2925720" cy="1371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8100">
            <a:solidFill>
              <a:srgbClr val="10243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 8"/>
          <p:cNvSpPr/>
          <p:nvPr/>
        </p:nvSpPr>
        <p:spPr>
          <a:xfrm>
            <a:off x="4572000" y="2926080"/>
            <a:ext cx="2925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914 dp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9"/>
          <p:cNvSpPr/>
          <p:nvPr/>
        </p:nvSpPr>
        <p:spPr>
          <a:xfrm>
            <a:off x="4206240" y="4800600"/>
            <a:ext cx="3657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AA35C"/>
                </a:solidFill>
                <a:effectLst/>
                <a:uFillTx/>
                <a:latin typeface="Calibri"/>
                <a:ea typeface="Calibri"/>
              </a:rPr>
              <a:t>Horizontal: expanded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10"/>
          <p:cNvSpPr/>
          <p:nvPr/>
        </p:nvSpPr>
        <p:spPr>
          <a:xfrm>
            <a:off x="8138160" y="1737360"/>
            <a:ext cx="502560" cy="50256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45" name="Image 1" descr="preencoded.png"/>
          <p:cNvPicPr/>
          <p:nvPr/>
        </p:nvPicPr>
        <p:blipFill>
          <a:blip r:embed="rId2"/>
          <a:stretch/>
        </p:blipFill>
        <p:spPr>
          <a:xfrm>
            <a:off x="8263800" y="1863000"/>
            <a:ext cx="251280" cy="2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6" name="Text 11"/>
          <p:cNvSpPr/>
          <p:nvPr/>
        </p:nvSpPr>
        <p:spPr>
          <a:xfrm>
            <a:off x="8869680" y="1719000"/>
            <a:ext cx="2788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Al girar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12"/>
          <p:cNvSpPr/>
          <p:nvPr/>
        </p:nvSpPr>
        <p:spPr>
          <a:xfrm>
            <a:off x="8138160" y="2560320"/>
            <a:ext cx="502560" cy="50256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48" name="Image 2" descr="preencoded.png"/>
          <p:cNvPicPr/>
          <p:nvPr/>
        </p:nvPicPr>
        <p:blipFill>
          <a:blip r:embed="rId3"/>
          <a:stretch/>
        </p:blipFill>
        <p:spPr>
          <a:xfrm>
            <a:off x="8263800" y="2685960"/>
            <a:ext cx="251280" cy="2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Text 13"/>
          <p:cNvSpPr/>
          <p:nvPr/>
        </p:nvSpPr>
        <p:spPr>
          <a:xfrm>
            <a:off x="8869680" y="2541960"/>
            <a:ext cx="2788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Pantalla dividida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14"/>
          <p:cNvSpPr/>
          <p:nvPr/>
        </p:nvSpPr>
        <p:spPr>
          <a:xfrm>
            <a:off x="8138160" y="3383280"/>
            <a:ext cx="502560" cy="50256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51" name="Image 3" descr="preencoded.png"/>
          <p:cNvPicPr/>
          <p:nvPr/>
        </p:nvPicPr>
        <p:blipFill>
          <a:blip r:embed="rId4"/>
          <a:stretch/>
        </p:blipFill>
        <p:spPr>
          <a:xfrm>
            <a:off x="8263800" y="3508920"/>
            <a:ext cx="251280" cy="2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2" name="Text 15"/>
          <p:cNvSpPr/>
          <p:nvPr/>
        </p:nvSpPr>
        <p:spPr>
          <a:xfrm>
            <a:off x="8869680" y="3364920"/>
            <a:ext cx="2788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Plegable que se abre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6"/>
          <p:cNvSpPr/>
          <p:nvPr/>
        </p:nvSpPr>
        <p:spPr>
          <a:xfrm>
            <a:off x="8138160" y="4206240"/>
            <a:ext cx="35200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Una app bien diseñada se adapta a esos cambios en tiempo real.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ext 0"/>
          <p:cNvSpPr/>
          <p:nvPr/>
        </p:nvSpPr>
        <p:spPr>
          <a:xfrm>
            <a:off x="548640" y="36576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150" strike="noStrike">
                <a:solidFill>
                  <a:srgbClr val="1AA35C"/>
                </a:solidFill>
                <a:effectLst/>
                <a:uFillTx/>
                <a:latin typeface="Calibri"/>
                <a:ea typeface="Calibri"/>
              </a:rPr>
              <a:t>A.3 · EJEMPLO RESUELTO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"/>
          <p:cNvSpPr/>
          <p:nvPr/>
        </p:nvSpPr>
        <p:spPr>
          <a:xfrm>
            <a:off x="548640" y="713160"/>
            <a:ext cx="11063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0243E"/>
                </a:solidFill>
                <a:effectLst/>
                <a:uFillTx/>
                <a:latin typeface="Cambria"/>
                <a:ea typeface="Cambria"/>
              </a:rPr>
              <a:t>Tablet de 10 pulgadas: 2560 × 1600 px y 320 dpi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"/>
          <p:cNvSpPr/>
          <p:nvPr/>
        </p:nvSpPr>
        <p:spPr>
          <a:xfrm>
            <a:off x="548640" y="64465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UT1 · Complemento: clasificación de dispositivos, compatibilidad y SDK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3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4"/>
          <p:cNvSpPr/>
          <p:nvPr/>
        </p:nvSpPr>
        <p:spPr>
          <a:xfrm>
            <a:off x="548640" y="1691640"/>
            <a:ext cx="3291480" cy="3474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Text 5"/>
          <p:cNvSpPr/>
          <p:nvPr/>
        </p:nvSpPr>
        <p:spPr>
          <a:xfrm>
            <a:off x="548640" y="2011680"/>
            <a:ext cx="32914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u="none" strike="noStrike">
                <a:solidFill>
                  <a:srgbClr val="10243E"/>
                </a:solidFill>
                <a:effectLst/>
                <a:uFillTx/>
                <a:latin typeface="Cambria"/>
                <a:ea typeface="Cambria"/>
              </a:rPr>
              <a:t>2×</a:t>
            </a:r>
            <a:endParaRPr lang="es-E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6"/>
          <p:cNvSpPr/>
          <p:nvPr/>
        </p:nvSpPr>
        <p:spPr>
          <a:xfrm>
            <a:off x="548640" y="2834640"/>
            <a:ext cx="32914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factor de densidad (xhdpi)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7"/>
          <p:cNvSpPr/>
          <p:nvPr/>
        </p:nvSpPr>
        <p:spPr>
          <a:xfrm>
            <a:off x="4114800" y="1691640"/>
            <a:ext cx="3657240" cy="347436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" name="Shape 8"/>
          <p:cNvSpPr/>
          <p:nvPr/>
        </p:nvSpPr>
        <p:spPr>
          <a:xfrm>
            <a:off x="4343400" y="192024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63" name="Image 0" descr="preencoded.png"/>
          <p:cNvPicPr/>
          <p:nvPr/>
        </p:nvPicPr>
        <p:blipFill>
          <a:blip r:embed="rId1"/>
          <a:stretch/>
        </p:blipFill>
        <p:spPr>
          <a:xfrm>
            <a:off x="4492080" y="206892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4" name="Text 9"/>
          <p:cNvSpPr/>
          <p:nvPr/>
        </p:nvSpPr>
        <p:spPr>
          <a:xfrm>
            <a:off x="4343400" y="2651760"/>
            <a:ext cx="3200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En horizontal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0"/>
          <p:cNvSpPr/>
          <p:nvPr/>
        </p:nvSpPr>
        <p:spPr>
          <a:xfrm>
            <a:off x="4343400" y="3108960"/>
            <a:ext cx="320004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8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1280 × 800 dp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8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Ancho: large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8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Alto: medium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11"/>
          <p:cNvSpPr/>
          <p:nvPr/>
        </p:nvSpPr>
        <p:spPr>
          <a:xfrm>
            <a:off x="7982640" y="1691640"/>
            <a:ext cx="3657240" cy="347436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" name="Shape 12"/>
          <p:cNvSpPr/>
          <p:nvPr/>
        </p:nvSpPr>
        <p:spPr>
          <a:xfrm>
            <a:off x="8211240" y="192024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68" name="Image 1" descr="preencoded.png"/>
          <p:cNvPicPr/>
          <p:nvPr/>
        </p:nvPicPr>
        <p:blipFill>
          <a:blip r:embed="rId2"/>
          <a:stretch/>
        </p:blipFill>
        <p:spPr>
          <a:xfrm>
            <a:off x="8359920" y="206892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9" name="Text 13"/>
          <p:cNvSpPr/>
          <p:nvPr/>
        </p:nvSpPr>
        <p:spPr>
          <a:xfrm>
            <a:off x="8211240" y="2651760"/>
            <a:ext cx="3200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En vertical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14"/>
          <p:cNvSpPr/>
          <p:nvPr/>
        </p:nvSpPr>
        <p:spPr>
          <a:xfrm>
            <a:off x="8211240" y="3108960"/>
            <a:ext cx="320004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8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800 × 1280 dp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8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Ancho: medium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8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Alto: expanded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15"/>
          <p:cNvSpPr/>
          <p:nvPr/>
        </p:nvSpPr>
        <p:spPr>
          <a:xfrm>
            <a:off x="548640" y="5440680"/>
            <a:ext cx="10972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La misma tablet cambia de clase según cómo se sujete.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Text 0"/>
          <p:cNvSpPr/>
          <p:nvPr/>
        </p:nvSpPr>
        <p:spPr>
          <a:xfrm>
            <a:off x="548640" y="36576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150" strike="noStrike">
                <a:solidFill>
                  <a:srgbClr val="1AA35C"/>
                </a:solidFill>
                <a:effectLst/>
                <a:uFillTx/>
                <a:latin typeface="Calibri"/>
                <a:ea typeface="Calibri"/>
              </a:rPr>
              <a:t>A.4 · VERSIÓN DEL SISTEMA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"/>
          <p:cNvSpPr/>
          <p:nvPr/>
        </p:nvSpPr>
        <p:spPr>
          <a:xfrm>
            <a:off x="548640" y="713160"/>
            <a:ext cx="11063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0243E"/>
                </a:solidFill>
                <a:effectLst/>
                <a:uFillTx/>
                <a:latin typeface="Cambria"/>
                <a:ea typeface="Cambria"/>
              </a:rPr>
              <a:t>El número que importa: el nivel de API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2"/>
          <p:cNvSpPr/>
          <p:nvPr/>
        </p:nvSpPr>
        <p:spPr>
          <a:xfrm>
            <a:off x="548640" y="64465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UT1 · Complemento: clasificación de dispositivos, compatibilidad y SDK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3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6" name="Table 0"/>
          <p:cNvGraphicFramePr/>
          <p:nvPr/>
        </p:nvGraphicFramePr>
        <p:xfrm>
          <a:off x="548640" y="1600200"/>
          <a:ext cx="6034680" cy="449856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1463040"/>
              </a:tblGrid>
              <a:tr h="37476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Versión</a:t>
                      </a:r>
                      <a:endParaRPr lang="es-E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10243E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Nivel de API</a:t>
                      </a:r>
                      <a:endParaRPr lang="es-E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10243E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Año</a:t>
                      </a:r>
                      <a:endParaRPr lang="es-E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10243E"/>
                    </a:solidFill>
                  </a:tcPr>
                </a:tc>
              </a:tr>
              <a:tr h="37476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Android 7.0 / 7.1</a:t>
                      </a:r>
                      <a:endParaRPr lang="es-E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24 / 25</a:t>
                      </a:r>
                      <a:endParaRPr lang="es-E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2016</a:t>
                      </a:r>
                      <a:endParaRPr lang="es-E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76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Android 8.0 / 8.1</a:t>
                      </a:r>
                      <a:endParaRPr lang="es-E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26 / 27</a:t>
                      </a:r>
                      <a:endParaRPr lang="es-E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2017</a:t>
                      </a:r>
                      <a:endParaRPr lang="es-E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EEF3F7"/>
                    </a:solidFill>
                  </a:tcPr>
                </a:tc>
              </a:tr>
              <a:tr h="37476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Android 9</a:t>
                      </a:r>
                      <a:endParaRPr lang="es-E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28</a:t>
                      </a:r>
                      <a:endParaRPr lang="es-E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2018</a:t>
                      </a:r>
                      <a:endParaRPr lang="es-E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76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Android 10</a:t>
                      </a:r>
                      <a:endParaRPr lang="es-E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29</a:t>
                      </a:r>
                      <a:endParaRPr lang="es-E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2019</a:t>
                      </a:r>
                      <a:endParaRPr lang="es-E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EEF3F7"/>
                    </a:solidFill>
                  </a:tcPr>
                </a:tc>
              </a:tr>
              <a:tr h="37476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Android 11</a:t>
                      </a:r>
                      <a:endParaRPr lang="es-E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30</a:t>
                      </a:r>
                      <a:endParaRPr lang="es-E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2020</a:t>
                      </a:r>
                      <a:endParaRPr lang="es-E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76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Android 12 / 12L</a:t>
                      </a:r>
                      <a:endParaRPr lang="es-E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31 / 32</a:t>
                      </a:r>
                      <a:endParaRPr lang="es-E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2021-22</a:t>
                      </a:r>
                      <a:endParaRPr lang="es-E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EEF3F7"/>
                    </a:solidFill>
                  </a:tcPr>
                </a:tc>
              </a:tr>
              <a:tr h="37476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Android 13</a:t>
                      </a:r>
                      <a:endParaRPr lang="es-E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33</a:t>
                      </a:r>
                      <a:endParaRPr lang="es-E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2022</a:t>
                      </a:r>
                      <a:endParaRPr lang="es-E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76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Android 14</a:t>
                      </a:r>
                      <a:endParaRPr lang="es-E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34</a:t>
                      </a:r>
                      <a:endParaRPr lang="es-E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2023</a:t>
                      </a:r>
                      <a:endParaRPr lang="es-E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EEF3F7"/>
                    </a:solidFill>
                  </a:tcPr>
                </a:tc>
              </a:tr>
              <a:tr h="37476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Android 15</a:t>
                      </a:r>
                      <a:endParaRPr lang="es-E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35</a:t>
                      </a:r>
                      <a:endParaRPr lang="es-E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2024</a:t>
                      </a:r>
                      <a:endParaRPr lang="es-E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76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Android 16</a:t>
                      </a:r>
                      <a:endParaRPr lang="es-E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36</a:t>
                      </a:r>
                      <a:endParaRPr lang="es-E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2025</a:t>
                      </a:r>
                      <a:endParaRPr lang="es-E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EEF3F7"/>
                    </a:solidFill>
                  </a:tcPr>
                </a:tc>
              </a:tr>
              <a:tr h="37476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Android 17</a:t>
                      </a:r>
                      <a:endParaRPr lang="es-E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37</a:t>
                      </a:r>
                      <a:endParaRPr lang="es-E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2026</a:t>
                      </a:r>
                      <a:endParaRPr lang="es-E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7" name="Shape 4"/>
          <p:cNvSpPr/>
          <p:nvPr/>
        </p:nvSpPr>
        <p:spPr>
          <a:xfrm>
            <a:off x="6949440" y="1600200"/>
            <a:ext cx="4690440" cy="214848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" name="Shape 5"/>
          <p:cNvSpPr/>
          <p:nvPr/>
        </p:nvSpPr>
        <p:spPr>
          <a:xfrm>
            <a:off x="7178040" y="182880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79" name="Image 0" descr="preencoded.png"/>
          <p:cNvPicPr/>
          <p:nvPr/>
        </p:nvPicPr>
        <p:blipFill>
          <a:blip r:embed="rId1"/>
          <a:stretch/>
        </p:blipFill>
        <p:spPr>
          <a:xfrm>
            <a:off x="7326720" y="197748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0" name="Text 6"/>
          <p:cNvSpPr/>
          <p:nvPr/>
        </p:nvSpPr>
        <p:spPr>
          <a:xfrm>
            <a:off x="7178040" y="2560320"/>
            <a:ext cx="4233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Un número por versión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7"/>
          <p:cNvSpPr/>
          <p:nvPr/>
        </p:nvSpPr>
        <p:spPr>
          <a:xfrm>
            <a:off x="7178040" y="3017520"/>
            <a:ext cx="4233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Cada versión nueva incrementa el nivel de API. Es el valor que se usa al configurar el proyecto.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8"/>
          <p:cNvSpPr/>
          <p:nvPr/>
        </p:nvSpPr>
        <p:spPr>
          <a:xfrm>
            <a:off x="6949440" y="3931920"/>
            <a:ext cx="4690440" cy="214848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3" name="Shape 9"/>
          <p:cNvSpPr/>
          <p:nvPr/>
        </p:nvSpPr>
        <p:spPr>
          <a:xfrm>
            <a:off x="7178040" y="416052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84" name="Image 1" descr="preencoded.png"/>
          <p:cNvPicPr/>
          <p:nvPr/>
        </p:nvPicPr>
        <p:blipFill>
          <a:blip r:embed="rId2"/>
          <a:stretch/>
        </p:blipFill>
        <p:spPr>
          <a:xfrm>
            <a:off x="7326720" y="430920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5" name="Text 10"/>
          <p:cNvSpPr/>
          <p:nvPr/>
        </p:nvSpPr>
        <p:spPr>
          <a:xfrm>
            <a:off x="7178040" y="4892040"/>
            <a:ext cx="4233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Cómo se lee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11"/>
          <p:cNvSpPr/>
          <p:nvPr/>
        </p:nvSpPr>
        <p:spPr>
          <a:xfrm>
            <a:off x="7178040" y="5349240"/>
            <a:ext cx="4233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Un dispositivo con API 30 ofrece todo hasta Android 11 y nada de lo posterior.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Text 0"/>
          <p:cNvSpPr/>
          <p:nvPr/>
        </p:nvSpPr>
        <p:spPr>
          <a:xfrm>
            <a:off x="548640" y="36576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150" strike="noStrike">
                <a:solidFill>
                  <a:srgbClr val="1AA35C"/>
                </a:solidFill>
                <a:effectLst/>
                <a:uFillTx/>
                <a:latin typeface="Calibri"/>
                <a:ea typeface="Calibri"/>
              </a:rPr>
              <a:t>A.5 · ARQUITECTURA DEL PROCESADOR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"/>
          <p:cNvSpPr/>
          <p:nvPr/>
        </p:nvSpPr>
        <p:spPr>
          <a:xfrm>
            <a:off x="548640" y="713160"/>
            <a:ext cx="11063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0243E"/>
                </a:solidFill>
                <a:effectLst/>
                <a:uFillTx/>
                <a:latin typeface="Cambria"/>
                <a:ea typeface="Cambria"/>
              </a:rPr>
              <a:t>Las ABI: qué procesador hay dentro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2"/>
          <p:cNvSpPr/>
          <p:nvPr/>
        </p:nvSpPr>
        <p:spPr>
          <a:xfrm>
            <a:off x="548640" y="64465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UT1 · Complemento: clasificación de dispositivos, compatibilidad y SDK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3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4"/>
          <p:cNvSpPr/>
          <p:nvPr/>
        </p:nvSpPr>
        <p:spPr>
          <a:xfrm>
            <a:off x="548640" y="1645920"/>
            <a:ext cx="2651400" cy="31086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2" name="Shape 5"/>
          <p:cNvSpPr/>
          <p:nvPr/>
        </p:nvSpPr>
        <p:spPr>
          <a:xfrm>
            <a:off x="777240" y="187452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93" name="Image 0" descr="preencoded.png"/>
          <p:cNvPicPr/>
          <p:nvPr/>
        </p:nvPicPr>
        <p:blipFill>
          <a:blip r:embed="rId1"/>
          <a:stretch/>
        </p:blipFill>
        <p:spPr>
          <a:xfrm>
            <a:off x="925920" y="202320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4" name="Text 6"/>
          <p:cNvSpPr/>
          <p:nvPr/>
        </p:nvSpPr>
        <p:spPr>
          <a:xfrm>
            <a:off x="777240" y="2606040"/>
            <a:ext cx="21942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arm64-v8a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7"/>
          <p:cNvSpPr/>
          <p:nvPr/>
        </p:nvSpPr>
        <p:spPr>
          <a:xfrm>
            <a:off x="777240" y="3063240"/>
            <a:ext cx="219420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ARM 64 bits. Casi todos los móviles y tablets actuales.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8"/>
          <p:cNvSpPr/>
          <p:nvPr/>
        </p:nvSpPr>
        <p:spPr>
          <a:xfrm>
            <a:off x="3364920" y="1645920"/>
            <a:ext cx="2651400" cy="31086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" name="Shape 9"/>
          <p:cNvSpPr/>
          <p:nvPr/>
        </p:nvSpPr>
        <p:spPr>
          <a:xfrm>
            <a:off x="3593520" y="187452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98" name="Image 1" descr="preencoded.png"/>
          <p:cNvPicPr/>
          <p:nvPr/>
        </p:nvPicPr>
        <p:blipFill>
          <a:blip r:embed="rId2"/>
          <a:stretch/>
        </p:blipFill>
        <p:spPr>
          <a:xfrm>
            <a:off x="3742200" y="202320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9" name="Text 10"/>
          <p:cNvSpPr/>
          <p:nvPr/>
        </p:nvSpPr>
        <p:spPr>
          <a:xfrm>
            <a:off x="3593520" y="2606040"/>
            <a:ext cx="21942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armeabi-v7a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11"/>
          <p:cNvSpPr/>
          <p:nvPr/>
        </p:nvSpPr>
        <p:spPr>
          <a:xfrm>
            <a:off x="3593520" y="3063240"/>
            <a:ext cx="219420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ARM 32 bits. Dispositivos antiguos o de gama muy baja.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12"/>
          <p:cNvSpPr/>
          <p:nvPr/>
        </p:nvSpPr>
        <p:spPr>
          <a:xfrm>
            <a:off x="6181200" y="1645920"/>
            <a:ext cx="2651400" cy="31086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" name="Shape 13"/>
          <p:cNvSpPr/>
          <p:nvPr/>
        </p:nvSpPr>
        <p:spPr>
          <a:xfrm>
            <a:off x="6409800" y="1874520"/>
            <a:ext cx="594000" cy="594000"/>
          </a:xfrm>
          <a:prstGeom prst="ellipse">
            <a:avLst/>
          </a:prstGeom>
          <a:solidFill>
            <a:srgbClr val="FF7A45"/>
          </a:solidFill>
          <a:ln w="12700">
            <a:solidFill>
              <a:srgbClr val="FF7A4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03" name="Image 2" descr="preencoded.png"/>
          <p:cNvPicPr/>
          <p:nvPr/>
        </p:nvPicPr>
        <p:blipFill>
          <a:blip r:embed="rId3"/>
          <a:stretch/>
        </p:blipFill>
        <p:spPr>
          <a:xfrm>
            <a:off x="6558480" y="202320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4" name="Text 14"/>
          <p:cNvSpPr/>
          <p:nvPr/>
        </p:nvSpPr>
        <p:spPr>
          <a:xfrm>
            <a:off x="6409800" y="2606040"/>
            <a:ext cx="21942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x86_64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15"/>
          <p:cNvSpPr/>
          <p:nvPr/>
        </p:nvSpPr>
        <p:spPr>
          <a:xfrm>
            <a:off x="6409800" y="3063240"/>
            <a:ext cx="219420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Intel/AMD 64 bits. Emulador en los PC del aula.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16"/>
          <p:cNvSpPr/>
          <p:nvPr/>
        </p:nvSpPr>
        <p:spPr>
          <a:xfrm>
            <a:off x="8997840" y="1645920"/>
            <a:ext cx="2651400" cy="31086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" name="Shape 17"/>
          <p:cNvSpPr/>
          <p:nvPr/>
        </p:nvSpPr>
        <p:spPr>
          <a:xfrm>
            <a:off x="9226440" y="187452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08" name="Image 3" descr="preencoded.png"/>
          <p:cNvPicPr/>
          <p:nvPr/>
        </p:nvPicPr>
        <p:blipFill>
          <a:blip r:embed="rId4"/>
          <a:stretch/>
        </p:blipFill>
        <p:spPr>
          <a:xfrm>
            <a:off x="9374760" y="202320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9" name="Text 18"/>
          <p:cNvSpPr/>
          <p:nvPr/>
        </p:nvSpPr>
        <p:spPr>
          <a:xfrm>
            <a:off x="9226440" y="2606040"/>
            <a:ext cx="21942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x86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19"/>
          <p:cNvSpPr/>
          <p:nvPr/>
        </p:nvSpPr>
        <p:spPr>
          <a:xfrm>
            <a:off x="9226440" y="3063240"/>
            <a:ext cx="219420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Intel/AMD 32 bits. Imágenes de emulador antiguas, en desuso.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20"/>
          <p:cNvSpPr/>
          <p:nvPr/>
        </p:nvSpPr>
        <p:spPr>
          <a:xfrm>
            <a:off x="548640" y="5029200"/>
            <a:ext cx="11091240" cy="9140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 w="12700">
            <a:solidFill>
              <a:srgbClr val="EAF3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" name="Text 21"/>
          <p:cNvSpPr/>
          <p:nvPr/>
        </p:nvSpPr>
        <p:spPr>
          <a:xfrm>
            <a:off x="822960" y="5120640"/>
            <a:ext cx="105426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El emulador del aula usa x86_64 porque el PC puede ejecutar esa imagen de forma nativa con virtualización: mucho más rápido que simular un procesador ARM.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Text 0"/>
          <p:cNvSpPr/>
          <p:nvPr/>
        </p:nvSpPr>
        <p:spPr>
          <a:xfrm>
            <a:off x="548640" y="36576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150" strike="noStrike">
                <a:solidFill>
                  <a:srgbClr val="1AA35C"/>
                </a:solidFill>
                <a:effectLst/>
                <a:uFillTx/>
                <a:latin typeface="Calibri"/>
                <a:ea typeface="Calibri"/>
              </a:rPr>
              <a:t>A.5 · ¿CUÁNDO IMPORTA LA ABI?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1"/>
          <p:cNvSpPr/>
          <p:nvPr/>
        </p:nvSpPr>
        <p:spPr>
          <a:xfrm>
            <a:off x="548640" y="713160"/>
            <a:ext cx="11063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0243E"/>
                </a:solidFill>
                <a:effectLst/>
                <a:uFillTx/>
                <a:latin typeface="Cambria"/>
                <a:ea typeface="Cambria"/>
              </a:rPr>
              <a:t>Solo si la aplicación incluye código nativo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2"/>
          <p:cNvSpPr/>
          <p:nvPr/>
        </p:nvSpPr>
        <p:spPr>
          <a:xfrm>
            <a:off x="548640" y="64465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UT1 · Complemento: clasificación de dispositivos, compatibilidad y SDK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3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13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4"/>
          <p:cNvSpPr/>
          <p:nvPr/>
        </p:nvSpPr>
        <p:spPr>
          <a:xfrm>
            <a:off x="548640" y="1645920"/>
            <a:ext cx="5394600" cy="301716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" name="Shape 5"/>
          <p:cNvSpPr/>
          <p:nvPr/>
        </p:nvSpPr>
        <p:spPr>
          <a:xfrm>
            <a:off x="777240" y="187452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19" name="Image 0" descr="preencoded.png"/>
          <p:cNvPicPr/>
          <p:nvPr/>
        </p:nvPicPr>
        <p:blipFill>
          <a:blip r:embed="rId1"/>
          <a:stretch/>
        </p:blipFill>
        <p:spPr>
          <a:xfrm>
            <a:off x="925920" y="202320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" name="Text 6"/>
          <p:cNvSpPr/>
          <p:nvPr/>
        </p:nvSpPr>
        <p:spPr>
          <a:xfrm>
            <a:off x="777240" y="2606040"/>
            <a:ext cx="49374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App solo en Kotlin o Java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7"/>
          <p:cNvSpPr/>
          <p:nvPr/>
        </p:nvSpPr>
        <p:spPr>
          <a:xfrm>
            <a:off x="777240" y="3063240"/>
            <a:ext cx="493740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Se compila a DEX, un formato intermedio que el Android Runtime traduce en cada dispositivo.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Funciona igual en ARM y en x86_64.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8"/>
          <p:cNvSpPr/>
          <p:nvPr/>
        </p:nvSpPr>
        <p:spPr>
          <a:xfrm>
            <a:off x="6245280" y="1645920"/>
            <a:ext cx="5394600" cy="301716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" name="Shape 9"/>
          <p:cNvSpPr/>
          <p:nvPr/>
        </p:nvSpPr>
        <p:spPr>
          <a:xfrm>
            <a:off x="6473880" y="1874520"/>
            <a:ext cx="594000" cy="594000"/>
          </a:xfrm>
          <a:prstGeom prst="ellipse">
            <a:avLst/>
          </a:prstGeom>
          <a:solidFill>
            <a:srgbClr val="FF7A45"/>
          </a:solidFill>
          <a:ln w="12700">
            <a:solidFill>
              <a:srgbClr val="FF7A4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24" name="Image 1" descr="preencoded.png"/>
          <p:cNvPicPr/>
          <p:nvPr/>
        </p:nvPicPr>
        <p:blipFill>
          <a:blip r:embed="rId2"/>
          <a:stretch/>
        </p:blipFill>
        <p:spPr>
          <a:xfrm>
            <a:off x="6622560" y="202320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5" name="Text 10"/>
          <p:cNvSpPr/>
          <p:nvPr/>
        </p:nvSpPr>
        <p:spPr>
          <a:xfrm>
            <a:off x="6473880" y="2606040"/>
            <a:ext cx="49374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App con código C o C++ (NDK)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11"/>
          <p:cNvSpPr/>
          <p:nvPr/>
        </p:nvSpPr>
        <p:spPr>
          <a:xfrm>
            <a:off x="6473880" y="3063240"/>
            <a:ext cx="493740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Se compila a instrucciones de un procesador concreto: hace falta una versión por cada ABI.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Habitual en juegos y multimedia.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12"/>
          <p:cNvSpPr/>
          <p:nvPr/>
        </p:nvSpPr>
        <p:spPr>
          <a:xfrm>
            <a:off x="548640" y="4937760"/>
            <a:ext cx="11091240" cy="9140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 w="12700">
            <a:solidFill>
              <a:srgbClr val="EAF3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" name="Text 13"/>
          <p:cNvSpPr/>
          <p:nvPr/>
        </p:nvSpPr>
        <p:spPr>
          <a:xfrm>
            <a:off x="822960" y="5029200"/>
            <a:ext cx="105426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Google Play exige que exista siempre la versión de 64 bits del código nativo.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Text 0"/>
          <p:cNvSpPr/>
          <p:nvPr/>
        </p:nvSpPr>
        <p:spPr>
          <a:xfrm>
            <a:off x="548640" y="36576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150" strike="noStrike">
                <a:solidFill>
                  <a:srgbClr val="1AA35C"/>
                </a:solidFill>
                <a:effectLst/>
                <a:uFillTx/>
                <a:latin typeface="Calibri"/>
                <a:ea typeface="Calibri"/>
              </a:rPr>
              <a:t>A.6 · OTRAS CARACTERÍSTICAS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1"/>
          <p:cNvSpPr/>
          <p:nvPr/>
        </p:nvSpPr>
        <p:spPr>
          <a:xfrm>
            <a:off x="548640" y="713160"/>
            <a:ext cx="11063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0243E"/>
                </a:solidFill>
                <a:effectLst/>
                <a:uFillTx/>
                <a:latin typeface="Cambria"/>
                <a:ea typeface="Cambria"/>
              </a:rPr>
              <a:t>Lo que el sistema compara con la aplicación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2"/>
          <p:cNvSpPr/>
          <p:nvPr/>
        </p:nvSpPr>
        <p:spPr>
          <a:xfrm>
            <a:off x="548640" y="64465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UT1 · Complemento: clasificación de dispositivos, compatibilidad y SDK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3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14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4"/>
          <p:cNvSpPr/>
          <p:nvPr/>
        </p:nvSpPr>
        <p:spPr>
          <a:xfrm>
            <a:off x="548640" y="1691640"/>
            <a:ext cx="3520080" cy="32914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" name="Shape 5"/>
          <p:cNvSpPr/>
          <p:nvPr/>
        </p:nvSpPr>
        <p:spPr>
          <a:xfrm>
            <a:off x="777240" y="192024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35" name="Image 0" descr="preencoded.png"/>
          <p:cNvPicPr/>
          <p:nvPr/>
        </p:nvPicPr>
        <p:blipFill>
          <a:blip r:embed="rId1"/>
          <a:stretch/>
        </p:blipFill>
        <p:spPr>
          <a:xfrm>
            <a:off x="925920" y="206892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" name="Text 6"/>
          <p:cNvSpPr/>
          <p:nvPr/>
        </p:nvSpPr>
        <p:spPr>
          <a:xfrm>
            <a:off x="777240" y="2651760"/>
            <a:ext cx="30628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Hardware opcional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7"/>
          <p:cNvSpPr/>
          <p:nvPr/>
        </p:nvSpPr>
        <p:spPr>
          <a:xfrm>
            <a:off x="777240" y="3108960"/>
            <a:ext cx="30628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Cámara, telefonía, NFC, GPS, sensores concretos.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8"/>
          <p:cNvSpPr/>
          <p:nvPr/>
        </p:nvSpPr>
        <p:spPr>
          <a:xfrm>
            <a:off x="4334400" y="1691640"/>
            <a:ext cx="3520080" cy="32914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" name="Shape 9"/>
          <p:cNvSpPr/>
          <p:nvPr/>
        </p:nvSpPr>
        <p:spPr>
          <a:xfrm>
            <a:off x="4563000" y="192024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40" name="Image 1" descr="preencoded.png"/>
          <p:cNvPicPr/>
          <p:nvPr/>
        </p:nvPicPr>
        <p:blipFill>
          <a:blip r:embed="rId2"/>
          <a:stretch/>
        </p:blipFill>
        <p:spPr>
          <a:xfrm>
            <a:off x="4711320" y="206892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1" name="Text 10"/>
          <p:cNvSpPr/>
          <p:nvPr/>
        </p:nvSpPr>
        <p:spPr>
          <a:xfrm>
            <a:off x="4563000" y="2651760"/>
            <a:ext cx="30628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Memoria RAM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11"/>
          <p:cNvSpPr/>
          <p:nvPr/>
        </p:nvSpPr>
        <p:spPr>
          <a:xfrm>
            <a:off x="4563000" y="3108960"/>
            <a:ext cx="30628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Condiciona cuántas apps se mantienen abiertas y el rendimiento.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12"/>
          <p:cNvSpPr/>
          <p:nvPr/>
        </p:nvSpPr>
        <p:spPr>
          <a:xfrm>
            <a:off x="8119800" y="1691640"/>
            <a:ext cx="3520080" cy="32914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" name="Shape 13"/>
          <p:cNvSpPr/>
          <p:nvPr/>
        </p:nvSpPr>
        <p:spPr>
          <a:xfrm>
            <a:off x="8348400" y="192024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45" name="Image 2" descr="preencoded.png"/>
          <p:cNvPicPr/>
          <p:nvPr/>
        </p:nvPicPr>
        <p:blipFill>
          <a:blip r:embed="rId3"/>
          <a:stretch/>
        </p:blipFill>
        <p:spPr>
          <a:xfrm>
            <a:off x="8497080" y="206892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6" name="Text 14"/>
          <p:cNvSpPr/>
          <p:nvPr/>
        </p:nvSpPr>
        <p:spPr>
          <a:xfrm>
            <a:off x="8348400" y="2651760"/>
            <a:ext cx="30628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Factor de forma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15"/>
          <p:cNvSpPr/>
          <p:nvPr/>
        </p:nvSpPr>
        <p:spPr>
          <a:xfrm>
            <a:off x="8348400" y="3108960"/>
            <a:ext cx="30628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Teléfono, tablet, plegable, reloj, televisor o coche.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16"/>
          <p:cNvSpPr/>
          <p:nvPr/>
        </p:nvSpPr>
        <p:spPr>
          <a:xfrm>
            <a:off x="548640" y="5303520"/>
            <a:ext cx="11063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Estas características son las que el sistema o la tienda comparan con los requisitos de la aplicación.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2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Shape 0"/>
          <p:cNvSpPr/>
          <p:nvPr/>
        </p:nvSpPr>
        <p:spPr>
          <a:xfrm>
            <a:off x="5660280" y="1737360"/>
            <a:ext cx="868320" cy="86832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50" name="Image 0" descr="preencoded.png"/>
          <p:cNvPicPr/>
          <p:nvPr/>
        </p:nvPicPr>
        <p:blipFill>
          <a:blip r:embed="rId1"/>
          <a:stretch/>
        </p:blipFill>
        <p:spPr>
          <a:xfrm>
            <a:off x="5877360" y="1954440"/>
            <a:ext cx="434160" cy="434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1" name="Text 1"/>
          <p:cNvSpPr/>
          <p:nvPr/>
        </p:nvSpPr>
        <p:spPr>
          <a:xfrm>
            <a:off x="548640" y="2788920"/>
            <a:ext cx="1109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300" strike="noStrike">
                <a:solidFill>
                  <a:srgbClr val="3DDC84"/>
                </a:solidFill>
                <a:effectLst/>
                <a:uFillTx/>
                <a:latin typeface="Calibri"/>
                <a:ea typeface="Calibri"/>
              </a:rPr>
              <a:t>BLOQUE B</a:t>
            </a: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2"/>
          <p:cNvSpPr/>
          <p:nvPr/>
        </p:nvSpPr>
        <p:spPr>
          <a:xfrm>
            <a:off x="1097280" y="3154680"/>
            <a:ext cx="99939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Relación entre el dispositivo y la aplicación</a:t>
            </a:r>
            <a:endParaRPr lang="es-E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3"/>
          <p:cNvSpPr/>
          <p:nvPr/>
        </p:nvSpPr>
        <p:spPr>
          <a:xfrm>
            <a:off x="1097280" y="4297680"/>
            <a:ext cx="99939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7D2E0"/>
                </a:solidFill>
                <a:effectLst/>
                <a:uFillTx/>
                <a:latin typeface="Calibri"/>
                <a:ea typeface="Calibri"/>
              </a:rPr>
              <a:t>Perfiles de compatibilidad: quién puede instalar qué</a:t>
            </a: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4"/>
          <p:cNvSpPr/>
          <p:nvPr/>
        </p:nvSpPr>
        <p:spPr>
          <a:xfrm>
            <a:off x="548640" y="64465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FB0C6"/>
                </a:solidFill>
                <a:effectLst/>
                <a:uFillTx/>
                <a:latin typeface="Calibri"/>
                <a:ea typeface="Calibri"/>
              </a:rPr>
              <a:t>UT1 · Complemento: clasificación de dispositivos, compatibilidad y SDK</a:t>
            </a:r>
            <a:endParaRPr lang="es-E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5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FB0C6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es-E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Text 0"/>
          <p:cNvSpPr/>
          <p:nvPr/>
        </p:nvSpPr>
        <p:spPr>
          <a:xfrm>
            <a:off x="548640" y="36576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150" strike="noStrike">
                <a:solidFill>
                  <a:srgbClr val="1AA35C"/>
                </a:solidFill>
                <a:effectLst/>
                <a:uFillTx/>
                <a:latin typeface="Calibri"/>
                <a:ea typeface="Calibri"/>
              </a:rPr>
              <a:t>B.1 · LA IDEA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1"/>
          <p:cNvSpPr/>
          <p:nvPr/>
        </p:nvSpPr>
        <p:spPr>
          <a:xfrm>
            <a:off x="548640" y="713160"/>
            <a:ext cx="11063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0243E"/>
                </a:solidFill>
                <a:effectLst/>
                <a:uFillTx/>
                <a:latin typeface="Cambria"/>
                <a:ea typeface="Cambria"/>
              </a:rPr>
              <a:t>Tres pasos para decidir la compatibilidad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2"/>
          <p:cNvSpPr/>
          <p:nvPr/>
        </p:nvSpPr>
        <p:spPr>
          <a:xfrm>
            <a:off x="548640" y="64465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UT1 · Complemento: clasificación de dispositivos, compatibilidad y SDK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3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16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4"/>
          <p:cNvSpPr/>
          <p:nvPr/>
        </p:nvSpPr>
        <p:spPr>
          <a:xfrm>
            <a:off x="548640" y="1737360"/>
            <a:ext cx="3382920" cy="310860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" name="Shape 5"/>
          <p:cNvSpPr/>
          <p:nvPr/>
        </p:nvSpPr>
        <p:spPr>
          <a:xfrm>
            <a:off x="777240" y="196596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62" name="Image 0" descr="preencoded.png"/>
          <p:cNvPicPr/>
          <p:nvPr/>
        </p:nvPicPr>
        <p:blipFill>
          <a:blip r:embed="rId1"/>
          <a:stretch/>
        </p:blipFill>
        <p:spPr>
          <a:xfrm>
            <a:off x="925920" y="211464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3" name="Text 6"/>
          <p:cNvSpPr/>
          <p:nvPr/>
        </p:nvSpPr>
        <p:spPr>
          <a:xfrm>
            <a:off x="777240" y="2697480"/>
            <a:ext cx="29257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1. La app declara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7"/>
          <p:cNvSpPr/>
          <p:nvPr/>
        </p:nvSpPr>
        <p:spPr>
          <a:xfrm>
            <a:off x="777240" y="3154680"/>
            <a:ext cx="292572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Qué necesita: versión mínima, hardware, ABI.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5" name="Image 1" descr="preencoded.png"/>
          <p:cNvPicPr/>
          <p:nvPr/>
        </p:nvPicPr>
        <p:blipFill>
          <a:blip r:embed="rId2"/>
          <a:stretch/>
        </p:blipFill>
        <p:spPr>
          <a:xfrm>
            <a:off x="4005000" y="3063240"/>
            <a:ext cx="411120" cy="411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6" name="Shape 8"/>
          <p:cNvSpPr/>
          <p:nvPr/>
        </p:nvSpPr>
        <p:spPr>
          <a:xfrm>
            <a:off x="4398120" y="1737360"/>
            <a:ext cx="3382920" cy="310860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7" name="Shape 9"/>
          <p:cNvSpPr/>
          <p:nvPr/>
        </p:nvSpPr>
        <p:spPr>
          <a:xfrm>
            <a:off x="4626720" y="196596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68" name="Image 2" descr="preencoded.png"/>
          <p:cNvPicPr/>
          <p:nvPr/>
        </p:nvPicPr>
        <p:blipFill>
          <a:blip r:embed="rId3"/>
          <a:stretch/>
        </p:blipFill>
        <p:spPr>
          <a:xfrm>
            <a:off x="4775400" y="211464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Text 10"/>
          <p:cNvSpPr/>
          <p:nvPr/>
        </p:nvSpPr>
        <p:spPr>
          <a:xfrm>
            <a:off x="4626720" y="2697480"/>
            <a:ext cx="29257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2. El dispositivo ofrece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11"/>
          <p:cNvSpPr/>
          <p:nvPr/>
        </p:nvSpPr>
        <p:spPr>
          <a:xfrm>
            <a:off x="4626720" y="3154680"/>
            <a:ext cx="292572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Lo que tiene: nivel de API, hardware, procesador.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1" name="Image 3" descr="preencoded.png"/>
          <p:cNvPicPr/>
          <p:nvPr/>
        </p:nvPicPr>
        <p:blipFill>
          <a:blip r:embed="rId4"/>
          <a:stretch/>
        </p:blipFill>
        <p:spPr>
          <a:xfrm>
            <a:off x="7854840" y="3063240"/>
            <a:ext cx="411120" cy="411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2" name="Shape 12"/>
          <p:cNvSpPr/>
          <p:nvPr/>
        </p:nvSpPr>
        <p:spPr>
          <a:xfrm>
            <a:off x="8247960" y="1737360"/>
            <a:ext cx="3382920" cy="310860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3" name="Shape 13"/>
          <p:cNvSpPr/>
          <p:nvPr/>
        </p:nvSpPr>
        <p:spPr>
          <a:xfrm>
            <a:off x="8476560" y="196596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74" name="Image 4" descr="preencoded.png"/>
          <p:cNvPicPr/>
          <p:nvPr/>
        </p:nvPicPr>
        <p:blipFill>
          <a:blip r:embed="rId5"/>
          <a:stretch/>
        </p:blipFill>
        <p:spPr>
          <a:xfrm>
            <a:off x="8625240" y="211464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5" name="Text 14"/>
          <p:cNvSpPr/>
          <p:nvPr/>
        </p:nvSpPr>
        <p:spPr>
          <a:xfrm>
            <a:off x="8476560" y="2697480"/>
            <a:ext cx="29257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3. Se comparan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5"/>
          <p:cNvSpPr/>
          <p:nvPr/>
        </p:nvSpPr>
        <p:spPr>
          <a:xfrm>
            <a:off x="8476560" y="3154680"/>
            <a:ext cx="292572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El sistema al instalar o la tienda al mostrar la app.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Shape 16"/>
          <p:cNvSpPr/>
          <p:nvPr/>
        </p:nvSpPr>
        <p:spPr>
          <a:xfrm>
            <a:off x="548640" y="5166360"/>
            <a:ext cx="11091240" cy="776880"/>
          </a:xfrm>
          <a:prstGeom prst="roundRect">
            <a:avLst>
              <a:gd name="adj" fmla="val 7059"/>
            </a:avLst>
          </a:prstGeom>
          <a:solidFill>
            <a:srgbClr val="EAF3FF"/>
          </a:solidFill>
          <a:ln w="12700">
            <a:solidFill>
              <a:srgbClr val="EAF3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8" name="Text 17"/>
          <p:cNvSpPr/>
          <p:nvPr/>
        </p:nvSpPr>
        <p:spPr>
          <a:xfrm>
            <a:off x="822960" y="5257800"/>
            <a:ext cx="105426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Si algo que la app exige no está en el dispositivo, no se instala o no aparece en la tienda.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Text 0"/>
          <p:cNvSpPr/>
          <p:nvPr/>
        </p:nvSpPr>
        <p:spPr>
          <a:xfrm>
            <a:off x="548640" y="36576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150" strike="noStrike">
                <a:solidFill>
                  <a:srgbClr val="1AA35C"/>
                </a:solidFill>
                <a:effectLst/>
                <a:uFillTx/>
                <a:latin typeface="Calibri"/>
                <a:ea typeface="Calibri"/>
              </a:rPr>
              <a:t>B.2 · LOS TRES NIVELES DE API DEL PROYECTO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1"/>
          <p:cNvSpPr/>
          <p:nvPr/>
        </p:nvSpPr>
        <p:spPr>
          <a:xfrm>
            <a:off x="548640" y="713160"/>
            <a:ext cx="11063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0243E"/>
                </a:solidFill>
                <a:effectLst/>
                <a:uFillTx/>
                <a:latin typeface="Cambria"/>
                <a:ea typeface="Cambria"/>
              </a:rPr>
              <a:t>minSdk, targetSdk y compileSdk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2"/>
          <p:cNvSpPr/>
          <p:nvPr/>
        </p:nvSpPr>
        <p:spPr>
          <a:xfrm>
            <a:off x="548640" y="64465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UT1 · Complemento: clasificación de dispositivos, compatibilidad y SDK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3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4"/>
          <p:cNvSpPr/>
          <p:nvPr/>
        </p:nvSpPr>
        <p:spPr>
          <a:xfrm>
            <a:off x="548640" y="1645920"/>
            <a:ext cx="3520080" cy="384012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4" name="Shape 5"/>
          <p:cNvSpPr/>
          <p:nvPr/>
        </p:nvSpPr>
        <p:spPr>
          <a:xfrm>
            <a:off x="777240" y="187452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85" name="Image 0" descr="preencoded.png"/>
          <p:cNvPicPr/>
          <p:nvPr/>
        </p:nvPicPr>
        <p:blipFill>
          <a:blip r:embed="rId1"/>
          <a:stretch/>
        </p:blipFill>
        <p:spPr>
          <a:xfrm>
            <a:off x="925920" y="202320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6" name="Text 6"/>
          <p:cNvSpPr/>
          <p:nvPr/>
        </p:nvSpPr>
        <p:spPr>
          <a:xfrm>
            <a:off x="777240" y="2606040"/>
            <a:ext cx="30628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minSdk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7"/>
          <p:cNvSpPr/>
          <p:nvPr/>
        </p:nvSpPr>
        <p:spPr>
          <a:xfrm>
            <a:off x="777240" y="3063240"/>
            <a:ext cx="306288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Nivel mínimo para funcionar.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Si el dispositivo tiene uno menor, no se instala y Google Play no la muestra.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8"/>
          <p:cNvSpPr/>
          <p:nvPr/>
        </p:nvSpPr>
        <p:spPr>
          <a:xfrm>
            <a:off x="4334400" y="1645920"/>
            <a:ext cx="3520080" cy="384012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9" name="Shape 9"/>
          <p:cNvSpPr/>
          <p:nvPr/>
        </p:nvSpPr>
        <p:spPr>
          <a:xfrm>
            <a:off x="4563000" y="187452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90" name="Image 1" descr="preencoded.png"/>
          <p:cNvPicPr/>
          <p:nvPr/>
        </p:nvPicPr>
        <p:blipFill>
          <a:blip r:embed="rId2"/>
          <a:stretch/>
        </p:blipFill>
        <p:spPr>
          <a:xfrm>
            <a:off x="4711320" y="202320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1" name="Text 10"/>
          <p:cNvSpPr/>
          <p:nvPr/>
        </p:nvSpPr>
        <p:spPr>
          <a:xfrm>
            <a:off x="4563000" y="2606040"/>
            <a:ext cx="30628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targetSdk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11"/>
          <p:cNvSpPr/>
          <p:nvPr/>
        </p:nvSpPr>
        <p:spPr>
          <a:xfrm>
            <a:off x="4563000" y="3063240"/>
            <a:ext cx="306288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Versión para la que se ha diseñado y probado.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El sistema aplica los comportamientos de esa versión.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Shape 12"/>
          <p:cNvSpPr/>
          <p:nvPr/>
        </p:nvSpPr>
        <p:spPr>
          <a:xfrm>
            <a:off x="8119800" y="1645920"/>
            <a:ext cx="3520080" cy="384012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4" name="Shape 13"/>
          <p:cNvSpPr/>
          <p:nvPr/>
        </p:nvSpPr>
        <p:spPr>
          <a:xfrm>
            <a:off x="8348400" y="187452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95" name="Image 2" descr="preencoded.png"/>
          <p:cNvPicPr/>
          <p:nvPr/>
        </p:nvPicPr>
        <p:blipFill>
          <a:blip r:embed="rId3"/>
          <a:stretch/>
        </p:blipFill>
        <p:spPr>
          <a:xfrm>
            <a:off x="8497080" y="202320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6" name="Text 14"/>
          <p:cNvSpPr/>
          <p:nvPr/>
        </p:nvSpPr>
        <p:spPr>
          <a:xfrm>
            <a:off x="8348400" y="2606040"/>
            <a:ext cx="30628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compileSdk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15"/>
          <p:cNvSpPr/>
          <p:nvPr/>
        </p:nvSpPr>
        <p:spPr>
          <a:xfrm>
            <a:off x="8348400" y="3063240"/>
            <a:ext cx="306288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Versión del SDK con la que se compila.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Decide qué funciones se pueden usar al programar. No viaja con la app.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16"/>
          <p:cNvSpPr/>
          <p:nvPr/>
        </p:nvSpPr>
        <p:spPr>
          <a:xfrm>
            <a:off x="548640" y="5669280"/>
            <a:ext cx="11091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AA35C"/>
                </a:solidFill>
                <a:effectLst/>
                <a:uFillTx/>
                <a:latin typeface="Courier New"/>
                <a:ea typeface="Courier New"/>
              </a:rPr>
              <a:t>minSdk  ≤  targetSdk  ≤  compileSdk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Text 0"/>
          <p:cNvSpPr/>
          <p:nvPr/>
        </p:nvSpPr>
        <p:spPr>
          <a:xfrm>
            <a:off x="548640" y="36576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150" strike="noStrike">
                <a:solidFill>
                  <a:srgbClr val="1AA35C"/>
                </a:solidFill>
                <a:effectLst/>
                <a:uFillTx/>
                <a:latin typeface="Calibri"/>
                <a:ea typeface="Calibri"/>
              </a:rPr>
              <a:t>B.2 · DÓNDE SE CONFIGURAN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1"/>
          <p:cNvSpPr/>
          <p:nvPr/>
        </p:nvSpPr>
        <p:spPr>
          <a:xfrm>
            <a:off x="548640" y="713160"/>
            <a:ext cx="11063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0243E"/>
                </a:solidFill>
                <a:effectLst/>
                <a:uFillTx/>
                <a:latin typeface="Cambria"/>
                <a:ea typeface="Cambria"/>
              </a:rPr>
              <a:t>app/build.gradle.kts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2"/>
          <p:cNvSpPr/>
          <p:nvPr/>
        </p:nvSpPr>
        <p:spPr>
          <a:xfrm>
            <a:off x="548640" y="64465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UT1 · Complemento: clasificación de dispositivos, compatibilidad y SDK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3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19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Shape 4"/>
          <p:cNvSpPr/>
          <p:nvPr/>
        </p:nvSpPr>
        <p:spPr>
          <a:xfrm>
            <a:off x="548640" y="1645920"/>
            <a:ext cx="6034680" cy="3657240"/>
          </a:xfrm>
          <a:prstGeom prst="roundRect">
            <a:avLst>
              <a:gd name="adj" fmla="val 1500"/>
            </a:avLst>
          </a:prstGeom>
          <a:solidFill>
            <a:srgbClr val="1A2733"/>
          </a:solidFill>
          <a:ln w="12700">
            <a:solidFill>
              <a:srgbClr val="1A27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4" name="Text 5"/>
          <p:cNvSpPr/>
          <p:nvPr/>
        </p:nvSpPr>
        <p:spPr>
          <a:xfrm>
            <a:off x="822960" y="1783080"/>
            <a:ext cx="548604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6EDF3"/>
                </a:solidFill>
                <a:effectLst/>
                <a:uFillTx/>
                <a:latin typeface="Courier New"/>
                <a:ea typeface="Courier New"/>
              </a:rPr>
              <a:t>android {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6EDF3"/>
                </a:solidFill>
                <a:effectLst/>
                <a:uFillTx/>
                <a:latin typeface="Courier New"/>
                <a:ea typeface="Courier New"/>
              </a:rPr>
              <a:t>  namespace = "com.cifpsantacatalina..."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6EDF3"/>
                </a:solidFill>
                <a:effectLst/>
                <a:uFillTx/>
                <a:latin typeface="Courier New"/>
                <a:ea typeface="Courier New"/>
              </a:rPr>
              <a:t>  compileSdk = 36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6EDF3"/>
                </a:solidFill>
                <a:effectLst/>
                <a:uFillTx/>
                <a:latin typeface="Courier New"/>
                <a:ea typeface="Courier New"/>
              </a:rPr>
              <a:t>  defaultConfig {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6EDF3"/>
                </a:solidFill>
                <a:effectLst/>
                <a:uFillTx/>
                <a:latin typeface="Courier New"/>
                <a:ea typeface="Courier New"/>
              </a:rPr>
              <a:t>    applicationId = "com.cifpsantacatalina..."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6EDF3"/>
                </a:solidFill>
                <a:effectLst/>
                <a:uFillTx/>
                <a:latin typeface="Courier New"/>
                <a:ea typeface="Courier New"/>
              </a:rPr>
              <a:t>    minSdk = 24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6EDF3"/>
                </a:solidFill>
                <a:effectLst/>
                <a:uFillTx/>
                <a:latin typeface="Courier New"/>
                <a:ea typeface="Courier New"/>
              </a:rPr>
              <a:t>    targetSdk = 36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6EDF3"/>
                </a:solidFill>
                <a:effectLst/>
                <a:uFillTx/>
                <a:latin typeface="Courier New"/>
                <a:ea typeface="Courier New"/>
              </a:rPr>
              <a:t>    versionCode = 1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6EDF3"/>
                </a:solidFill>
                <a:effectLst/>
                <a:uFillTx/>
                <a:latin typeface="Courier New"/>
                <a:ea typeface="Courier New"/>
              </a:rPr>
              <a:t>    versionName = "1.0"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6EDF3"/>
                </a:solidFill>
                <a:effectLst/>
                <a:uFillTx/>
                <a:latin typeface="Courier New"/>
                <a:ea typeface="Courier New"/>
              </a:rPr>
              <a:t>  }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6EDF3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6"/>
          <p:cNvSpPr/>
          <p:nvPr/>
        </p:nvSpPr>
        <p:spPr>
          <a:xfrm>
            <a:off x="6949440" y="1691640"/>
            <a:ext cx="502560" cy="50256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06" name="Image 0" descr="preencoded.png"/>
          <p:cNvPicPr/>
          <p:nvPr/>
        </p:nvPicPr>
        <p:blipFill>
          <a:blip r:embed="rId1"/>
          <a:stretch/>
        </p:blipFill>
        <p:spPr>
          <a:xfrm>
            <a:off x="7075080" y="1817280"/>
            <a:ext cx="251280" cy="2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7" name="Text 7"/>
          <p:cNvSpPr/>
          <p:nvPr/>
        </p:nvSpPr>
        <p:spPr>
          <a:xfrm>
            <a:off x="7680960" y="1673280"/>
            <a:ext cx="3931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Manifiesto fusionado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8"/>
          <p:cNvSpPr/>
          <p:nvPr/>
        </p:nvSpPr>
        <p:spPr>
          <a:xfrm>
            <a:off x="7680960" y="2039040"/>
            <a:ext cx="39315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Al compilar, estos valores se copian al manifiesto final, que es el que lee el sistema.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9"/>
          <p:cNvSpPr/>
          <p:nvPr/>
        </p:nvSpPr>
        <p:spPr>
          <a:xfrm>
            <a:off x="6949440" y="3063240"/>
            <a:ext cx="502560" cy="502560"/>
          </a:xfrm>
          <a:prstGeom prst="ellipse">
            <a:avLst/>
          </a:prstGeom>
          <a:solidFill>
            <a:srgbClr val="FF7A45"/>
          </a:solidFill>
          <a:ln w="12700">
            <a:solidFill>
              <a:srgbClr val="FF7A4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10" name="Image 1" descr="preencoded.png"/>
          <p:cNvPicPr/>
          <p:nvPr/>
        </p:nvPicPr>
        <p:blipFill>
          <a:blip r:embed="rId2"/>
          <a:stretch/>
        </p:blipFill>
        <p:spPr>
          <a:xfrm>
            <a:off x="7075080" y="3188880"/>
            <a:ext cx="251280" cy="2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1" name="Text 10"/>
          <p:cNvSpPr/>
          <p:nvPr/>
        </p:nvSpPr>
        <p:spPr>
          <a:xfrm>
            <a:off x="7680960" y="3044880"/>
            <a:ext cx="3931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Si no cumple el minSdk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11"/>
          <p:cNvSpPr/>
          <p:nvPr/>
        </p:nvSpPr>
        <p:spPr>
          <a:xfrm>
            <a:off x="7680960" y="3410640"/>
            <a:ext cx="39315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La instalación falla con INSTALL_FAILED_OLDER_SDK.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Shape 12"/>
          <p:cNvSpPr/>
          <p:nvPr/>
        </p:nvSpPr>
        <p:spPr>
          <a:xfrm>
            <a:off x="6949440" y="4434840"/>
            <a:ext cx="502560" cy="50256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14" name="Image 2" descr="preencoded.png"/>
          <p:cNvPicPr/>
          <p:nvPr/>
        </p:nvPicPr>
        <p:blipFill>
          <a:blip r:embed="rId3"/>
          <a:stretch/>
        </p:blipFill>
        <p:spPr>
          <a:xfrm>
            <a:off x="7075080" y="4560480"/>
            <a:ext cx="251280" cy="2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5" name="Text 13"/>
          <p:cNvSpPr/>
          <p:nvPr/>
        </p:nvSpPr>
        <p:spPr>
          <a:xfrm>
            <a:off x="7680960" y="4416480"/>
            <a:ext cx="3931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Plantillas recientes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14"/>
          <p:cNvSpPr/>
          <p:nvPr/>
        </p:nvSpPr>
        <p:spPr>
          <a:xfrm>
            <a:off x="7680960" y="4782240"/>
            <a:ext cx="39315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compileSdk puede aparecer como compileSdk { version = release(36) }.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Text 0"/>
          <p:cNvSpPr/>
          <p:nvPr/>
        </p:nvSpPr>
        <p:spPr>
          <a:xfrm>
            <a:off x="548640" y="36576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150" strike="noStrike">
                <a:solidFill>
                  <a:srgbClr val="1AA35C"/>
                </a:solidFill>
                <a:effectLst/>
                <a:uFillTx/>
                <a:latin typeface="Calibri"/>
                <a:ea typeface="Calibri"/>
              </a:rPr>
              <a:t>B.2 · POR QUÉ IMPORTA EL TARGETSDK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1"/>
          <p:cNvSpPr/>
          <p:nvPr/>
        </p:nvSpPr>
        <p:spPr>
          <a:xfrm>
            <a:off x="548640" y="713160"/>
            <a:ext cx="11063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0243E"/>
                </a:solidFill>
                <a:effectLst/>
                <a:uFillTx/>
                <a:latin typeface="Cambria"/>
                <a:ea typeface="Cambria"/>
              </a:rPr>
              <a:t>Un ejemplo actual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2"/>
          <p:cNvSpPr/>
          <p:nvPr/>
        </p:nvSpPr>
        <p:spPr>
          <a:xfrm>
            <a:off x="548640" y="64465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UT1 · Complemento: clasificación de dispositivos, compatibilidad y SDK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3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20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Shape 4"/>
          <p:cNvSpPr/>
          <p:nvPr/>
        </p:nvSpPr>
        <p:spPr>
          <a:xfrm>
            <a:off x="548640" y="1645920"/>
            <a:ext cx="4205880" cy="3931560"/>
          </a:xfrm>
          <a:prstGeom prst="roundRect">
            <a:avLst>
              <a:gd name="adj" fmla="val 1860"/>
            </a:avLst>
          </a:prstGeom>
          <a:solidFill>
            <a:srgbClr val="10243E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2" name="Text 5"/>
          <p:cNvSpPr/>
          <p:nvPr/>
        </p:nvSpPr>
        <p:spPr>
          <a:xfrm>
            <a:off x="822960" y="1874520"/>
            <a:ext cx="3657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C7D2E0"/>
                </a:solidFill>
                <a:effectLst/>
                <a:uFillTx/>
                <a:latin typeface="Calibri"/>
                <a:ea typeface="Calibri"/>
              </a:rPr>
              <a:t>Desde el 31/08/2026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6"/>
          <p:cNvSpPr/>
          <p:nvPr/>
        </p:nvSpPr>
        <p:spPr>
          <a:xfrm>
            <a:off x="822960" y="2377440"/>
            <a:ext cx="3657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3DDC84"/>
                </a:solidFill>
                <a:effectLst/>
                <a:uFillTx/>
                <a:latin typeface="Cambria"/>
                <a:ea typeface="Cambria"/>
              </a:rPr>
              <a:t>targetSdk ≥ 36</a:t>
            </a:r>
            <a:endParaRPr lang="es-E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7"/>
          <p:cNvSpPr/>
          <p:nvPr/>
        </p:nvSpPr>
        <p:spPr>
          <a:xfrm>
            <a:off x="822960" y="3337560"/>
            <a:ext cx="365724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Requisito de Google Play para las apps nuevas y sus actualizaciones. Relojes, coches y televisores tienen requisitos algo menores.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Shape 8"/>
          <p:cNvSpPr/>
          <p:nvPr/>
        </p:nvSpPr>
        <p:spPr>
          <a:xfrm>
            <a:off x="5120640" y="1737360"/>
            <a:ext cx="502560" cy="502560"/>
          </a:xfrm>
          <a:prstGeom prst="ellipse">
            <a:avLst/>
          </a:prstGeom>
          <a:solidFill>
            <a:srgbClr val="FF7A45"/>
          </a:solidFill>
          <a:ln w="12700">
            <a:solidFill>
              <a:srgbClr val="FF7A4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26" name="Image 0" descr="preencoded.png"/>
          <p:cNvPicPr/>
          <p:nvPr/>
        </p:nvPicPr>
        <p:blipFill>
          <a:blip r:embed="rId1"/>
          <a:stretch/>
        </p:blipFill>
        <p:spPr>
          <a:xfrm>
            <a:off x="5246280" y="1863000"/>
            <a:ext cx="251280" cy="2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7" name="Text 9"/>
          <p:cNvSpPr/>
          <p:nvPr/>
        </p:nvSpPr>
        <p:spPr>
          <a:xfrm>
            <a:off x="5852160" y="1719000"/>
            <a:ext cx="5760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Subirlo no es cambiar un número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10"/>
          <p:cNvSpPr/>
          <p:nvPr/>
        </p:nvSpPr>
        <p:spPr>
          <a:xfrm>
            <a:off x="5852160" y="2084760"/>
            <a:ext cx="5760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Activa los comportamientos nuevos de esa versión.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Shape 11"/>
          <p:cNvSpPr/>
          <p:nvPr/>
        </p:nvSpPr>
        <p:spPr>
          <a:xfrm>
            <a:off x="5120640" y="2926080"/>
            <a:ext cx="502560" cy="50256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30" name="Image 1" descr="preencoded.png"/>
          <p:cNvPicPr/>
          <p:nvPr/>
        </p:nvPicPr>
        <p:blipFill>
          <a:blip r:embed="rId2"/>
          <a:stretch/>
        </p:blipFill>
        <p:spPr>
          <a:xfrm>
            <a:off x="5246280" y="3051720"/>
            <a:ext cx="251280" cy="2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1" name="Text 12"/>
          <p:cNvSpPr/>
          <p:nvPr/>
        </p:nvSpPr>
        <p:spPr>
          <a:xfrm>
            <a:off x="5852160" y="2907720"/>
            <a:ext cx="5760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Android 16 en pantallas grandes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13"/>
          <p:cNvSpPr/>
          <p:nvPr/>
        </p:nvSpPr>
        <p:spPr>
          <a:xfrm>
            <a:off x="5852160" y="3273480"/>
            <a:ext cx="5760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Ignora las restricciones de orientación y de redimensionado de las apps que apuntan a esa versión.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14"/>
          <p:cNvSpPr/>
          <p:nvPr/>
        </p:nvSpPr>
        <p:spPr>
          <a:xfrm>
            <a:off x="5120640" y="4297680"/>
            <a:ext cx="502560" cy="50256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34" name="Image 2" descr="preencoded.png"/>
          <p:cNvPicPr/>
          <p:nvPr/>
        </p:nvPicPr>
        <p:blipFill>
          <a:blip r:embed="rId3"/>
          <a:stretch/>
        </p:blipFill>
        <p:spPr>
          <a:xfrm>
            <a:off x="5246280" y="4423320"/>
            <a:ext cx="251280" cy="2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5" name="Text 15"/>
          <p:cNvSpPr/>
          <p:nvPr/>
        </p:nvSpPr>
        <p:spPr>
          <a:xfrm>
            <a:off x="5852160" y="4279320"/>
            <a:ext cx="5760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Android 17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16"/>
          <p:cNvSpPr/>
          <p:nvPr/>
        </p:nvSpPr>
        <p:spPr>
          <a:xfrm>
            <a:off x="5852160" y="4645080"/>
            <a:ext cx="5760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Desaparece la opción de excluirse: la app debe adaptarse a cualquier tamaño de ventana.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Text 0"/>
          <p:cNvSpPr/>
          <p:nvPr/>
        </p:nvSpPr>
        <p:spPr>
          <a:xfrm>
            <a:off x="548640" y="36576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150" strike="noStrike">
                <a:solidFill>
                  <a:srgbClr val="1AA35C"/>
                </a:solidFill>
                <a:effectLst/>
                <a:uFillTx/>
                <a:latin typeface="Calibri"/>
                <a:ea typeface="Calibri"/>
              </a:rPr>
              <a:t>B.3 · CARACTERÍSTICAS DE HARDWARE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1"/>
          <p:cNvSpPr/>
          <p:nvPr/>
        </p:nvSpPr>
        <p:spPr>
          <a:xfrm>
            <a:off x="548640" y="713160"/>
            <a:ext cx="11063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0243E"/>
                </a:solidFill>
                <a:effectLst/>
                <a:uFillTx/>
                <a:latin typeface="Cambria"/>
                <a:ea typeface="Cambria"/>
              </a:rPr>
              <a:t>La etiqueta uses-feature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2"/>
          <p:cNvSpPr/>
          <p:nvPr/>
        </p:nvSpPr>
        <p:spPr>
          <a:xfrm>
            <a:off x="548640" y="64465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UT1 · Complemento: clasificación de dispositivos, compatibilidad y SDK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3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21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Shape 4"/>
          <p:cNvSpPr/>
          <p:nvPr/>
        </p:nvSpPr>
        <p:spPr>
          <a:xfrm>
            <a:off x="548640" y="1645920"/>
            <a:ext cx="11091240" cy="2102760"/>
          </a:xfrm>
          <a:prstGeom prst="roundRect">
            <a:avLst>
              <a:gd name="adj" fmla="val 2609"/>
            </a:avLst>
          </a:prstGeom>
          <a:solidFill>
            <a:srgbClr val="1A2733"/>
          </a:solidFill>
          <a:ln w="12700">
            <a:solidFill>
              <a:srgbClr val="1A27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2" name="Text 5"/>
          <p:cNvSpPr/>
          <p:nvPr/>
        </p:nvSpPr>
        <p:spPr>
          <a:xfrm>
            <a:off x="822960" y="1783080"/>
            <a:ext cx="1054260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6EDF3"/>
                </a:solidFill>
                <a:effectLst/>
                <a:uFillTx/>
                <a:latin typeface="Courier New"/>
                <a:ea typeface="Courier New"/>
              </a:rPr>
              <a:t>&lt;!-- Imprescindible: solo se ofrece a dispositivos con cámara --&gt;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6EDF3"/>
                </a:solidFill>
                <a:effectLst/>
                <a:uFillTx/>
                <a:latin typeface="Courier New"/>
                <a:ea typeface="Courier New"/>
              </a:rPr>
              <a:t>&lt;uses-feature android:name="android.hardware.camera.any"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6EDF3"/>
                </a:solidFill>
                <a:effectLst/>
                <a:uFillTx/>
                <a:latin typeface="Courier New"/>
                <a:ea typeface="Courier New"/>
              </a:rPr>
              <a:t>              android:required="true" /&gt;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6EDF3"/>
                </a:solidFill>
                <a:effectLst/>
                <a:uFillTx/>
                <a:latin typeface="Courier New"/>
                <a:ea typeface="Courier New"/>
              </a:rPr>
              <a:t>&lt;!-- Opcional: la usa si existe, pero funciona sin ella --&gt;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6EDF3"/>
                </a:solidFill>
                <a:effectLst/>
                <a:uFillTx/>
                <a:latin typeface="Courier New"/>
                <a:ea typeface="Courier New"/>
              </a:rPr>
              <a:t>&lt;uses-feature android:name="android.hardware.telephony" android:required="false" /&gt;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6"/>
          <p:cNvSpPr/>
          <p:nvPr/>
        </p:nvSpPr>
        <p:spPr>
          <a:xfrm>
            <a:off x="548640" y="4023360"/>
            <a:ext cx="5394600" cy="20113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4" name="Text 7"/>
          <p:cNvSpPr/>
          <p:nvPr/>
        </p:nvSpPr>
        <p:spPr>
          <a:xfrm>
            <a:off x="777240" y="4251960"/>
            <a:ext cx="49374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required="true"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8"/>
          <p:cNvSpPr/>
          <p:nvPr/>
        </p:nvSpPr>
        <p:spPr>
          <a:xfrm>
            <a:off x="777240" y="4709160"/>
            <a:ext cx="493740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Google Play oculta la app en los dispositivos que no tienen esa característica.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9"/>
          <p:cNvSpPr/>
          <p:nvPr/>
        </p:nvSpPr>
        <p:spPr>
          <a:xfrm>
            <a:off x="6245280" y="4023360"/>
            <a:ext cx="5394600" cy="20113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7" name="Text 10"/>
          <p:cNvSpPr/>
          <p:nvPr/>
        </p:nvSpPr>
        <p:spPr>
          <a:xfrm>
            <a:off x="6473880" y="4251960"/>
            <a:ext cx="49374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required="false"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11"/>
          <p:cNvSpPr/>
          <p:nvPr/>
        </p:nvSpPr>
        <p:spPr>
          <a:xfrm>
            <a:off x="6473880" y="4709160"/>
            <a:ext cx="493740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Se instala en cualquier dispositivo; el código comprueba si existe antes de usarla.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Text 0"/>
          <p:cNvSpPr/>
          <p:nvPr/>
        </p:nvSpPr>
        <p:spPr>
          <a:xfrm>
            <a:off x="548640" y="36576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150" strike="noStrike">
                <a:solidFill>
                  <a:srgbClr val="1AA35C"/>
                </a:solidFill>
                <a:effectLst/>
                <a:uFillTx/>
                <a:latin typeface="Calibri"/>
                <a:ea typeface="Calibri"/>
              </a:rPr>
              <a:t>B.3 · CUIDADO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1"/>
          <p:cNvSpPr/>
          <p:nvPr/>
        </p:nvSpPr>
        <p:spPr>
          <a:xfrm>
            <a:off x="548640" y="713160"/>
            <a:ext cx="11063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0243E"/>
                </a:solidFill>
                <a:effectLst/>
                <a:uFillTx/>
                <a:latin typeface="Cambria"/>
                <a:ea typeface="Cambria"/>
              </a:rPr>
              <a:t>Algunos permisos implican una característica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2"/>
          <p:cNvSpPr/>
          <p:nvPr/>
        </p:nvSpPr>
        <p:spPr>
          <a:xfrm>
            <a:off x="548640" y="64465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UT1 · Complemento: clasificación de dispositivos, compatibilidad y SDK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 3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22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4"/>
          <p:cNvSpPr/>
          <p:nvPr/>
        </p:nvSpPr>
        <p:spPr>
          <a:xfrm>
            <a:off x="548640" y="1783080"/>
            <a:ext cx="1005480" cy="1005480"/>
          </a:xfrm>
          <a:prstGeom prst="ellipse">
            <a:avLst/>
          </a:prstGeom>
          <a:solidFill>
            <a:srgbClr val="FF7A45"/>
          </a:solidFill>
          <a:ln w="12700">
            <a:solidFill>
              <a:srgbClr val="FF7A4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54" name="Image 0" descr="preencoded.png"/>
          <p:cNvPicPr/>
          <p:nvPr/>
        </p:nvPicPr>
        <p:blipFill>
          <a:blip r:embed="rId1"/>
          <a:stretch/>
        </p:blipFill>
        <p:spPr>
          <a:xfrm>
            <a:off x="800280" y="2034720"/>
            <a:ext cx="502560" cy="502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5" name="Text 5"/>
          <p:cNvSpPr/>
          <p:nvPr/>
        </p:nvSpPr>
        <p:spPr>
          <a:xfrm>
            <a:off x="1828800" y="1737360"/>
            <a:ext cx="978372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Si la app pide el permiso de cámara y no declara nada más, Google Play entiende que la cámara es obligatoria.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6"/>
          <p:cNvSpPr/>
          <p:nvPr/>
        </p:nvSpPr>
        <p:spPr>
          <a:xfrm>
            <a:off x="1828800" y="2926080"/>
            <a:ext cx="9783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Consecuencia: la app desaparece de la tienda en las tablets sin cámara.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Shape 7"/>
          <p:cNvSpPr/>
          <p:nvPr/>
        </p:nvSpPr>
        <p:spPr>
          <a:xfrm>
            <a:off x="548640" y="4023360"/>
            <a:ext cx="11091240" cy="1462680"/>
          </a:xfrm>
          <a:prstGeom prst="roundRect">
            <a:avLst>
              <a:gd name="adj" fmla="val 3750"/>
            </a:avLst>
          </a:prstGeom>
          <a:solidFill>
            <a:srgbClr val="EAF3FF"/>
          </a:solidFill>
          <a:ln w="12700">
            <a:solidFill>
              <a:srgbClr val="EAF3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8" name="Text 8"/>
          <p:cNvSpPr/>
          <p:nvPr/>
        </p:nvSpPr>
        <p:spPr>
          <a:xfrm>
            <a:off x="822960" y="4114800"/>
            <a:ext cx="1054260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Solución: declarar la característica con required="false" y comprobar en el código si está disponible antes de usarla, ofreciendo una alternativa (por ejemplo, importar una imagen de la galería).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Text 0"/>
          <p:cNvSpPr/>
          <p:nvPr/>
        </p:nvSpPr>
        <p:spPr>
          <a:xfrm>
            <a:off x="548640" y="36576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150" strike="noStrike">
                <a:solidFill>
                  <a:srgbClr val="1AA35C"/>
                </a:solidFill>
                <a:effectLst/>
                <a:uFillTx/>
                <a:latin typeface="Calibri"/>
                <a:ea typeface="Calibri"/>
              </a:rPr>
              <a:t>B.4 · GOOGLE PLAY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"/>
          <p:cNvSpPr/>
          <p:nvPr/>
        </p:nvSpPr>
        <p:spPr>
          <a:xfrm>
            <a:off x="548640" y="713160"/>
            <a:ext cx="11063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0243E"/>
                </a:solidFill>
                <a:effectLst/>
                <a:uFillTx/>
                <a:latin typeface="Cambria"/>
                <a:ea typeface="Cambria"/>
              </a:rPr>
              <a:t>Cómo filtra las aplicaciones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2"/>
          <p:cNvSpPr/>
          <p:nvPr/>
        </p:nvSpPr>
        <p:spPr>
          <a:xfrm>
            <a:off x="548640" y="64465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UT1 · Complemento: clasificación de dispositivos, compatibilidad y SDK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3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23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3" name="Table 0"/>
          <p:cNvGraphicFramePr/>
          <p:nvPr/>
        </p:nvGraphicFramePr>
        <p:xfrm>
          <a:off x="548640" y="1645920"/>
          <a:ext cx="11091240" cy="3401280"/>
        </p:xfrm>
        <a:graphic>
          <a:graphicData uri="http://schemas.openxmlformats.org/drawingml/2006/table">
            <a:tbl>
              <a:tblPr/>
              <a:tblGrid>
                <a:gridCol w="5541120"/>
                <a:gridCol w="5550120"/>
              </a:tblGrid>
              <a:tr h="56664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7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Lo que declara la aplicación</a:t>
                      </a:r>
                      <a:endParaRPr lang="es-ES" sz="17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10243E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7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Lo que ofrece el dispositivo</a:t>
                      </a:r>
                      <a:endParaRPr lang="es-ES" sz="17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10243E"/>
                    </a:solidFill>
                  </a:tcPr>
                </a:tc>
              </a:tr>
              <a:tr h="56664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7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minSdk (y targetSdk para los requisitos de la tienda)</a:t>
                      </a:r>
                      <a:endParaRPr lang="es-ES" sz="1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7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Nivel de API del sistema</a:t>
                      </a:r>
                      <a:endParaRPr lang="es-ES" sz="1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7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uses-feature con required="true"</a:t>
                      </a:r>
                      <a:endParaRPr lang="es-ES" sz="1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7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Hardware disponible (cámara, telefonía, NFC…)</a:t>
                      </a:r>
                      <a:endParaRPr lang="es-ES" sz="1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EEF3F7"/>
                    </a:solidFill>
                  </a:tcPr>
                </a:tc>
              </a:tr>
              <a:tr h="56664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7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ABI del código nativo incluido</a:t>
                      </a:r>
                      <a:endParaRPr lang="es-ES" sz="1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7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ABI del procesador</a:t>
                      </a:r>
                      <a:endParaRPr lang="es-ES" sz="1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7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Tamaños de pantalla y tipo de dispositivo</a:t>
                      </a:r>
                      <a:endParaRPr lang="es-ES" sz="1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7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Factor de forma y pantalla</a:t>
                      </a:r>
                      <a:endParaRPr lang="es-ES" sz="1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EEF3F7"/>
                    </a:solidFill>
                  </a:tcPr>
                </a:tc>
              </a:tr>
              <a:tr h="56664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7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Países de distribución</a:t>
                      </a:r>
                      <a:endParaRPr lang="es-ES" sz="1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7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País de la cuenta del usuario</a:t>
                      </a:r>
                      <a:endParaRPr lang="es-ES" sz="1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4" name="Shape 4"/>
          <p:cNvSpPr/>
          <p:nvPr/>
        </p:nvSpPr>
        <p:spPr>
          <a:xfrm>
            <a:off x="548640" y="5257800"/>
            <a:ext cx="11091240" cy="731160"/>
          </a:xfrm>
          <a:prstGeom prst="roundRect">
            <a:avLst>
              <a:gd name="adj" fmla="val 7500"/>
            </a:avLst>
          </a:prstGeom>
          <a:solidFill>
            <a:srgbClr val="EAF3FF"/>
          </a:solidFill>
          <a:ln w="12700">
            <a:solidFill>
              <a:srgbClr val="EAF3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5" name="Text 5"/>
          <p:cNvSpPr/>
          <p:nvPr/>
        </p:nvSpPr>
        <p:spPr>
          <a:xfrm>
            <a:off x="822960" y="5349240"/>
            <a:ext cx="10542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Solo se muestran al usuario las aplicaciones compatibles con su dispositivo.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Text 0"/>
          <p:cNvSpPr/>
          <p:nvPr/>
        </p:nvSpPr>
        <p:spPr>
          <a:xfrm>
            <a:off x="548640" y="36576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150" strike="noStrike">
                <a:solidFill>
                  <a:srgbClr val="1AA35C"/>
                </a:solidFill>
                <a:effectLst/>
                <a:uFillTx/>
                <a:latin typeface="Calibri"/>
                <a:ea typeface="Calibri"/>
              </a:rPr>
              <a:t>B.4 · DENTRO Y FUERA DE LA TIENDA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1"/>
          <p:cNvSpPr/>
          <p:nvPr/>
        </p:nvSpPr>
        <p:spPr>
          <a:xfrm>
            <a:off x="548640" y="713160"/>
            <a:ext cx="11063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0243E"/>
                </a:solidFill>
                <a:effectLst/>
                <a:uFillTx/>
                <a:latin typeface="Cambria"/>
                <a:ea typeface="Cambria"/>
              </a:rPr>
              <a:t>No siempre se comprueba lo mismo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2"/>
          <p:cNvSpPr/>
          <p:nvPr/>
        </p:nvSpPr>
        <p:spPr>
          <a:xfrm>
            <a:off x="548640" y="64465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UT1 · Complemento: clasificación de dispositivos, compatibilidad y SDK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3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24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4"/>
          <p:cNvSpPr/>
          <p:nvPr/>
        </p:nvSpPr>
        <p:spPr>
          <a:xfrm>
            <a:off x="548640" y="1691640"/>
            <a:ext cx="5394600" cy="32914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1" name="Shape 5"/>
          <p:cNvSpPr/>
          <p:nvPr/>
        </p:nvSpPr>
        <p:spPr>
          <a:xfrm>
            <a:off x="777240" y="192024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72" name="Image 0" descr="preencoded.png"/>
          <p:cNvPicPr/>
          <p:nvPr/>
        </p:nvPicPr>
        <p:blipFill>
          <a:blip r:embed="rId1"/>
          <a:stretch/>
        </p:blipFill>
        <p:spPr>
          <a:xfrm>
            <a:off x="925920" y="206892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3" name="Text 6"/>
          <p:cNvSpPr/>
          <p:nvPr/>
        </p:nvSpPr>
        <p:spPr>
          <a:xfrm>
            <a:off x="777240" y="2651760"/>
            <a:ext cx="49374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Con Google Play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7"/>
          <p:cNvSpPr/>
          <p:nvPr/>
        </p:nvSpPr>
        <p:spPr>
          <a:xfrm>
            <a:off x="777240" y="3108960"/>
            <a:ext cx="493740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Se aplican todos los filtros. En la consola de Play, el catálogo de dispositivos indica en qué modelos concretos se podrá instalar la app.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Shape 8"/>
          <p:cNvSpPr/>
          <p:nvPr/>
        </p:nvSpPr>
        <p:spPr>
          <a:xfrm>
            <a:off x="6245280" y="1691640"/>
            <a:ext cx="5394600" cy="32914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6" name="Shape 9"/>
          <p:cNvSpPr/>
          <p:nvPr/>
        </p:nvSpPr>
        <p:spPr>
          <a:xfrm>
            <a:off x="6473880" y="1920240"/>
            <a:ext cx="594000" cy="594000"/>
          </a:xfrm>
          <a:prstGeom prst="ellipse">
            <a:avLst/>
          </a:prstGeom>
          <a:solidFill>
            <a:srgbClr val="FF7A45"/>
          </a:solidFill>
          <a:ln w="12700">
            <a:solidFill>
              <a:srgbClr val="FF7A4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77" name="Image 1" descr="preencoded.png"/>
          <p:cNvPicPr/>
          <p:nvPr/>
        </p:nvPicPr>
        <p:blipFill>
          <a:blip r:embed="rId2"/>
          <a:stretch/>
        </p:blipFill>
        <p:spPr>
          <a:xfrm>
            <a:off x="6622560" y="206892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8" name="Text 10"/>
          <p:cNvSpPr/>
          <p:nvPr/>
        </p:nvSpPr>
        <p:spPr>
          <a:xfrm>
            <a:off x="6473880" y="2651760"/>
            <a:ext cx="49374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Instalando un APK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11"/>
          <p:cNvSpPr/>
          <p:nvPr/>
        </p:nvSpPr>
        <p:spPr>
          <a:xfrm>
            <a:off x="6473880" y="3108960"/>
            <a:ext cx="493740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Desde Android Studio solo se comprueban las restricciones del propio sistema, como el minSdk.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12"/>
          <p:cNvSpPr/>
          <p:nvPr/>
        </p:nvSpPr>
        <p:spPr>
          <a:xfrm>
            <a:off x="548640" y="5257800"/>
            <a:ext cx="110638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Por eso se puede instalar en el emulador una app que Play no ofrecería en ese dispositivo.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2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Shape 0"/>
          <p:cNvSpPr/>
          <p:nvPr/>
        </p:nvSpPr>
        <p:spPr>
          <a:xfrm>
            <a:off x="5660280" y="1737360"/>
            <a:ext cx="868320" cy="86832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82" name="Image 0" descr="preencoded.png"/>
          <p:cNvPicPr/>
          <p:nvPr/>
        </p:nvPicPr>
        <p:blipFill>
          <a:blip r:embed="rId1"/>
          <a:stretch/>
        </p:blipFill>
        <p:spPr>
          <a:xfrm>
            <a:off x="5877360" y="1954440"/>
            <a:ext cx="434160" cy="434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3" name="Text 1"/>
          <p:cNvSpPr/>
          <p:nvPr/>
        </p:nvSpPr>
        <p:spPr>
          <a:xfrm>
            <a:off x="548640" y="2788920"/>
            <a:ext cx="1109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300" strike="noStrike">
                <a:solidFill>
                  <a:srgbClr val="3DDC84"/>
                </a:solidFill>
                <a:effectLst/>
                <a:uFillTx/>
                <a:latin typeface="Calibri"/>
                <a:ea typeface="Calibri"/>
              </a:rPr>
              <a:t>BLOQUE C</a:t>
            </a: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2"/>
          <p:cNvSpPr/>
          <p:nvPr/>
        </p:nvSpPr>
        <p:spPr>
          <a:xfrm>
            <a:off x="1097280" y="3154680"/>
            <a:ext cx="99939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El SDK de Android con más detalle</a:t>
            </a:r>
            <a:endParaRPr lang="es-E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3"/>
          <p:cNvSpPr/>
          <p:nvPr/>
        </p:nvSpPr>
        <p:spPr>
          <a:xfrm>
            <a:off x="1097280" y="4297680"/>
            <a:ext cx="99939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7D2E0"/>
                </a:solidFill>
                <a:effectLst/>
                <a:uFillTx/>
                <a:latin typeface="Calibri"/>
                <a:ea typeface="Calibri"/>
              </a:rPr>
              <a:t>Paquetes, versiones del proyecto y herramientas de terminal</a:t>
            </a: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4"/>
          <p:cNvSpPr/>
          <p:nvPr/>
        </p:nvSpPr>
        <p:spPr>
          <a:xfrm>
            <a:off x="548640" y="64465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FB0C6"/>
                </a:solidFill>
                <a:effectLst/>
                <a:uFillTx/>
                <a:latin typeface="Calibri"/>
                <a:ea typeface="Calibri"/>
              </a:rPr>
              <a:t>UT1 · Complemento: clasificación de dispositivos, compatibilidad y SDK</a:t>
            </a:r>
            <a:endParaRPr lang="es-E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5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FB0C6"/>
                </a:solidFill>
                <a:effectLst/>
                <a:uFillTx/>
                <a:latin typeface="Calibri"/>
                <a:ea typeface="Calibri"/>
              </a:rPr>
              <a:t>25</a:t>
            </a:r>
            <a:endParaRPr lang="es-E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Text 0"/>
          <p:cNvSpPr/>
          <p:nvPr/>
        </p:nvSpPr>
        <p:spPr>
          <a:xfrm>
            <a:off x="548640" y="36576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150" strike="noStrike">
                <a:solidFill>
                  <a:srgbClr val="1AA35C"/>
                </a:solidFill>
                <a:effectLst/>
                <a:uFillTx/>
                <a:latin typeface="Calibri"/>
                <a:ea typeface="Calibri"/>
              </a:rPr>
              <a:t>C.1 · SDK MANAGER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1"/>
          <p:cNvSpPr/>
          <p:nvPr/>
        </p:nvSpPr>
        <p:spPr>
          <a:xfrm>
            <a:off x="548640" y="713160"/>
            <a:ext cx="11063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0243E"/>
                </a:solidFill>
                <a:effectLst/>
                <a:uFillTx/>
                <a:latin typeface="Cambria"/>
                <a:ea typeface="Cambria"/>
              </a:rPr>
              <a:t>El SDK no es un único paquete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2"/>
          <p:cNvSpPr/>
          <p:nvPr/>
        </p:nvSpPr>
        <p:spPr>
          <a:xfrm>
            <a:off x="548640" y="64465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UT1 · Complemento: clasificación de dispositivos, compatibilidad y SDK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3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26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Shape 4"/>
          <p:cNvSpPr/>
          <p:nvPr/>
        </p:nvSpPr>
        <p:spPr>
          <a:xfrm>
            <a:off x="548640" y="1691640"/>
            <a:ext cx="502560" cy="50256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93" name="Image 0" descr="preencoded.png"/>
          <p:cNvPicPr/>
          <p:nvPr/>
        </p:nvPicPr>
        <p:blipFill>
          <a:blip r:embed="rId1"/>
          <a:stretch/>
        </p:blipFill>
        <p:spPr>
          <a:xfrm>
            <a:off x="674280" y="1817280"/>
            <a:ext cx="251280" cy="2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4" name="Text 5"/>
          <p:cNvSpPr/>
          <p:nvPr/>
        </p:nvSpPr>
        <p:spPr>
          <a:xfrm>
            <a:off x="1280160" y="1673280"/>
            <a:ext cx="475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Dónde se abre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6"/>
          <p:cNvSpPr/>
          <p:nvPr/>
        </p:nvSpPr>
        <p:spPr>
          <a:xfrm>
            <a:off x="1280160" y="2039040"/>
            <a:ext cx="47545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Tools → SDK Manager, o Settings → Languages &amp; Frameworks → Android SDK.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Shape 7"/>
          <p:cNvSpPr/>
          <p:nvPr/>
        </p:nvSpPr>
        <p:spPr>
          <a:xfrm>
            <a:off x="548640" y="3017520"/>
            <a:ext cx="502560" cy="50256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97" name="Image 1" descr="preencoded.png"/>
          <p:cNvPicPr/>
          <p:nvPr/>
        </p:nvPicPr>
        <p:blipFill>
          <a:blip r:embed="rId2"/>
          <a:stretch/>
        </p:blipFill>
        <p:spPr>
          <a:xfrm>
            <a:off x="674280" y="3143160"/>
            <a:ext cx="251280" cy="2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8" name="Text 8"/>
          <p:cNvSpPr/>
          <p:nvPr/>
        </p:nvSpPr>
        <p:spPr>
          <a:xfrm>
            <a:off x="1280160" y="2999160"/>
            <a:ext cx="475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Dos pestañas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9"/>
          <p:cNvSpPr/>
          <p:nvPr/>
        </p:nvSpPr>
        <p:spPr>
          <a:xfrm>
            <a:off x="1280160" y="3364920"/>
            <a:ext cx="47545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SDK Platforms (versiones de Android) y SDK Tools (herramientas).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Shape 10"/>
          <p:cNvSpPr/>
          <p:nvPr/>
        </p:nvSpPr>
        <p:spPr>
          <a:xfrm>
            <a:off x="548640" y="4343400"/>
            <a:ext cx="502560" cy="50256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01" name="Image 2" descr="preencoded.png"/>
          <p:cNvPicPr/>
          <p:nvPr/>
        </p:nvPicPr>
        <p:blipFill>
          <a:blip r:embed="rId3"/>
          <a:stretch/>
        </p:blipFill>
        <p:spPr>
          <a:xfrm>
            <a:off x="674280" y="4469040"/>
            <a:ext cx="251280" cy="2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2" name="Text 11"/>
          <p:cNvSpPr/>
          <p:nvPr/>
        </p:nvSpPr>
        <p:spPr>
          <a:xfrm>
            <a:off x="1280160" y="4325040"/>
            <a:ext cx="475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Show Package Details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12"/>
          <p:cNvSpPr/>
          <p:nvPr/>
        </p:nvSpPr>
        <p:spPr>
          <a:xfrm>
            <a:off x="1280160" y="4690800"/>
            <a:ext cx="47545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Muestra los paquetes de cada versión, incluidas las imágenes de sistema.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Shape 13"/>
          <p:cNvSpPr/>
          <p:nvPr/>
        </p:nvSpPr>
        <p:spPr>
          <a:xfrm>
            <a:off x="6492240" y="1691640"/>
            <a:ext cx="5147640" cy="384012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5" name="Shape 14"/>
          <p:cNvSpPr/>
          <p:nvPr/>
        </p:nvSpPr>
        <p:spPr>
          <a:xfrm>
            <a:off x="6720840" y="192024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06" name="Image 3" descr="preencoded.png"/>
          <p:cNvPicPr/>
          <p:nvPr/>
        </p:nvPicPr>
        <p:blipFill>
          <a:blip r:embed="rId4"/>
          <a:stretch/>
        </p:blipFill>
        <p:spPr>
          <a:xfrm>
            <a:off x="6869520" y="206892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7" name="Text 15"/>
          <p:cNvSpPr/>
          <p:nvPr/>
        </p:nvSpPr>
        <p:spPr>
          <a:xfrm>
            <a:off x="6720840" y="2651760"/>
            <a:ext cx="46904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Ubicación del SDK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16"/>
          <p:cNvSpPr/>
          <p:nvPr/>
        </p:nvSpPr>
        <p:spPr>
          <a:xfrm>
            <a:off x="6720840" y="3108960"/>
            <a:ext cx="469044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Fuera del proyecto, compartida por todos.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En Windows, por defecto: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C:\Users\&lt;usuario&gt;\AppData\Local\Android\Sdk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Text 0"/>
          <p:cNvSpPr/>
          <p:nvPr/>
        </p:nvSpPr>
        <p:spPr>
          <a:xfrm>
            <a:off x="548640" y="36576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150" strike="noStrike">
                <a:solidFill>
                  <a:srgbClr val="1AA35C"/>
                </a:solidFill>
                <a:effectLst/>
                <a:uFillTx/>
                <a:latin typeface="Calibri"/>
                <a:ea typeface="Calibri"/>
              </a:rPr>
              <a:t>C.2 · PAQUETES PRINCIPALES (1/2)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 1"/>
          <p:cNvSpPr/>
          <p:nvPr/>
        </p:nvSpPr>
        <p:spPr>
          <a:xfrm>
            <a:off x="548640" y="713160"/>
            <a:ext cx="11063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0243E"/>
                </a:solidFill>
                <a:effectLst/>
                <a:uFillTx/>
                <a:latin typeface="Cambria"/>
                <a:ea typeface="Cambria"/>
              </a:rPr>
              <a:t>Para compilar y para emular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Text 2"/>
          <p:cNvSpPr/>
          <p:nvPr/>
        </p:nvSpPr>
        <p:spPr>
          <a:xfrm>
            <a:off x="548640" y="64465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UT1 · Complemento: clasificación de dispositivos, compatibilidad y SDK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3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27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Shape 4"/>
          <p:cNvSpPr/>
          <p:nvPr/>
        </p:nvSpPr>
        <p:spPr>
          <a:xfrm>
            <a:off x="548640" y="1645920"/>
            <a:ext cx="3520080" cy="402300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4" name="Shape 5"/>
          <p:cNvSpPr/>
          <p:nvPr/>
        </p:nvSpPr>
        <p:spPr>
          <a:xfrm>
            <a:off x="777240" y="187452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15" name="Image 0" descr="preencoded.png"/>
          <p:cNvPicPr/>
          <p:nvPr/>
        </p:nvPicPr>
        <p:blipFill>
          <a:blip r:embed="rId1"/>
          <a:stretch/>
        </p:blipFill>
        <p:spPr>
          <a:xfrm>
            <a:off x="925920" y="202320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6" name="Text 6"/>
          <p:cNvSpPr/>
          <p:nvPr/>
        </p:nvSpPr>
        <p:spPr>
          <a:xfrm>
            <a:off x="777240" y="2606040"/>
            <a:ext cx="30628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SDK Platform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7"/>
          <p:cNvSpPr/>
          <p:nvPr/>
        </p:nvSpPr>
        <p:spPr>
          <a:xfrm>
            <a:off x="777240" y="3063240"/>
            <a:ext cx="306288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Las bibliotecas de una versión de Android (una por nivel de API). Es contra lo que se compila.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Pestaña SDK Platforms.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8"/>
          <p:cNvSpPr/>
          <p:nvPr/>
        </p:nvSpPr>
        <p:spPr>
          <a:xfrm>
            <a:off x="4334400" y="1645920"/>
            <a:ext cx="3520080" cy="402300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9" name="Shape 9"/>
          <p:cNvSpPr/>
          <p:nvPr/>
        </p:nvSpPr>
        <p:spPr>
          <a:xfrm>
            <a:off x="4563000" y="187452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20" name="Image 1" descr="preencoded.png"/>
          <p:cNvPicPr/>
          <p:nvPr/>
        </p:nvPicPr>
        <p:blipFill>
          <a:blip r:embed="rId2"/>
          <a:stretch/>
        </p:blipFill>
        <p:spPr>
          <a:xfrm>
            <a:off x="4711320" y="202320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1" name="Text 10"/>
          <p:cNvSpPr/>
          <p:nvPr/>
        </p:nvSpPr>
        <p:spPr>
          <a:xfrm>
            <a:off x="4563000" y="2606040"/>
            <a:ext cx="30628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System Images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11"/>
          <p:cNvSpPr/>
          <p:nvPr/>
        </p:nvSpPr>
        <p:spPr>
          <a:xfrm>
            <a:off x="4563000" y="3063240"/>
            <a:ext cx="306288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Imágenes para el emulador: un nivel de API, una ABI y una variante (Google Play, Google APIs o sin Google).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SDK Platforms (Show Package Details).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Shape 12"/>
          <p:cNvSpPr/>
          <p:nvPr/>
        </p:nvSpPr>
        <p:spPr>
          <a:xfrm>
            <a:off x="8119800" y="1645920"/>
            <a:ext cx="3520080" cy="402300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4" name="Shape 13"/>
          <p:cNvSpPr/>
          <p:nvPr/>
        </p:nvSpPr>
        <p:spPr>
          <a:xfrm>
            <a:off x="8348400" y="187452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25" name="Image 2" descr="preencoded.png"/>
          <p:cNvPicPr/>
          <p:nvPr/>
        </p:nvPicPr>
        <p:blipFill>
          <a:blip r:embed="rId3"/>
          <a:stretch/>
        </p:blipFill>
        <p:spPr>
          <a:xfrm>
            <a:off x="8497080" y="202320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6" name="Text 14"/>
          <p:cNvSpPr/>
          <p:nvPr/>
        </p:nvSpPr>
        <p:spPr>
          <a:xfrm>
            <a:off x="8348400" y="2606040"/>
            <a:ext cx="30628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SDK Build-Tools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Text 15"/>
          <p:cNvSpPr/>
          <p:nvPr/>
        </p:nvSpPr>
        <p:spPr>
          <a:xfrm>
            <a:off x="8348400" y="3063240"/>
            <a:ext cx="306288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Convierten el proyecto en app: aapt2 (recursos), d8 (a DEX), zipalign y apksigner (firma).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Pestaña SDK Tools.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16"/>
          <p:cNvSpPr/>
          <p:nvPr/>
        </p:nvSpPr>
        <p:spPr>
          <a:xfrm>
            <a:off x="548640" y="5806440"/>
            <a:ext cx="11063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Para emular Android 17 hace falta su imagen de sistema; la plataforma solo sirve para compilar.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Text 0"/>
          <p:cNvSpPr/>
          <p:nvPr/>
        </p:nvSpPr>
        <p:spPr>
          <a:xfrm>
            <a:off x="548640" y="36576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150" strike="noStrike">
                <a:solidFill>
                  <a:srgbClr val="1AA35C"/>
                </a:solidFill>
                <a:effectLst/>
                <a:uFillTx/>
                <a:latin typeface="Calibri"/>
                <a:ea typeface="Calibri"/>
              </a:rPr>
              <a:t>C.2 · PAQUETES PRINCIPALES (2/2)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1"/>
          <p:cNvSpPr/>
          <p:nvPr/>
        </p:nvSpPr>
        <p:spPr>
          <a:xfrm>
            <a:off x="548640" y="713160"/>
            <a:ext cx="11063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0243E"/>
                </a:solidFill>
                <a:effectLst/>
                <a:uFillTx/>
                <a:latin typeface="Cambria"/>
                <a:ea typeface="Cambria"/>
              </a:rPr>
              <a:t>Para comunicarse y ejecutar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2"/>
          <p:cNvSpPr/>
          <p:nvPr/>
        </p:nvSpPr>
        <p:spPr>
          <a:xfrm>
            <a:off x="548640" y="64465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UT1 · Complemento: clasificación de dispositivos, compatibilidad y SDK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3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28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Shape 4"/>
          <p:cNvSpPr/>
          <p:nvPr/>
        </p:nvSpPr>
        <p:spPr>
          <a:xfrm>
            <a:off x="548640" y="1645920"/>
            <a:ext cx="2651400" cy="38401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4" name="Shape 5"/>
          <p:cNvSpPr/>
          <p:nvPr/>
        </p:nvSpPr>
        <p:spPr>
          <a:xfrm>
            <a:off x="777240" y="187452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35" name="Image 0" descr="preencoded.png"/>
          <p:cNvPicPr/>
          <p:nvPr/>
        </p:nvPicPr>
        <p:blipFill>
          <a:blip r:embed="rId1"/>
          <a:stretch/>
        </p:blipFill>
        <p:spPr>
          <a:xfrm>
            <a:off x="925920" y="202320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6" name="Text 6"/>
          <p:cNvSpPr/>
          <p:nvPr/>
        </p:nvSpPr>
        <p:spPr>
          <a:xfrm>
            <a:off x="777240" y="2606040"/>
            <a:ext cx="21942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Platform-Tools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 7"/>
          <p:cNvSpPr/>
          <p:nvPr/>
        </p:nvSpPr>
        <p:spPr>
          <a:xfrm>
            <a:off x="777240" y="3063240"/>
            <a:ext cx="219420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adb (Android Debug Bridge) para hablar con los dispositivos.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Shape 8"/>
          <p:cNvSpPr/>
          <p:nvPr/>
        </p:nvSpPr>
        <p:spPr>
          <a:xfrm>
            <a:off x="3364920" y="1645920"/>
            <a:ext cx="2651400" cy="38401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9" name="Shape 9"/>
          <p:cNvSpPr/>
          <p:nvPr/>
        </p:nvSpPr>
        <p:spPr>
          <a:xfrm>
            <a:off x="3593520" y="187452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40" name="Image 1" descr="preencoded.png"/>
          <p:cNvPicPr/>
          <p:nvPr/>
        </p:nvPicPr>
        <p:blipFill>
          <a:blip r:embed="rId2"/>
          <a:stretch/>
        </p:blipFill>
        <p:spPr>
          <a:xfrm>
            <a:off x="3742200" y="202320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1" name="Text 10"/>
          <p:cNvSpPr/>
          <p:nvPr/>
        </p:nvSpPr>
        <p:spPr>
          <a:xfrm>
            <a:off x="3593520" y="2606040"/>
            <a:ext cx="21942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Android Emulator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11"/>
          <p:cNvSpPr/>
          <p:nvPr/>
        </p:nvSpPr>
        <p:spPr>
          <a:xfrm>
            <a:off x="3593520" y="3063240"/>
            <a:ext cx="219420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El programa que ejecuta los dispositivos virtuales.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Shape 12"/>
          <p:cNvSpPr/>
          <p:nvPr/>
        </p:nvSpPr>
        <p:spPr>
          <a:xfrm>
            <a:off x="6181200" y="1645920"/>
            <a:ext cx="2651400" cy="38401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4" name="Shape 13"/>
          <p:cNvSpPr/>
          <p:nvPr/>
        </p:nvSpPr>
        <p:spPr>
          <a:xfrm>
            <a:off x="6409800" y="187452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45" name="Image 2" descr="preencoded.png"/>
          <p:cNvPicPr/>
          <p:nvPr/>
        </p:nvPicPr>
        <p:blipFill>
          <a:blip r:embed="rId3"/>
          <a:stretch/>
        </p:blipFill>
        <p:spPr>
          <a:xfrm>
            <a:off x="6558480" y="202320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6" name="Text 14"/>
          <p:cNvSpPr/>
          <p:nvPr/>
        </p:nvSpPr>
        <p:spPr>
          <a:xfrm>
            <a:off x="6409800" y="2606040"/>
            <a:ext cx="21942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Command-line Tools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 15"/>
          <p:cNvSpPr/>
          <p:nvPr/>
        </p:nvSpPr>
        <p:spPr>
          <a:xfrm>
            <a:off x="6409800" y="3063240"/>
            <a:ext cx="219420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sdkmanager y avdmanager en versión de terminal.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Shape 16"/>
          <p:cNvSpPr/>
          <p:nvPr/>
        </p:nvSpPr>
        <p:spPr>
          <a:xfrm>
            <a:off x="8997840" y="1645920"/>
            <a:ext cx="2651400" cy="38401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9" name="Shape 17"/>
          <p:cNvSpPr/>
          <p:nvPr/>
        </p:nvSpPr>
        <p:spPr>
          <a:xfrm>
            <a:off x="9226440" y="187452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50" name="Image 3" descr="preencoded.png"/>
          <p:cNvPicPr/>
          <p:nvPr/>
        </p:nvPicPr>
        <p:blipFill>
          <a:blip r:embed="rId4"/>
          <a:stretch/>
        </p:blipFill>
        <p:spPr>
          <a:xfrm>
            <a:off x="9374760" y="202320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1" name="Text 18"/>
          <p:cNvSpPr/>
          <p:nvPr/>
        </p:nvSpPr>
        <p:spPr>
          <a:xfrm>
            <a:off x="9226440" y="2606040"/>
            <a:ext cx="21942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NDK y CMake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19"/>
          <p:cNvSpPr/>
          <p:nvPr/>
        </p:nvSpPr>
        <p:spPr>
          <a:xfrm>
            <a:off x="9226440" y="3063240"/>
            <a:ext cx="219420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Compilar C y C++. Solo si el proyecto tiene código nativo.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20"/>
          <p:cNvSpPr/>
          <p:nvPr/>
        </p:nvSpPr>
        <p:spPr>
          <a:xfrm>
            <a:off x="548640" y="5715000"/>
            <a:ext cx="11063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Todos están en la pestaña SDK Tools.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Text 0"/>
          <p:cNvSpPr/>
          <p:nvPr/>
        </p:nvSpPr>
        <p:spPr>
          <a:xfrm>
            <a:off x="548640" y="36576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150" strike="noStrike">
                <a:solidFill>
                  <a:srgbClr val="1AA35C"/>
                </a:solidFill>
                <a:effectLst/>
                <a:uFillTx/>
                <a:latin typeface="Calibri"/>
                <a:ea typeface="Calibri"/>
              </a:rPr>
              <a:t>C.3 · VERSIONES DEL PROYECTO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 1"/>
          <p:cNvSpPr/>
          <p:nvPr/>
        </p:nvSpPr>
        <p:spPr>
          <a:xfrm>
            <a:off x="548640" y="713160"/>
            <a:ext cx="11063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0243E"/>
                </a:solidFill>
                <a:effectLst/>
                <a:uFillTx/>
                <a:latin typeface="Cambria"/>
                <a:ea typeface="Cambria"/>
              </a:rPr>
              <a:t>Todos compilan con las mismas herramientas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 2"/>
          <p:cNvSpPr/>
          <p:nvPr/>
        </p:nvSpPr>
        <p:spPr>
          <a:xfrm>
            <a:off x="548640" y="64465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UT1 · Complemento: clasificación de dispositivos, compatibilidad y SDK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3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29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Shape 4"/>
          <p:cNvSpPr/>
          <p:nvPr/>
        </p:nvSpPr>
        <p:spPr>
          <a:xfrm>
            <a:off x="548640" y="1691640"/>
            <a:ext cx="5394600" cy="35658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9" name="Shape 5"/>
          <p:cNvSpPr/>
          <p:nvPr/>
        </p:nvSpPr>
        <p:spPr>
          <a:xfrm>
            <a:off x="777240" y="192024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60" name="Image 0" descr="preencoded.png"/>
          <p:cNvPicPr/>
          <p:nvPr/>
        </p:nvPicPr>
        <p:blipFill>
          <a:blip r:embed="rId1"/>
          <a:stretch/>
        </p:blipFill>
        <p:spPr>
          <a:xfrm>
            <a:off x="925920" y="206892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1" name="Text 6"/>
          <p:cNvSpPr/>
          <p:nvPr/>
        </p:nvSpPr>
        <p:spPr>
          <a:xfrm>
            <a:off x="777240" y="2651760"/>
            <a:ext cx="49374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Gradle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7"/>
          <p:cNvSpPr/>
          <p:nvPr/>
        </p:nvSpPr>
        <p:spPr>
          <a:xfrm>
            <a:off x="777240" y="3108960"/>
            <a:ext cx="493740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gradle/wrapper/gradle-wrapper.properties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Android Studio descarga esa versión la primera vez (Gradle Wrapper).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Shape 8"/>
          <p:cNvSpPr/>
          <p:nvPr/>
        </p:nvSpPr>
        <p:spPr>
          <a:xfrm>
            <a:off x="6245280" y="1691640"/>
            <a:ext cx="5394600" cy="35658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4" name="Shape 9"/>
          <p:cNvSpPr/>
          <p:nvPr/>
        </p:nvSpPr>
        <p:spPr>
          <a:xfrm>
            <a:off x="6473880" y="192024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65" name="Image 1" descr="preencoded.png"/>
          <p:cNvPicPr/>
          <p:nvPr/>
        </p:nvPicPr>
        <p:blipFill>
          <a:blip r:embed="rId2"/>
          <a:stretch/>
        </p:blipFill>
        <p:spPr>
          <a:xfrm>
            <a:off x="6622560" y="206892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6" name="Text 10"/>
          <p:cNvSpPr/>
          <p:nvPr/>
        </p:nvSpPr>
        <p:spPr>
          <a:xfrm>
            <a:off x="6473880" y="2651760"/>
            <a:ext cx="49374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AGP, Kotlin y librerías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11"/>
          <p:cNvSpPr/>
          <p:nvPr/>
        </p:nvSpPr>
        <p:spPr>
          <a:xfrm>
            <a:off x="6473880" y="3108960"/>
            <a:ext cx="493740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gradle/libs.versions.toml (catálogo de versiones)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Compose usa una BOM: un único número que garantiza que todas sus piezas son compatibles.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12"/>
          <p:cNvSpPr/>
          <p:nvPr/>
        </p:nvSpPr>
        <p:spPr>
          <a:xfrm>
            <a:off x="548640" y="5486400"/>
            <a:ext cx="11091240" cy="68544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 w="12700">
            <a:solidFill>
              <a:srgbClr val="EAF3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9" name="Text 13"/>
          <p:cNvSpPr/>
          <p:nvPr/>
        </p:nvSpPr>
        <p:spPr>
          <a:xfrm>
            <a:off x="822960" y="5577840"/>
            <a:ext cx="105426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Quien abra el proyecto en otro equipo compila con exactamente las mismas versiones.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Text 0"/>
          <p:cNvSpPr/>
          <p:nvPr/>
        </p:nvSpPr>
        <p:spPr>
          <a:xfrm>
            <a:off x="548640" y="36576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150" strike="noStrike">
                <a:solidFill>
                  <a:srgbClr val="1AA35C"/>
                </a:solidFill>
                <a:effectLst/>
                <a:uFillTx/>
                <a:latin typeface="Calibri"/>
                <a:ea typeface="Calibri"/>
              </a:rPr>
              <a:t>C.4 · DESDE LA TERMINAL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 1"/>
          <p:cNvSpPr/>
          <p:nvPr/>
        </p:nvSpPr>
        <p:spPr>
          <a:xfrm>
            <a:off x="548640" y="713160"/>
            <a:ext cx="11063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0243E"/>
                </a:solidFill>
                <a:effectLst/>
                <a:uFillTx/>
                <a:latin typeface="Cambria"/>
                <a:ea typeface="Cambria"/>
              </a:rPr>
              <a:t>Herramientas del SDK sin pasar por el IDE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2"/>
          <p:cNvSpPr/>
          <p:nvPr/>
        </p:nvSpPr>
        <p:spPr>
          <a:xfrm>
            <a:off x="548640" y="64465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UT1 · Complemento: clasificación de dispositivos, compatibilidad y SDK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 3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30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74" name="Table 0"/>
          <p:cNvGraphicFramePr/>
          <p:nvPr/>
        </p:nvGraphicFramePr>
        <p:xfrm>
          <a:off x="548640" y="1645920"/>
          <a:ext cx="11091240" cy="3200400"/>
        </p:xfrm>
        <a:graphic>
          <a:graphicData uri="http://schemas.openxmlformats.org/drawingml/2006/table">
            <a:tbl>
              <a:tblPr/>
              <a:tblGrid>
                <a:gridCol w="4206240"/>
                <a:gridCol w="2834640"/>
                <a:gridCol w="4050720"/>
              </a:tblGrid>
              <a:tr h="64008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Orden</a:t>
                      </a:r>
                      <a:endParaRPr lang="es-E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10243E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Carpeta del SDK</a:t>
                      </a:r>
                      <a:endParaRPr lang="es-E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10243E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Qué hace</a:t>
                      </a:r>
                      <a:endParaRPr lang="es-E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10243E"/>
                    </a:solidFill>
                  </a:tcPr>
                </a:tc>
              </a:tr>
              <a:tr h="64008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adb devices</a:t>
                      </a:r>
                      <a:endParaRPr lang="es-E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platform-tools</a:t>
                      </a:r>
                      <a:endParaRPr lang="es-E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Lista los dispositivos conectados y su estado</a:t>
                      </a:r>
                      <a:endParaRPr lang="es-E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adb shell getprop ro.build.version.sdk</a:t>
                      </a:r>
                      <a:endParaRPr lang="es-E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platform-tools</a:t>
                      </a:r>
                      <a:endParaRPr lang="es-E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Devuelve el nivel de API del dispositivo</a:t>
                      </a:r>
                      <a:endParaRPr lang="es-E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EEF3F7"/>
                    </a:solidFill>
                  </a:tcPr>
                </a:tc>
              </a:tr>
              <a:tr h="64008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emulator -list-avds</a:t>
                      </a:r>
                      <a:endParaRPr lang="es-E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emulator</a:t>
                      </a:r>
                      <a:endParaRPr lang="es-E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Lista los dispositivos virtuales creados</a:t>
                      </a:r>
                      <a:endParaRPr lang="es-E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sdkmanager --list_installed</a:t>
                      </a:r>
                      <a:endParaRPr lang="es-E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cmdline-tools/latest/bin</a:t>
                      </a:r>
                      <a:endParaRPr lang="es-E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A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Lista los paquetes del SDK instalados</a:t>
                      </a:r>
                      <a:endParaRPr lang="es-E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E1E8ED"/>
                      </a:solidFill>
                      <a:prstDash val="solid"/>
                    </a:lnL>
                    <a:lnR w="9360">
                      <a:solidFill>
                        <a:srgbClr val="E1E8ED"/>
                      </a:solidFill>
                      <a:prstDash val="solid"/>
                    </a:lnR>
                    <a:lnT w="9360">
                      <a:solidFill>
                        <a:srgbClr val="E1E8ED"/>
                      </a:solidFill>
                      <a:prstDash val="solid"/>
                    </a:lnT>
                    <a:lnB w="9360">
                      <a:solidFill>
                        <a:srgbClr val="E1E8ED"/>
                      </a:solidFill>
                      <a:prstDash val="solid"/>
                    </a:lnB>
                    <a:solidFill>
                      <a:srgbClr val="EEF3F7"/>
                    </a:solidFill>
                  </a:tcPr>
                </a:tc>
              </a:tr>
            </a:tbl>
          </a:graphicData>
        </a:graphic>
      </p:graphicFrame>
      <p:sp>
        <p:nvSpPr>
          <p:cNvPr id="475" name="Shape 4"/>
          <p:cNvSpPr/>
          <p:nvPr/>
        </p:nvSpPr>
        <p:spPr>
          <a:xfrm>
            <a:off x="548640" y="5029200"/>
            <a:ext cx="11091240" cy="822600"/>
          </a:xfrm>
          <a:prstGeom prst="roundRect">
            <a:avLst>
              <a:gd name="adj" fmla="val 6667"/>
            </a:avLst>
          </a:prstGeom>
          <a:solidFill>
            <a:srgbClr val="EAF3FF"/>
          </a:solidFill>
          <a:ln w="12700">
            <a:solidFill>
              <a:srgbClr val="EAF3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6" name="Text 5"/>
          <p:cNvSpPr/>
          <p:nvPr/>
        </p:nvSpPr>
        <p:spPr>
          <a:xfrm>
            <a:off x="822960" y="5120640"/>
            <a:ext cx="10542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adb se estudiará a fondo en la UT2, junto con Logcat, para depurar aplicaciones.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2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Shape 0"/>
          <p:cNvSpPr/>
          <p:nvPr/>
        </p:nvSpPr>
        <p:spPr>
          <a:xfrm>
            <a:off x="5660280" y="1737360"/>
            <a:ext cx="868320" cy="86832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78" name="Image 0" descr="preencoded.png"/>
          <p:cNvPicPr/>
          <p:nvPr/>
        </p:nvPicPr>
        <p:blipFill>
          <a:blip r:embed="rId1"/>
          <a:stretch/>
        </p:blipFill>
        <p:spPr>
          <a:xfrm>
            <a:off x="5877360" y="1954440"/>
            <a:ext cx="434160" cy="434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9" name="Text 1"/>
          <p:cNvSpPr/>
          <p:nvPr/>
        </p:nvSpPr>
        <p:spPr>
          <a:xfrm>
            <a:off x="548640" y="2788920"/>
            <a:ext cx="1109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300" strike="noStrike">
                <a:solidFill>
                  <a:srgbClr val="3DDC84"/>
                </a:solidFill>
                <a:effectLst/>
                <a:uFillTx/>
                <a:latin typeface="Calibri"/>
                <a:ea typeface="Calibri"/>
              </a:rPr>
              <a:t>BLOQUE D</a:t>
            </a: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2"/>
          <p:cNvSpPr/>
          <p:nvPr/>
        </p:nvSpPr>
        <p:spPr>
          <a:xfrm>
            <a:off x="1097280" y="3154680"/>
            <a:ext cx="99939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Lenguajes, módulos y librerías</a:t>
            </a:r>
            <a:endParaRPr lang="es-E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Text 3"/>
          <p:cNvSpPr/>
          <p:nvPr/>
        </p:nvSpPr>
        <p:spPr>
          <a:xfrm>
            <a:off x="1097280" y="4297680"/>
            <a:ext cx="99939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7D2E0"/>
                </a:solidFill>
                <a:effectLst/>
                <a:uFillTx/>
                <a:latin typeface="Calibri"/>
                <a:ea typeface="Calibri"/>
              </a:rPr>
              <a:t>Qué hay detrás de cada tecnología de desarrollo</a:t>
            </a: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2" name="Text 4"/>
          <p:cNvSpPr/>
          <p:nvPr/>
        </p:nvSpPr>
        <p:spPr>
          <a:xfrm>
            <a:off x="548640" y="64465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FB0C6"/>
                </a:solidFill>
                <a:effectLst/>
                <a:uFillTx/>
                <a:latin typeface="Calibri"/>
                <a:ea typeface="Calibri"/>
              </a:rPr>
              <a:t>UT1 · Complemento: clasificación de dispositivos, compatibilidad y SDK</a:t>
            </a:r>
            <a:endParaRPr lang="es-E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3" name="Text 5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FB0C6"/>
                </a:solidFill>
                <a:effectLst/>
                <a:uFillTx/>
                <a:latin typeface="Calibri"/>
                <a:ea typeface="Calibri"/>
              </a:rPr>
              <a:t>31</a:t>
            </a:r>
            <a:endParaRPr lang="es-E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Text 0"/>
          <p:cNvSpPr/>
          <p:nvPr/>
        </p:nvSpPr>
        <p:spPr>
          <a:xfrm>
            <a:off x="548640" y="36576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150" strike="noStrike">
                <a:solidFill>
                  <a:srgbClr val="1AA35C"/>
                </a:solidFill>
                <a:effectLst/>
                <a:uFillTx/>
                <a:latin typeface="Calibri"/>
                <a:ea typeface="Calibri"/>
              </a:rPr>
              <a:t>D · DESARROLLO NATIVO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Text 1"/>
          <p:cNvSpPr/>
          <p:nvPr/>
        </p:nvSpPr>
        <p:spPr>
          <a:xfrm>
            <a:off x="548640" y="713160"/>
            <a:ext cx="11063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0243E"/>
                </a:solidFill>
                <a:effectLst/>
                <a:uFillTx/>
                <a:latin typeface="Cambria"/>
                <a:ea typeface="Cambria"/>
              </a:rPr>
              <a:t>Android e iOS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Text 2"/>
          <p:cNvSpPr/>
          <p:nvPr/>
        </p:nvSpPr>
        <p:spPr>
          <a:xfrm>
            <a:off x="548640" y="64465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UT1 · Complemento: clasificación de dispositivos, compatibilidad y SDK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3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32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Shape 4"/>
          <p:cNvSpPr/>
          <p:nvPr/>
        </p:nvSpPr>
        <p:spPr>
          <a:xfrm>
            <a:off x="548640" y="1645920"/>
            <a:ext cx="5394600" cy="420588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9" name="Shape 5"/>
          <p:cNvSpPr/>
          <p:nvPr/>
        </p:nvSpPr>
        <p:spPr>
          <a:xfrm>
            <a:off x="777240" y="187452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90" name="Image 0" descr="preencoded.png"/>
          <p:cNvPicPr/>
          <p:nvPr/>
        </p:nvPicPr>
        <p:blipFill>
          <a:blip r:embed="rId1"/>
          <a:stretch/>
        </p:blipFill>
        <p:spPr>
          <a:xfrm>
            <a:off x="925920" y="202320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1" name="Text 6"/>
          <p:cNvSpPr/>
          <p:nvPr/>
        </p:nvSpPr>
        <p:spPr>
          <a:xfrm>
            <a:off x="777240" y="2606040"/>
            <a:ext cx="49374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Android nativo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7"/>
          <p:cNvSpPr/>
          <p:nvPr/>
        </p:nvSpPr>
        <p:spPr>
          <a:xfrm>
            <a:off x="777240" y="3063240"/>
            <a:ext cx="4937400" cy="265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Lenguaje: Kotlin (y Java)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Librerías: SDK de Android y Jetpack (Compose, Navigation, ViewModel, Room, DataStore, WorkManager, CameraX, Media3)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Dependencias: Gradle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Shape 8"/>
          <p:cNvSpPr/>
          <p:nvPr/>
        </p:nvSpPr>
        <p:spPr>
          <a:xfrm>
            <a:off x="6245280" y="1645920"/>
            <a:ext cx="5394600" cy="420588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4" name="Shape 9"/>
          <p:cNvSpPr/>
          <p:nvPr/>
        </p:nvSpPr>
        <p:spPr>
          <a:xfrm>
            <a:off x="6473880" y="187452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95" name="Image 1" descr="preencoded.png"/>
          <p:cNvPicPr/>
          <p:nvPr/>
        </p:nvPicPr>
        <p:blipFill>
          <a:blip r:embed="rId2"/>
          <a:stretch/>
        </p:blipFill>
        <p:spPr>
          <a:xfrm>
            <a:off x="6622560" y="202320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6" name="Text 10"/>
          <p:cNvSpPr/>
          <p:nvPr/>
        </p:nvSpPr>
        <p:spPr>
          <a:xfrm>
            <a:off x="6473880" y="2606040"/>
            <a:ext cx="49374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iOS nativo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Text 11"/>
          <p:cNvSpPr/>
          <p:nvPr/>
        </p:nvSpPr>
        <p:spPr>
          <a:xfrm>
            <a:off x="6473880" y="3063240"/>
            <a:ext cx="4937400" cy="265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Lenguaje: Swift (y Objective-C)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Librerías: SwiftUI y UIKit (interfaz), Foundation, SwiftData y Core Data (datos), AVFoundation (multimedia)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Dependencias: Swift Package Manager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Text 0"/>
          <p:cNvSpPr/>
          <p:nvPr/>
        </p:nvSpPr>
        <p:spPr>
          <a:xfrm>
            <a:off x="548640" y="36576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150" strike="noStrike">
                <a:solidFill>
                  <a:srgbClr val="1AA35C"/>
                </a:solidFill>
                <a:effectLst/>
                <a:uFillTx/>
                <a:latin typeface="Calibri"/>
                <a:ea typeface="Calibri"/>
              </a:rPr>
              <a:t>D · MULTIPLATAFORMA (1/2)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Text 1"/>
          <p:cNvSpPr/>
          <p:nvPr/>
        </p:nvSpPr>
        <p:spPr>
          <a:xfrm>
            <a:off x="548640" y="713160"/>
            <a:ext cx="11063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0243E"/>
                </a:solidFill>
                <a:effectLst/>
                <a:uFillTx/>
                <a:latin typeface="Cambria"/>
                <a:ea typeface="Cambria"/>
              </a:rPr>
              <a:t>Flutter, React Native y Kotlin Multiplatform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Text 2"/>
          <p:cNvSpPr/>
          <p:nvPr/>
        </p:nvSpPr>
        <p:spPr>
          <a:xfrm>
            <a:off x="548640" y="64465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UT1 · Complemento: clasificación de dispositivos, compatibilidad y SDK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Text 3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33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Shape 4"/>
          <p:cNvSpPr/>
          <p:nvPr/>
        </p:nvSpPr>
        <p:spPr>
          <a:xfrm>
            <a:off x="548640" y="1645920"/>
            <a:ext cx="3520080" cy="429732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3" name="Shape 5"/>
          <p:cNvSpPr/>
          <p:nvPr/>
        </p:nvSpPr>
        <p:spPr>
          <a:xfrm>
            <a:off x="777240" y="187452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04" name="Image 0" descr="preencoded.png"/>
          <p:cNvPicPr/>
          <p:nvPr/>
        </p:nvPicPr>
        <p:blipFill>
          <a:blip r:embed="rId1"/>
          <a:stretch/>
        </p:blipFill>
        <p:spPr>
          <a:xfrm>
            <a:off x="925920" y="202320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5" name="Text 6"/>
          <p:cNvSpPr/>
          <p:nvPr/>
        </p:nvSpPr>
        <p:spPr>
          <a:xfrm>
            <a:off x="777240" y="2606040"/>
            <a:ext cx="30628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Flutter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 7"/>
          <p:cNvSpPr/>
          <p:nvPr/>
        </p:nvSpPr>
        <p:spPr>
          <a:xfrm>
            <a:off x="777240" y="3063240"/>
            <a:ext cx="306288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Dart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Widgets Material y Cupertino; paquetes de pub.dev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Gestor: pub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Shape 8"/>
          <p:cNvSpPr/>
          <p:nvPr/>
        </p:nvSpPr>
        <p:spPr>
          <a:xfrm>
            <a:off x="4334400" y="1645920"/>
            <a:ext cx="3520080" cy="429732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8" name="Shape 9"/>
          <p:cNvSpPr/>
          <p:nvPr/>
        </p:nvSpPr>
        <p:spPr>
          <a:xfrm>
            <a:off x="4563000" y="187452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09" name="Image 1" descr="preencoded.png"/>
          <p:cNvPicPr/>
          <p:nvPr/>
        </p:nvPicPr>
        <p:blipFill>
          <a:blip r:embed="rId2"/>
          <a:stretch/>
        </p:blipFill>
        <p:spPr>
          <a:xfrm>
            <a:off x="4711320" y="202320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0" name="Text 10"/>
          <p:cNvSpPr/>
          <p:nvPr/>
        </p:nvSpPr>
        <p:spPr>
          <a:xfrm>
            <a:off x="4563000" y="2606040"/>
            <a:ext cx="30628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React Native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11"/>
          <p:cNvSpPr/>
          <p:nvPr/>
        </p:nvSpPr>
        <p:spPr>
          <a:xfrm>
            <a:off x="4563000" y="3063240"/>
            <a:ext cx="306288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JavaScript / TypeScript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View, Text, Image; React Navigation; SDK de Expo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Gestor: npm / yarn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Shape 12"/>
          <p:cNvSpPr/>
          <p:nvPr/>
        </p:nvSpPr>
        <p:spPr>
          <a:xfrm>
            <a:off x="8119800" y="1645920"/>
            <a:ext cx="3520080" cy="429732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3" name="Shape 13"/>
          <p:cNvSpPr/>
          <p:nvPr/>
        </p:nvSpPr>
        <p:spPr>
          <a:xfrm>
            <a:off x="8348400" y="187452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14" name="Image 2" descr="preencoded.png"/>
          <p:cNvPicPr/>
          <p:nvPr/>
        </p:nvPicPr>
        <p:blipFill>
          <a:blip r:embed="rId3"/>
          <a:stretch/>
        </p:blipFill>
        <p:spPr>
          <a:xfrm>
            <a:off x="8497080" y="202320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5" name="Text 14"/>
          <p:cNvSpPr/>
          <p:nvPr/>
        </p:nvSpPr>
        <p:spPr>
          <a:xfrm>
            <a:off x="8348400" y="2606040"/>
            <a:ext cx="30628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Kotlin Multiplatform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Text 15"/>
          <p:cNvSpPr/>
          <p:nvPr/>
        </p:nvSpPr>
        <p:spPr>
          <a:xfrm>
            <a:off x="8348400" y="3063240"/>
            <a:ext cx="306288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Kotlin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Módulo compartido (expect/actual), Ktor, SQLDelight, coroutines, Compose Multiplatform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Gestor: Gradle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Text 0"/>
          <p:cNvSpPr/>
          <p:nvPr/>
        </p:nvSpPr>
        <p:spPr>
          <a:xfrm>
            <a:off x="548640" y="36576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150" strike="noStrike">
                <a:solidFill>
                  <a:srgbClr val="1AA35C"/>
                </a:solidFill>
                <a:effectLst/>
                <a:uFillTx/>
                <a:latin typeface="Calibri"/>
                <a:ea typeface="Calibri"/>
              </a:rPr>
              <a:t>D · MULTIPLATAFORMA (2/2)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1"/>
          <p:cNvSpPr/>
          <p:nvPr/>
        </p:nvSpPr>
        <p:spPr>
          <a:xfrm>
            <a:off x="548640" y="713160"/>
            <a:ext cx="11063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0243E"/>
                </a:solidFill>
                <a:effectLst/>
                <a:uFillTx/>
                <a:latin typeface="Cambria"/>
                <a:ea typeface="Cambria"/>
              </a:rPr>
              <a:t>.NET MAUI e híbridas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2"/>
          <p:cNvSpPr/>
          <p:nvPr/>
        </p:nvSpPr>
        <p:spPr>
          <a:xfrm>
            <a:off x="548640" y="64465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UT1 · Complemento: clasificación de dispositivos, compatibilidad y SDK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3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34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Shape 4"/>
          <p:cNvSpPr/>
          <p:nvPr/>
        </p:nvSpPr>
        <p:spPr>
          <a:xfrm>
            <a:off x="548640" y="1645920"/>
            <a:ext cx="5394600" cy="36572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2" name="Shape 5"/>
          <p:cNvSpPr/>
          <p:nvPr/>
        </p:nvSpPr>
        <p:spPr>
          <a:xfrm>
            <a:off x="777240" y="187452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23" name="Image 0" descr="preencoded.png"/>
          <p:cNvPicPr/>
          <p:nvPr/>
        </p:nvPicPr>
        <p:blipFill>
          <a:blip r:embed="rId1"/>
          <a:stretch/>
        </p:blipFill>
        <p:spPr>
          <a:xfrm>
            <a:off x="925920" y="202320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4" name="Text 6"/>
          <p:cNvSpPr/>
          <p:nvPr/>
        </p:nvSpPr>
        <p:spPr>
          <a:xfrm>
            <a:off x="777240" y="2606040"/>
            <a:ext cx="49374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.NET MAUI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 7"/>
          <p:cNvSpPr/>
          <p:nvPr/>
        </p:nvSpPr>
        <p:spPr>
          <a:xfrm>
            <a:off x="777240" y="3063240"/>
            <a:ext cx="49374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7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C# y XAML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7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Controles de .NET MAUI y bibliotecas de .NET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7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Gestor: NuGet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Shape 8"/>
          <p:cNvSpPr/>
          <p:nvPr/>
        </p:nvSpPr>
        <p:spPr>
          <a:xfrm>
            <a:off x="6245280" y="1645920"/>
            <a:ext cx="5394600" cy="36572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7" name="Shape 9"/>
          <p:cNvSpPr/>
          <p:nvPr/>
        </p:nvSpPr>
        <p:spPr>
          <a:xfrm>
            <a:off x="6473880" y="1874520"/>
            <a:ext cx="594000" cy="59400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28" name="Image 1" descr="preencoded.png"/>
          <p:cNvPicPr/>
          <p:nvPr/>
        </p:nvPicPr>
        <p:blipFill>
          <a:blip r:embed="rId2"/>
          <a:stretch/>
        </p:blipFill>
        <p:spPr>
          <a:xfrm>
            <a:off x="6622560" y="202320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9" name="Text 10"/>
          <p:cNvSpPr/>
          <p:nvPr/>
        </p:nvSpPr>
        <p:spPr>
          <a:xfrm>
            <a:off x="6473880" y="2606040"/>
            <a:ext cx="49374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Híbridas (Ionic, Capacitor)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Text 11"/>
          <p:cNvSpPr/>
          <p:nvPr/>
        </p:nvSpPr>
        <p:spPr>
          <a:xfrm>
            <a:off x="6473880" y="3063240"/>
            <a:ext cx="49374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7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HTML, CSS, JavaScript / TypeScript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7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Componentes de Ionic sobre Angular, React o Vue; plugins de Capacitor para el hardware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7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Gestor: npm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Text 0"/>
          <p:cNvSpPr/>
          <p:nvPr/>
        </p:nvSpPr>
        <p:spPr>
          <a:xfrm>
            <a:off x="548640" y="36576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150" strike="noStrike">
                <a:solidFill>
                  <a:srgbClr val="1AA35C"/>
                </a:solidFill>
                <a:effectLst/>
                <a:uFillTx/>
                <a:latin typeface="Calibri"/>
                <a:ea typeface="Calibri"/>
              </a:rPr>
              <a:t>NOTA DE ACTUALIZACIÓN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1"/>
          <p:cNvSpPr/>
          <p:nvPr/>
        </p:nvSpPr>
        <p:spPr>
          <a:xfrm>
            <a:off x="548640" y="713160"/>
            <a:ext cx="11063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0243E"/>
                </a:solidFill>
                <a:effectLst/>
                <a:uFillTx/>
                <a:latin typeface="Cambria"/>
                <a:ea typeface="Cambria"/>
              </a:rPr>
              <a:t>Android Studio hoy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2"/>
          <p:cNvSpPr/>
          <p:nvPr/>
        </p:nvSpPr>
        <p:spPr>
          <a:xfrm>
            <a:off x="548640" y="64465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UT1 · Complemento: clasificación de dispositivos, compatibilidad y SDK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3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35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Shape 4"/>
          <p:cNvSpPr/>
          <p:nvPr/>
        </p:nvSpPr>
        <p:spPr>
          <a:xfrm>
            <a:off x="1051560" y="2514600"/>
            <a:ext cx="10113120" cy="360"/>
          </a:xfrm>
          <a:prstGeom prst="line">
            <a:avLst/>
          </a:prstGeom>
          <a:ln w="25400">
            <a:solidFill>
              <a:srgbClr val="C7D2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6" name="Shape 5"/>
          <p:cNvSpPr/>
          <p:nvPr/>
        </p:nvSpPr>
        <p:spPr>
          <a:xfrm>
            <a:off x="822960" y="2286000"/>
            <a:ext cx="456840" cy="456840"/>
          </a:xfrm>
          <a:prstGeom prst="ellipse">
            <a:avLst/>
          </a:prstGeom>
          <a:solidFill>
            <a:srgbClr val="C7D2E0"/>
          </a:solidFill>
          <a:ln w="12700">
            <a:solidFill>
              <a:srgbClr val="C7D2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7" name="Text 6"/>
          <p:cNvSpPr/>
          <p:nvPr/>
        </p:nvSpPr>
        <p:spPr>
          <a:xfrm>
            <a:off x="365760" y="2880360"/>
            <a:ext cx="1371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Koala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Shape 7"/>
          <p:cNvSpPr/>
          <p:nvPr/>
        </p:nvSpPr>
        <p:spPr>
          <a:xfrm>
            <a:off x="2267640" y="2286000"/>
            <a:ext cx="456840" cy="456840"/>
          </a:xfrm>
          <a:prstGeom prst="ellipse">
            <a:avLst/>
          </a:prstGeom>
          <a:solidFill>
            <a:srgbClr val="C7D2E0"/>
          </a:solidFill>
          <a:ln w="12700">
            <a:solidFill>
              <a:srgbClr val="C7D2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9" name="Text 8"/>
          <p:cNvSpPr/>
          <p:nvPr/>
        </p:nvSpPr>
        <p:spPr>
          <a:xfrm>
            <a:off x="1810440" y="2880360"/>
            <a:ext cx="1371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Ladybug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Shape 9"/>
          <p:cNvSpPr/>
          <p:nvPr/>
        </p:nvSpPr>
        <p:spPr>
          <a:xfrm>
            <a:off x="3712320" y="2286000"/>
            <a:ext cx="456840" cy="456840"/>
          </a:xfrm>
          <a:prstGeom prst="ellipse">
            <a:avLst/>
          </a:prstGeom>
          <a:solidFill>
            <a:srgbClr val="C7D2E0"/>
          </a:solidFill>
          <a:ln w="12700">
            <a:solidFill>
              <a:srgbClr val="C7D2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1" name="Text 10"/>
          <p:cNvSpPr/>
          <p:nvPr/>
        </p:nvSpPr>
        <p:spPr>
          <a:xfrm>
            <a:off x="3255120" y="2880360"/>
            <a:ext cx="1371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Meerkat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Shape 11"/>
          <p:cNvSpPr/>
          <p:nvPr/>
        </p:nvSpPr>
        <p:spPr>
          <a:xfrm>
            <a:off x="5157360" y="2286000"/>
            <a:ext cx="456840" cy="456840"/>
          </a:xfrm>
          <a:prstGeom prst="ellipse">
            <a:avLst/>
          </a:prstGeom>
          <a:solidFill>
            <a:srgbClr val="C7D2E0"/>
          </a:solidFill>
          <a:ln w="12700">
            <a:solidFill>
              <a:srgbClr val="C7D2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3" name="Text 12"/>
          <p:cNvSpPr/>
          <p:nvPr/>
        </p:nvSpPr>
        <p:spPr>
          <a:xfrm>
            <a:off x="4700160" y="2880360"/>
            <a:ext cx="1371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Narwhal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Shape 13"/>
          <p:cNvSpPr/>
          <p:nvPr/>
        </p:nvSpPr>
        <p:spPr>
          <a:xfrm>
            <a:off x="6602040" y="2286000"/>
            <a:ext cx="456840" cy="456840"/>
          </a:xfrm>
          <a:prstGeom prst="ellipse">
            <a:avLst/>
          </a:prstGeom>
          <a:solidFill>
            <a:srgbClr val="C7D2E0"/>
          </a:solidFill>
          <a:ln w="12700">
            <a:solidFill>
              <a:srgbClr val="C7D2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5" name="Text 14"/>
          <p:cNvSpPr/>
          <p:nvPr/>
        </p:nvSpPr>
        <p:spPr>
          <a:xfrm>
            <a:off x="6144840" y="2880360"/>
            <a:ext cx="1371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Otter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Shape 15"/>
          <p:cNvSpPr/>
          <p:nvPr/>
        </p:nvSpPr>
        <p:spPr>
          <a:xfrm>
            <a:off x="8046720" y="2286000"/>
            <a:ext cx="456840" cy="456840"/>
          </a:xfrm>
          <a:prstGeom prst="ellipse">
            <a:avLst/>
          </a:prstGeom>
          <a:solidFill>
            <a:srgbClr val="C7D2E0"/>
          </a:solidFill>
          <a:ln w="12700">
            <a:solidFill>
              <a:srgbClr val="C7D2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7" name="Text 16"/>
          <p:cNvSpPr/>
          <p:nvPr/>
        </p:nvSpPr>
        <p:spPr>
          <a:xfrm>
            <a:off x="7589520" y="2880360"/>
            <a:ext cx="1371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Panda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Shape 17"/>
          <p:cNvSpPr/>
          <p:nvPr/>
        </p:nvSpPr>
        <p:spPr>
          <a:xfrm>
            <a:off x="9491400" y="2286000"/>
            <a:ext cx="456840" cy="45684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9" name="Text 18"/>
          <p:cNvSpPr/>
          <p:nvPr/>
        </p:nvSpPr>
        <p:spPr>
          <a:xfrm>
            <a:off x="9034200" y="2880360"/>
            <a:ext cx="1371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Quail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Shape 19"/>
          <p:cNvSpPr/>
          <p:nvPr/>
        </p:nvSpPr>
        <p:spPr>
          <a:xfrm>
            <a:off x="10936080" y="2286000"/>
            <a:ext cx="456840" cy="456840"/>
          </a:xfrm>
          <a:prstGeom prst="ellipse">
            <a:avLst/>
          </a:prstGeom>
          <a:solidFill>
            <a:srgbClr val="FF7A45"/>
          </a:solidFill>
          <a:ln w="12700">
            <a:solidFill>
              <a:srgbClr val="FF7A4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1" name="Text 20"/>
          <p:cNvSpPr/>
          <p:nvPr/>
        </p:nvSpPr>
        <p:spPr>
          <a:xfrm>
            <a:off x="10478880" y="2880360"/>
            <a:ext cx="1371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Rabbit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21"/>
          <p:cNvSpPr/>
          <p:nvPr/>
        </p:nvSpPr>
        <p:spPr>
          <a:xfrm>
            <a:off x="9034200" y="1783080"/>
            <a:ext cx="137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AA35C"/>
                </a:solidFill>
                <a:effectLst/>
                <a:uFillTx/>
                <a:latin typeface="Calibri"/>
                <a:ea typeface="Calibri"/>
              </a:rPr>
              <a:t>Estable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Text 22"/>
          <p:cNvSpPr/>
          <p:nvPr/>
        </p:nvSpPr>
        <p:spPr>
          <a:xfrm>
            <a:off x="10387440" y="1783080"/>
            <a:ext cx="1554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7A45"/>
                </a:solidFill>
                <a:effectLst/>
                <a:uFillTx/>
                <a:latin typeface="Calibri"/>
                <a:ea typeface="Calibri"/>
              </a:rPr>
              <a:t>En pruebas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Shape 23"/>
          <p:cNvSpPr/>
          <p:nvPr/>
        </p:nvSpPr>
        <p:spPr>
          <a:xfrm>
            <a:off x="548640" y="3840480"/>
            <a:ext cx="11091240" cy="9140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 w="12700">
            <a:solidFill>
              <a:srgbClr val="EAF3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5" name="Text 24"/>
          <p:cNvSpPr/>
          <p:nvPr/>
        </p:nvSpPr>
        <p:spPr>
          <a:xfrm>
            <a:off x="822960" y="3931920"/>
            <a:ext cx="105426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A finales de septiembre de 2026, la versión estable es Android Studio Quail (2026.1). Rabbit está en fase de pruebas.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Text 25"/>
          <p:cNvSpPr/>
          <p:nvPr/>
        </p:nvSpPr>
        <p:spPr>
          <a:xfrm>
            <a:off x="548640" y="502920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No hace falta la última versión para las prácticas. En una empresa, lo normal es revisar las notas de cada versión antes de actualizar.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Text 0"/>
          <p:cNvSpPr/>
          <p:nvPr/>
        </p:nvSpPr>
        <p:spPr>
          <a:xfrm>
            <a:off x="548640" y="36576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150" strike="noStrike">
                <a:solidFill>
                  <a:srgbClr val="1AA35C"/>
                </a:solidFill>
                <a:effectLst/>
                <a:uFillTx/>
                <a:latin typeface="Calibri"/>
                <a:ea typeface="Calibri"/>
              </a:rPr>
              <a:t>RESUMEN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1"/>
          <p:cNvSpPr/>
          <p:nvPr/>
        </p:nvSpPr>
        <p:spPr>
          <a:xfrm>
            <a:off x="548640" y="713160"/>
            <a:ext cx="11063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0243E"/>
                </a:solidFill>
                <a:effectLst/>
                <a:uFillTx/>
                <a:latin typeface="Cambria"/>
                <a:ea typeface="Cambria"/>
              </a:rPr>
              <a:t>Las ideas clave del complemento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Text 2"/>
          <p:cNvSpPr/>
          <p:nvPr/>
        </p:nvSpPr>
        <p:spPr>
          <a:xfrm>
            <a:off x="548640" y="64465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UT1 · Complemento: clasificación de dispositivos, compatibilidad y SDK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Text 3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36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4"/>
          <p:cNvSpPr/>
          <p:nvPr/>
        </p:nvSpPr>
        <p:spPr>
          <a:xfrm>
            <a:off x="548640" y="1645920"/>
            <a:ext cx="502560" cy="50256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62" name="Image 0" descr="preencoded.png"/>
          <p:cNvPicPr/>
          <p:nvPr/>
        </p:nvPicPr>
        <p:blipFill>
          <a:blip r:embed="rId1"/>
          <a:stretch/>
        </p:blipFill>
        <p:spPr>
          <a:xfrm>
            <a:off x="674280" y="1771560"/>
            <a:ext cx="251280" cy="2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3" name="Text 5"/>
          <p:cNvSpPr/>
          <p:nvPr/>
        </p:nvSpPr>
        <p:spPr>
          <a:xfrm>
            <a:off x="1280160" y="162756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Se diseña en dp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Text 6"/>
          <p:cNvSpPr/>
          <p:nvPr/>
        </p:nvSpPr>
        <p:spPr>
          <a:xfrm>
            <a:off x="1280160" y="1993320"/>
            <a:ext cx="4663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dp = px × 160 / dpi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7"/>
          <p:cNvSpPr/>
          <p:nvPr/>
        </p:nvSpPr>
        <p:spPr>
          <a:xfrm>
            <a:off x="548640" y="2743200"/>
            <a:ext cx="502560" cy="50256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66" name="Image 1" descr="preencoded.png"/>
          <p:cNvPicPr/>
          <p:nvPr/>
        </p:nvPicPr>
        <p:blipFill>
          <a:blip r:embed="rId2"/>
          <a:stretch/>
        </p:blipFill>
        <p:spPr>
          <a:xfrm>
            <a:off x="674280" y="2868840"/>
            <a:ext cx="251280" cy="2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7" name="Text 8"/>
          <p:cNvSpPr/>
          <p:nvPr/>
        </p:nvSpPr>
        <p:spPr>
          <a:xfrm>
            <a:off x="1280160" y="272484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Clases de tamaño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Text 9"/>
          <p:cNvSpPr/>
          <p:nvPr/>
        </p:nvSpPr>
        <p:spPr>
          <a:xfrm>
            <a:off x="1280160" y="3090600"/>
            <a:ext cx="4663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Son de la ventana y cambian al girar.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10"/>
          <p:cNvSpPr/>
          <p:nvPr/>
        </p:nvSpPr>
        <p:spPr>
          <a:xfrm>
            <a:off x="548640" y="3840480"/>
            <a:ext cx="502560" cy="50256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70" name="Image 2" descr="preencoded.png"/>
          <p:cNvPicPr/>
          <p:nvPr/>
        </p:nvPicPr>
        <p:blipFill>
          <a:blip r:embed="rId3"/>
          <a:stretch/>
        </p:blipFill>
        <p:spPr>
          <a:xfrm>
            <a:off x="674280" y="3966120"/>
            <a:ext cx="251280" cy="2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1" name="Text 11"/>
          <p:cNvSpPr/>
          <p:nvPr/>
        </p:nvSpPr>
        <p:spPr>
          <a:xfrm>
            <a:off x="1280160" y="382212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Nivel de API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Text 12"/>
          <p:cNvSpPr/>
          <p:nvPr/>
        </p:nvSpPr>
        <p:spPr>
          <a:xfrm>
            <a:off x="1280160" y="4187880"/>
            <a:ext cx="4663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El número que identifica la versión.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Shape 13"/>
          <p:cNvSpPr/>
          <p:nvPr/>
        </p:nvSpPr>
        <p:spPr>
          <a:xfrm>
            <a:off x="548640" y="4937760"/>
            <a:ext cx="502560" cy="50256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74" name="Image 3" descr="preencoded.png"/>
          <p:cNvPicPr/>
          <p:nvPr/>
        </p:nvPicPr>
        <p:blipFill>
          <a:blip r:embed="rId4"/>
          <a:stretch/>
        </p:blipFill>
        <p:spPr>
          <a:xfrm>
            <a:off x="674280" y="5063400"/>
            <a:ext cx="251280" cy="2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5" name="Text 14"/>
          <p:cNvSpPr/>
          <p:nvPr/>
        </p:nvSpPr>
        <p:spPr>
          <a:xfrm>
            <a:off x="1280160" y="491940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ABI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Text 15"/>
          <p:cNvSpPr/>
          <p:nvPr/>
        </p:nvSpPr>
        <p:spPr>
          <a:xfrm>
            <a:off x="1280160" y="5285160"/>
            <a:ext cx="4663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Solo importa con código nativo.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Shape 16"/>
          <p:cNvSpPr/>
          <p:nvPr/>
        </p:nvSpPr>
        <p:spPr>
          <a:xfrm>
            <a:off x="6245280" y="1645920"/>
            <a:ext cx="502560" cy="50256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78" name="Image 4" descr="preencoded.png"/>
          <p:cNvPicPr/>
          <p:nvPr/>
        </p:nvPicPr>
        <p:blipFill>
          <a:blip r:embed="rId5"/>
          <a:stretch/>
        </p:blipFill>
        <p:spPr>
          <a:xfrm>
            <a:off x="6370920" y="1771560"/>
            <a:ext cx="251280" cy="2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9" name="Text 17"/>
          <p:cNvSpPr/>
          <p:nvPr/>
        </p:nvSpPr>
        <p:spPr>
          <a:xfrm>
            <a:off x="6976800" y="162756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minSdk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18"/>
          <p:cNvSpPr/>
          <p:nvPr/>
        </p:nvSpPr>
        <p:spPr>
          <a:xfrm>
            <a:off x="6976800" y="1993320"/>
            <a:ext cx="4663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Decide dónde se instala.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Shape 19"/>
          <p:cNvSpPr/>
          <p:nvPr/>
        </p:nvSpPr>
        <p:spPr>
          <a:xfrm>
            <a:off x="6245280" y="2743200"/>
            <a:ext cx="502560" cy="50256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82" name="Image 5" descr="preencoded.png"/>
          <p:cNvPicPr/>
          <p:nvPr/>
        </p:nvPicPr>
        <p:blipFill>
          <a:blip r:embed="rId6"/>
          <a:stretch/>
        </p:blipFill>
        <p:spPr>
          <a:xfrm>
            <a:off x="6370920" y="2868840"/>
            <a:ext cx="251280" cy="2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3" name="Text 20"/>
          <p:cNvSpPr/>
          <p:nvPr/>
        </p:nvSpPr>
        <p:spPr>
          <a:xfrm>
            <a:off x="6976800" y="272484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targetSdk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Text 21"/>
          <p:cNvSpPr/>
          <p:nvPr/>
        </p:nvSpPr>
        <p:spPr>
          <a:xfrm>
            <a:off x="6976800" y="3090600"/>
            <a:ext cx="4663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Decide qué comportamientos se aplican.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Shape 22"/>
          <p:cNvSpPr/>
          <p:nvPr/>
        </p:nvSpPr>
        <p:spPr>
          <a:xfrm>
            <a:off x="6245280" y="3840480"/>
            <a:ext cx="502560" cy="50256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86" name="Image 6" descr="preencoded.png"/>
          <p:cNvPicPr/>
          <p:nvPr/>
        </p:nvPicPr>
        <p:blipFill>
          <a:blip r:embed="rId7"/>
          <a:stretch/>
        </p:blipFill>
        <p:spPr>
          <a:xfrm>
            <a:off x="6370920" y="3966120"/>
            <a:ext cx="251280" cy="2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7" name="Text 23"/>
          <p:cNvSpPr/>
          <p:nvPr/>
        </p:nvSpPr>
        <p:spPr>
          <a:xfrm>
            <a:off x="6976800" y="382212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uses-feature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Text 24"/>
          <p:cNvSpPr/>
          <p:nvPr/>
        </p:nvSpPr>
        <p:spPr>
          <a:xfrm>
            <a:off x="6976800" y="4187880"/>
            <a:ext cx="4663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Google Play filtra por hardware.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Shape 25"/>
          <p:cNvSpPr/>
          <p:nvPr/>
        </p:nvSpPr>
        <p:spPr>
          <a:xfrm>
            <a:off x="6245280" y="4937760"/>
            <a:ext cx="502560" cy="50256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90" name="Image 7" descr="preencoded.png"/>
          <p:cNvPicPr/>
          <p:nvPr/>
        </p:nvPicPr>
        <p:blipFill>
          <a:blip r:embed="rId8"/>
          <a:stretch/>
        </p:blipFill>
        <p:spPr>
          <a:xfrm>
            <a:off x="6370920" y="5063400"/>
            <a:ext cx="251280" cy="2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1" name="Text 26"/>
          <p:cNvSpPr/>
          <p:nvPr/>
        </p:nvSpPr>
        <p:spPr>
          <a:xfrm>
            <a:off x="6976800" y="491940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243E"/>
                </a:solidFill>
                <a:effectLst/>
                <a:uFillTx/>
                <a:latin typeface="Calibri"/>
                <a:ea typeface="Calibri"/>
              </a:rPr>
              <a:t>SDK Manager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27"/>
          <p:cNvSpPr/>
          <p:nvPr/>
        </p:nvSpPr>
        <p:spPr>
          <a:xfrm>
            <a:off x="6976800" y="5285160"/>
            <a:ext cx="4663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Plataformas, imágenes y herramientas.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Text 0"/>
          <p:cNvSpPr/>
          <p:nvPr/>
        </p:nvSpPr>
        <p:spPr>
          <a:xfrm>
            <a:off x="548640" y="36576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150" strike="noStrike">
                <a:solidFill>
                  <a:srgbClr val="1AA35C"/>
                </a:solidFill>
                <a:effectLst/>
                <a:uFillTx/>
                <a:latin typeface="Calibri"/>
                <a:ea typeface="Calibri"/>
              </a:rPr>
              <a:t>ACTIVIDADES DE REPASO (1/2)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1"/>
          <p:cNvSpPr/>
          <p:nvPr/>
        </p:nvSpPr>
        <p:spPr>
          <a:xfrm>
            <a:off x="548640" y="713160"/>
            <a:ext cx="11063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0243E"/>
                </a:solidFill>
                <a:effectLst/>
                <a:uFillTx/>
                <a:latin typeface="Cambria"/>
                <a:ea typeface="Cambria"/>
              </a:rPr>
              <a:t>Antes de empezar la práctica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2"/>
          <p:cNvSpPr/>
          <p:nvPr/>
        </p:nvSpPr>
        <p:spPr>
          <a:xfrm>
            <a:off x="548640" y="64465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UT1 · Complemento: clasificación de dispositivos, compatibilidad y SDK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3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37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Shape 4"/>
          <p:cNvSpPr/>
          <p:nvPr/>
        </p:nvSpPr>
        <p:spPr>
          <a:xfrm>
            <a:off x="548640" y="1645920"/>
            <a:ext cx="11091240" cy="12798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8" name="Shape 5"/>
          <p:cNvSpPr/>
          <p:nvPr/>
        </p:nvSpPr>
        <p:spPr>
          <a:xfrm>
            <a:off x="777240" y="2011680"/>
            <a:ext cx="548280" cy="548280"/>
          </a:xfrm>
          <a:prstGeom prst="ellipse">
            <a:avLst/>
          </a:prstGeom>
          <a:solidFill>
            <a:srgbClr val="FF7A45"/>
          </a:solidFill>
          <a:ln w="12700">
            <a:solidFill>
              <a:srgbClr val="FF7A4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9" name="Text 6"/>
          <p:cNvSpPr/>
          <p:nvPr/>
        </p:nvSpPr>
        <p:spPr>
          <a:xfrm>
            <a:off x="777240" y="20116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Text 7"/>
          <p:cNvSpPr/>
          <p:nvPr/>
        </p:nvSpPr>
        <p:spPr>
          <a:xfrm>
            <a:off x="1600200" y="1783080"/>
            <a:ext cx="9829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Un teléfono de 720 × 1600 px y 320 dpi: calcula su ancho en dp en vertical, su grupo de densidad y su clase de ancho en vertical y en horizontal.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Shape 8"/>
          <p:cNvSpPr/>
          <p:nvPr/>
        </p:nvSpPr>
        <p:spPr>
          <a:xfrm>
            <a:off x="548640" y="3108960"/>
            <a:ext cx="11091240" cy="12798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2" name="Shape 9"/>
          <p:cNvSpPr/>
          <p:nvPr/>
        </p:nvSpPr>
        <p:spPr>
          <a:xfrm>
            <a:off x="777240" y="3474720"/>
            <a:ext cx="548280" cy="548280"/>
          </a:xfrm>
          <a:prstGeom prst="ellipse">
            <a:avLst/>
          </a:prstGeom>
          <a:solidFill>
            <a:srgbClr val="FF7A45"/>
          </a:solidFill>
          <a:ln w="12700">
            <a:solidFill>
              <a:srgbClr val="FF7A4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3" name="Text 10"/>
          <p:cNvSpPr/>
          <p:nvPr/>
        </p:nvSpPr>
        <p:spPr>
          <a:xfrm>
            <a:off x="777240" y="347472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11"/>
          <p:cNvSpPr/>
          <p:nvPr/>
        </p:nvSpPr>
        <p:spPr>
          <a:xfrm>
            <a:off x="1600200" y="3246120"/>
            <a:ext cx="9829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Una tablet de 1800 × 2880 px y 360 dpi: ¿qué ancho en dp ofrece en vertical y en horizontal? ¿Qué clase corresponde a cada caso?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Shape 12"/>
          <p:cNvSpPr/>
          <p:nvPr/>
        </p:nvSpPr>
        <p:spPr>
          <a:xfrm>
            <a:off x="548640" y="4572000"/>
            <a:ext cx="11091240" cy="12798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6" name="Shape 13"/>
          <p:cNvSpPr/>
          <p:nvPr/>
        </p:nvSpPr>
        <p:spPr>
          <a:xfrm>
            <a:off x="777240" y="4937760"/>
            <a:ext cx="548280" cy="548280"/>
          </a:xfrm>
          <a:prstGeom prst="ellipse">
            <a:avLst/>
          </a:prstGeom>
          <a:solidFill>
            <a:srgbClr val="FF7A45"/>
          </a:solidFill>
          <a:ln w="12700">
            <a:solidFill>
              <a:srgbClr val="FF7A4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7" name="Text 14"/>
          <p:cNvSpPr/>
          <p:nvPr/>
        </p:nvSpPr>
        <p:spPr>
          <a:xfrm>
            <a:off x="777240" y="493776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Text 15"/>
          <p:cNvSpPr/>
          <p:nvPr/>
        </p:nvSpPr>
        <p:spPr>
          <a:xfrm>
            <a:off x="1600200" y="4709160"/>
            <a:ext cx="9829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Una app con minSdk = 26 y targetSdk = 36: ¿se instala en Android 7.1? ¿Y en Android 17? Justifícalo con los niveles de API.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Text 0"/>
          <p:cNvSpPr/>
          <p:nvPr/>
        </p:nvSpPr>
        <p:spPr>
          <a:xfrm>
            <a:off x="548640" y="36576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150" strike="noStrike">
                <a:solidFill>
                  <a:srgbClr val="1AA35C"/>
                </a:solidFill>
                <a:effectLst/>
                <a:uFillTx/>
                <a:latin typeface="Calibri"/>
                <a:ea typeface="Calibri"/>
              </a:rPr>
              <a:t>ACTIVIDADES DE REPASO (2/2)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1"/>
          <p:cNvSpPr/>
          <p:nvPr/>
        </p:nvSpPr>
        <p:spPr>
          <a:xfrm>
            <a:off x="548640" y="713160"/>
            <a:ext cx="11063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0243E"/>
                </a:solidFill>
                <a:effectLst/>
                <a:uFillTx/>
                <a:latin typeface="Cambria"/>
                <a:ea typeface="Cambria"/>
              </a:rPr>
              <a:t>Antes de empezar la práctica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Text 2"/>
          <p:cNvSpPr/>
          <p:nvPr/>
        </p:nvSpPr>
        <p:spPr>
          <a:xfrm>
            <a:off x="548640" y="64465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UT1 · Complemento: clasificación de dispositivos, compatibilidad y SDK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Text 3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Shape 4"/>
          <p:cNvSpPr/>
          <p:nvPr/>
        </p:nvSpPr>
        <p:spPr>
          <a:xfrm>
            <a:off x="548640" y="1645920"/>
            <a:ext cx="11091240" cy="12798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4" name="Shape 5"/>
          <p:cNvSpPr/>
          <p:nvPr/>
        </p:nvSpPr>
        <p:spPr>
          <a:xfrm>
            <a:off x="777240" y="2011680"/>
            <a:ext cx="548280" cy="548280"/>
          </a:xfrm>
          <a:prstGeom prst="ellipse">
            <a:avLst/>
          </a:prstGeom>
          <a:solidFill>
            <a:srgbClr val="FF7A45"/>
          </a:solidFill>
          <a:ln w="12700">
            <a:solidFill>
              <a:srgbClr val="FF7A4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5" name="Text 6"/>
          <p:cNvSpPr/>
          <p:nvPr/>
        </p:nvSpPr>
        <p:spPr>
          <a:xfrm>
            <a:off x="777240" y="20116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 7"/>
          <p:cNvSpPr/>
          <p:nvPr/>
        </p:nvSpPr>
        <p:spPr>
          <a:xfrm>
            <a:off x="1600200" y="1783080"/>
            <a:ext cx="9829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Una app de escaneo declara la cámara con required="true". ¿Aparece en Play para una tablet sin cámara? ¿Qué cambiarías?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Shape 8"/>
          <p:cNvSpPr/>
          <p:nvPr/>
        </p:nvSpPr>
        <p:spPr>
          <a:xfrm>
            <a:off x="548640" y="3108960"/>
            <a:ext cx="11091240" cy="12798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8" name="Shape 9"/>
          <p:cNvSpPr/>
          <p:nvPr/>
        </p:nvSpPr>
        <p:spPr>
          <a:xfrm>
            <a:off x="777240" y="3474720"/>
            <a:ext cx="548280" cy="548280"/>
          </a:xfrm>
          <a:prstGeom prst="ellipse">
            <a:avLst/>
          </a:prstGeom>
          <a:solidFill>
            <a:srgbClr val="FF7A45"/>
          </a:solidFill>
          <a:ln w="12700">
            <a:solidFill>
              <a:srgbClr val="FF7A4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9" name="Text 10"/>
          <p:cNvSpPr/>
          <p:nvPr/>
        </p:nvSpPr>
        <p:spPr>
          <a:xfrm>
            <a:off x="777240" y="347472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Text 11"/>
          <p:cNvSpPr/>
          <p:nvPr/>
        </p:nvSpPr>
        <p:spPr>
          <a:xfrm>
            <a:off x="1600200" y="3246120"/>
            <a:ext cx="9829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Un compañero dice que necesita «el SDK de Android 17» para que el emulador arranque con esa versión. ¿Qué paquetes necesita y en qué pestaña están?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Shape 12"/>
          <p:cNvSpPr/>
          <p:nvPr/>
        </p:nvSpPr>
        <p:spPr>
          <a:xfrm>
            <a:off x="548640" y="4572000"/>
            <a:ext cx="11091240" cy="12798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1E8ED"/>
            </a:solidFill>
            <a:round/>
          </a:ln>
          <a:effectLst>
            <a:outerShdw algn="bl" blurRad="76320" dir="5400000" dist="255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2" name="Shape 13"/>
          <p:cNvSpPr/>
          <p:nvPr/>
        </p:nvSpPr>
        <p:spPr>
          <a:xfrm>
            <a:off x="777240" y="4937760"/>
            <a:ext cx="548280" cy="548280"/>
          </a:xfrm>
          <a:prstGeom prst="ellipse">
            <a:avLst/>
          </a:prstGeom>
          <a:solidFill>
            <a:srgbClr val="FF7A45"/>
          </a:solidFill>
          <a:ln w="12700">
            <a:solidFill>
              <a:srgbClr val="FF7A4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3" name="Text 14"/>
          <p:cNvSpPr/>
          <p:nvPr/>
        </p:nvSpPr>
        <p:spPr>
          <a:xfrm>
            <a:off x="777240" y="493776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 15"/>
          <p:cNvSpPr/>
          <p:nvPr/>
        </p:nvSpPr>
        <p:spPr>
          <a:xfrm>
            <a:off x="1600200" y="4709160"/>
            <a:ext cx="9829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A2733"/>
                </a:solidFill>
                <a:effectLst/>
                <a:uFillTx/>
                <a:latin typeface="Calibri"/>
                <a:ea typeface="Calibri"/>
              </a:rPr>
              <a:t>¿Por qué una app solo en Kotlin funciona igual en un móvil ARM que en el emulador x86_64, y un juego en C++ necesita una versión por ABI?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2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Shape 0"/>
          <p:cNvSpPr/>
          <p:nvPr/>
        </p:nvSpPr>
        <p:spPr>
          <a:xfrm>
            <a:off x="5632560" y="1737360"/>
            <a:ext cx="914040" cy="914040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26" name="Image 0" descr="preencoded.png"/>
          <p:cNvPicPr/>
          <p:nvPr/>
        </p:nvPicPr>
        <p:blipFill>
          <a:blip r:embed="rId1"/>
          <a:stretch/>
        </p:blipFill>
        <p:spPr>
          <a:xfrm>
            <a:off x="5861160" y="1965960"/>
            <a:ext cx="456840" cy="45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7" name="Text 1"/>
          <p:cNvSpPr/>
          <p:nvPr/>
        </p:nvSpPr>
        <p:spPr>
          <a:xfrm>
            <a:off x="548640" y="2880360"/>
            <a:ext cx="1109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¿Dudas?</a:t>
            </a:r>
            <a:endParaRPr lang="es-E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Text 2"/>
          <p:cNvSpPr/>
          <p:nvPr/>
        </p:nvSpPr>
        <p:spPr>
          <a:xfrm>
            <a:off x="1097280" y="3977640"/>
            <a:ext cx="99939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7D2E0"/>
                </a:solidFill>
                <a:effectLst/>
                <a:uFillTx/>
                <a:latin typeface="Calibri"/>
                <a:ea typeface="Calibri"/>
              </a:rPr>
              <a:t>Ahora lo comprobamos en Android Studio: Práctica 1 · SDK, primer proyecto y dispositivos virtuales.</a:t>
            </a:r>
            <a:endParaRPr lang="es-E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 3"/>
          <p:cNvSpPr/>
          <p:nvPr/>
        </p:nvSpPr>
        <p:spPr>
          <a:xfrm>
            <a:off x="548640" y="64465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FB0C6"/>
                </a:solidFill>
                <a:effectLst/>
                <a:uFillTx/>
                <a:latin typeface="Calibri"/>
                <a:ea typeface="Calibri"/>
              </a:rPr>
              <a:t>UT1 · Complemento: clasificación de dispositivos, compatibilidad y SDK</a:t>
            </a:r>
            <a:endParaRPr lang="es-E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4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FB0C6"/>
                </a:solidFill>
                <a:effectLst/>
                <a:uFillTx/>
                <a:latin typeface="Calibri"/>
                <a:ea typeface="Calibri"/>
              </a:rPr>
              <a:t>39</a:t>
            </a:r>
            <a:endParaRPr lang="es-E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</TotalTime>
  <Application>LibreOffice/26.8.0.3$Windows_X86_64 LibreOffice_project/bce0998afefdbc355585ca324285661a2170ba77</Application>
  <AppVersion>15.0000</AppVersion>
  <Words>3439</Words>
  <Paragraphs>585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2026-09-27T09:27:57Z</dcterms:created>
  <dc:creator>PptxGenJS</dc:creator>
  <dc:description/>
  <dc:language>es-ES</dc:language>
  <cp:lastModifiedBy/>
  <dcterms:modified xsi:type="dcterms:W3CDTF">2026-10-06T13:17:43Z</dcterms:modified>
  <cp:revision>2</cp:revision>
  <dc:subject>PptxGenJS Presentation</dc:subject>
  <dc:title>UT1 · Complemento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38</vt:i4>
  </property>
  <property fmtid="{D5CDD505-2E9C-101B-9397-08002B2CF9AE}" pid="3" name="PresentationFormat">
    <vt:lpwstr>Panorámica</vt:lpwstr>
  </property>
  <property fmtid="{D5CDD505-2E9C-101B-9397-08002B2CF9AE}" pid="4" name="Slides">
    <vt:i4>38</vt:i4>
  </property>
</Properties>
</file>