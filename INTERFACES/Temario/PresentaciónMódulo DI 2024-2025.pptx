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9144000"/>
  <p:notesSz cx="6858000" cy="9144000"/>
  <p:embeddedFontLst>
    <p:embeddedFont>
      <p:font typeface="Corbel"/>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8" roundtripDataSignature="AMtx7miOVun0t3ChIsLqTWVX7RFGh9eE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96E5AF-B4D8-45C9-A1AB-42529F9A1D10}">
  <a:tblStyle styleId="{6D96E5AF-B4D8-45C9-A1AB-42529F9A1D10}" styleName="Table_0">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AEDE7"/>
          </a:solidFill>
        </a:fill>
      </a:tcStyle>
    </a:wholeTbl>
    <a:band1H>
      <a:tcTxStyle/>
      <a:tcStyle>
        <a:fill>
          <a:solidFill>
            <a:srgbClr val="D2D9CB"/>
          </a:solidFill>
        </a:fill>
      </a:tcStyle>
    </a:band1H>
    <a:band2H>
      <a:tcTxStyle/>
    </a:band2H>
    <a:band1V>
      <a:tcTxStyle/>
      <a:tcStyle>
        <a:fill>
          <a:solidFill>
            <a:srgbClr val="D2D9CB"/>
          </a:solidFill>
        </a:fill>
      </a:tcStyle>
    </a:band1V>
    <a:band2V>
      <a:tcTxStyle/>
    </a:band2V>
    <a:lastCol>
      <a:tcTxStyle b="on" i="off">
        <a:font>
          <a:latin typeface="Corbel"/>
          <a:ea typeface="Corbel"/>
          <a:cs typeface="Corbel"/>
        </a:font>
        <a:schemeClr val="lt1"/>
      </a:tcTxStyle>
      <a:tcStyle>
        <a:fill>
          <a:solidFill>
            <a:schemeClr val="accent3"/>
          </a:solidFill>
        </a:fill>
      </a:tcStyle>
    </a:lastCol>
    <a:firstCol>
      <a:tcTxStyle b="on" i="off">
        <a:font>
          <a:latin typeface="Corbel"/>
          <a:ea typeface="Corbel"/>
          <a:cs typeface="Corbel"/>
        </a:font>
        <a:schemeClr val="lt1"/>
      </a:tcTxStyle>
      <a:tcStyle>
        <a:fill>
          <a:solidFill>
            <a:schemeClr val="accent3"/>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orbel-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orbel-italic.fntdata"/><Relationship Id="rId25" Type="http://schemas.openxmlformats.org/officeDocument/2006/relationships/font" Target="fonts/Corbel-bold.fntdata"/><Relationship Id="rId28" Type="http://customschemas.google.com/relationships/presentationmetadata" Target="metadata"/><Relationship Id="rId27" Type="http://schemas.openxmlformats.org/officeDocument/2006/relationships/font" Target="fonts/Corbel-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2" name="Shape 22"/>
        <p:cNvGrpSpPr/>
        <p:nvPr/>
      </p:nvGrpSpPr>
      <p:grpSpPr>
        <a:xfrm>
          <a:off x="0" y="0"/>
          <a:ext cx="0" cy="0"/>
          <a:chOff x="0" y="0"/>
          <a:chExt cx="0" cy="0"/>
        </a:xfrm>
      </p:grpSpPr>
      <p:grpSp>
        <p:nvGrpSpPr>
          <p:cNvPr id="23" name="Google Shape;23;p19"/>
          <p:cNvGrpSpPr/>
          <p:nvPr/>
        </p:nvGrpSpPr>
        <p:grpSpPr>
          <a:xfrm>
            <a:off x="203200" y="0"/>
            <a:ext cx="3778250" cy="6858001"/>
            <a:chOff x="203200" y="0"/>
            <a:chExt cx="3778250" cy="6858001"/>
          </a:xfrm>
        </p:grpSpPr>
        <p:sp>
          <p:nvSpPr>
            <p:cNvPr id="24" name="Google Shape;24;p19"/>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5" name="Google Shape;25;p19"/>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6" name="Google Shape;26;p19"/>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7" name="Google Shape;27;p19"/>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455A19"/>
            </a:solidFill>
            <a:ln>
              <a:noFill/>
            </a:ln>
          </p:spPr>
        </p:sp>
        <p:sp>
          <p:nvSpPr>
            <p:cNvPr id="28" name="Google Shape;28;p19"/>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688726"/>
            </a:solidFill>
            <a:ln>
              <a:noFill/>
            </a:ln>
          </p:spPr>
        </p:sp>
        <p:sp>
          <p:nvSpPr>
            <p:cNvPr id="29" name="Google Shape;29;p19"/>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0" name="Google Shape;30;p19"/>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32" name="Google Shape;32;p19"/>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35" name="Google Shape;35;p19"/>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6" name="Google Shape;36;p19"/>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p20"/>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40" name="Google Shape;40;p20"/>
          <p:cNvSpPr txBox="1"/>
          <p:nvPr>
            <p:ph idx="10" type="dt"/>
          </p:nvPr>
        </p:nvSpPr>
        <p:spPr>
          <a:xfrm>
            <a:off x="7344329" y="6108173"/>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
          <p:cNvSpPr txBox="1"/>
          <p:nvPr>
            <p:ph idx="11" type="ftr"/>
          </p:nvPr>
        </p:nvSpPr>
        <p:spPr>
          <a:xfrm>
            <a:off x="1972647" y="6108173"/>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3" name="Shape 43"/>
        <p:cNvGrpSpPr/>
        <p:nvPr/>
      </p:nvGrpSpPr>
      <p:grpSpPr>
        <a:xfrm>
          <a:off x="0" y="0"/>
          <a:ext cx="0" cy="0"/>
          <a:chOff x="0" y="0"/>
          <a:chExt cx="0" cy="0"/>
        </a:xfrm>
      </p:grpSpPr>
      <p:sp>
        <p:nvSpPr>
          <p:cNvPr id="44" name="Google Shape;44;p21"/>
          <p:cNvSpPr txBox="1"/>
          <p:nvPr>
            <p:ph type="title"/>
          </p:nvPr>
        </p:nvSpPr>
        <p:spPr>
          <a:xfrm>
            <a:off x="982133" y="685801"/>
            <a:ext cx="7704667"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1"/>
          <p:cNvSpPr txBox="1"/>
          <p:nvPr>
            <p:ph idx="1" type="body"/>
          </p:nvPr>
        </p:nvSpPr>
        <p:spPr>
          <a:xfrm>
            <a:off x="982133" y="2667000"/>
            <a:ext cx="3739896" cy="336867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46" name="Google Shape;46;p21"/>
          <p:cNvSpPr txBox="1"/>
          <p:nvPr>
            <p:ph idx="2" type="body"/>
          </p:nvPr>
        </p:nvSpPr>
        <p:spPr>
          <a:xfrm>
            <a:off x="4946904" y="2667000"/>
            <a:ext cx="3739896" cy="334682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47" name="Google Shape;47;p21"/>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50" name="Shape 50"/>
        <p:cNvGrpSpPr/>
        <p:nvPr/>
      </p:nvGrpSpPr>
      <p:grpSpPr>
        <a:xfrm>
          <a:off x="0" y="0"/>
          <a:ext cx="0" cy="0"/>
          <a:chOff x="0" y="0"/>
          <a:chExt cx="0" cy="0"/>
        </a:xfrm>
      </p:grpSpPr>
      <p:sp>
        <p:nvSpPr>
          <p:cNvPr id="51" name="Google Shape;51;p22"/>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53" name="Google Shape;53;p22"/>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2"/>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2"/>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p23"/>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688726"/>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59" name="Google Shape;59;p23"/>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0" name="Google Shape;60;p23"/>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688726"/>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61" name="Google Shape;61;p23"/>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2" name="Google Shape;62;p23"/>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5" name="Shape 65"/>
        <p:cNvGrpSpPr/>
        <p:nvPr/>
      </p:nvGrpSpPr>
      <p:grpSpPr>
        <a:xfrm>
          <a:off x="0" y="0"/>
          <a:ext cx="0" cy="0"/>
          <a:chOff x="0" y="0"/>
          <a:chExt cx="0" cy="0"/>
        </a:xfrm>
      </p:grpSpPr>
      <p:sp>
        <p:nvSpPr>
          <p:cNvPr id="66" name="Google Shape;66;p24"/>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4"/>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4"/>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0" name="Shape 70"/>
        <p:cNvGrpSpPr/>
        <p:nvPr/>
      </p:nvGrpSpPr>
      <p:grpSpPr>
        <a:xfrm>
          <a:off x="0" y="0"/>
          <a:ext cx="0" cy="0"/>
          <a:chOff x="0" y="0"/>
          <a:chExt cx="0" cy="0"/>
        </a:xfrm>
      </p:grpSpPr>
      <p:sp>
        <p:nvSpPr>
          <p:cNvPr id="71" name="Google Shape;71;p25"/>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4" name="Shape 74"/>
        <p:cNvGrpSpPr/>
        <p:nvPr/>
      </p:nvGrpSpPr>
      <p:grpSpPr>
        <a:xfrm>
          <a:off x="0" y="0"/>
          <a:ext cx="0" cy="0"/>
          <a:chOff x="0" y="0"/>
          <a:chExt cx="0" cy="0"/>
        </a:xfrm>
      </p:grpSpPr>
      <p:sp>
        <p:nvSpPr>
          <p:cNvPr id="75" name="Google Shape;75;p26"/>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19"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4" lvl="4" marL="2286000" algn="l">
              <a:spcBef>
                <a:spcPts val="600"/>
              </a:spcBef>
              <a:spcAft>
                <a:spcPts val="0"/>
              </a:spcAft>
              <a:buSzPts val="2030"/>
              <a:buChar char="•"/>
              <a:defRPr sz="1400"/>
            </a:lvl5pPr>
            <a:lvl6pPr indent="-357504" lvl="5" marL="2743200" algn="l">
              <a:spcBef>
                <a:spcPts val="600"/>
              </a:spcBef>
              <a:spcAft>
                <a:spcPts val="0"/>
              </a:spcAft>
              <a:buSzPts val="2030"/>
              <a:buChar char="•"/>
              <a:defRPr sz="1400"/>
            </a:lvl6pPr>
            <a:lvl7pPr indent="-357504" lvl="6" marL="3200400" algn="l">
              <a:spcBef>
                <a:spcPts val="600"/>
              </a:spcBef>
              <a:spcAft>
                <a:spcPts val="0"/>
              </a:spcAft>
              <a:buSzPts val="2030"/>
              <a:buChar char="•"/>
              <a:defRPr sz="1400"/>
            </a:lvl7pPr>
            <a:lvl8pPr indent="-357504" lvl="7" marL="3657600" algn="l">
              <a:spcBef>
                <a:spcPts val="600"/>
              </a:spcBef>
              <a:spcAft>
                <a:spcPts val="0"/>
              </a:spcAft>
              <a:buSzPts val="2030"/>
              <a:buChar char="•"/>
              <a:defRPr sz="1400"/>
            </a:lvl8pPr>
            <a:lvl9pPr indent="-357504" lvl="8" marL="4114800" algn="l">
              <a:spcBef>
                <a:spcPts val="600"/>
              </a:spcBef>
              <a:spcAft>
                <a:spcPts val="600"/>
              </a:spcAft>
              <a:buSzPts val="2030"/>
              <a:buChar char="•"/>
              <a:defRPr sz="1400"/>
            </a:lvl9pPr>
          </a:lstStyle>
          <a:p/>
        </p:txBody>
      </p:sp>
      <p:sp>
        <p:nvSpPr>
          <p:cNvPr id="77" name="Google Shape;77;p26"/>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78" name="Google Shape;78;p26"/>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6"/>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81" name="Shape 81"/>
        <p:cNvGrpSpPr/>
        <p:nvPr/>
      </p:nvGrpSpPr>
      <p:grpSpPr>
        <a:xfrm>
          <a:off x="0" y="0"/>
          <a:ext cx="0" cy="0"/>
          <a:chOff x="0" y="0"/>
          <a:chExt cx="0" cy="0"/>
        </a:xfrm>
      </p:grpSpPr>
      <p:sp>
        <p:nvSpPr>
          <p:cNvPr id="82" name="Google Shape;82;p27"/>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4" name="Google Shape;84;p27"/>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5" name="Google Shape;85;p27"/>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7"/>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7"/>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88" name="Shape 88"/>
        <p:cNvGrpSpPr/>
        <p:nvPr/>
      </p:nvGrpSpPr>
      <p:grpSpPr>
        <a:xfrm>
          <a:off x="0" y="0"/>
          <a:ext cx="0" cy="0"/>
          <a:chOff x="0" y="0"/>
          <a:chExt cx="0" cy="0"/>
        </a:xfrm>
      </p:grpSpPr>
      <p:sp>
        <p:nvSpPr>
          <p:cNvPr id="89" name="Google Shape;89;p28"/>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8"/>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1" name="Google Shape;91;p28"/>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92" name="Google Shape;92;p28"/>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8"/>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8"/>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95" name="Shape 95"/>
        <p:cNvGrpSpPr/>
        <p:nvPr/>
      </p:nvGrpSpPr>
      <p:grpSpPr>
        <a:xfrm>
          <a:off x="0" y="0"/>
          <a:ext cx="0" cy="0"/>
          <a:chOff x="0" y="0"/>
          <a:chExt cx="0" cy="0"/>
        </a:xfrm>
      </p:grpSpPr>
      <p:sp>
        <p:nvSpPr>
          <p:cNvPr id="96" name="Google Shape;96;p29"/>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9"/>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98" name="Google Shape;98;p29"/>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9"/>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9"/>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01" name="Shape 101"/>
        <p:cNvGrpSpPr/>
        <p:nvPr/>
      </p:nvGrpSpPr>
      <p:grpSpPr>
        <a:xfrm>
          <a:off x="0" y="0"/>
          <a:ext cx="0" cy="0"/>
          <a:chOff x="0" y="0"/>
          <a:chExt cx="0" cy="0"/>
        </a:xfrm>
      </p:grpSpPr>
      <p:sp>
        <p:nvSpPr>
          <p:cNvPr id="102" name="Google Shape;102;p30"/>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i="0" lang="es-ES" sz="8000" u="none" cap="none" strike="noStrike">
                <a:solidFill>
                  <a:schemeClr val="dk1"/>
                </a:solidFill>
                <a:latin typeface="Corbel"/>
                <a:ea typeface="Corbel"/>
                <a:cs typeface="Corbel"/>
                <a:sym typeface="Corbel"/>
              </a:rPr>
              <a:t>“</a:t>
            </a:r>
            <a:endParaRPr/>
          </a:p>
        </p:txBody>
      </p:sp>
      <p:sp>
        <p:nvSpPr>
          <p:cNvPr id="103" name="Google Shape;103;p30"/>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i="0" lang="es-ES" sz="8000" u="none" cap="none" strike="noStrike">
                <a:solidFill>
                  <a:schemeClr val="dk1"/>
                </a:solidFill>
                <a:latin typeface="Corbel"/>
                <a:ea typeface="Corbel"/>
                <a:cs typeface="Corbel"/>
                <a:sym typeface="Corbel"/>
              </a:rPr>
              <a:t>”</a:t>
            </a:r>
            <a:endParaRPr/>
          </a:p>
        </p:txBody>
      </p:sp>
      <p:sp>
        <p:nvSpPr>
          <p:cNvPr id="104" name="Google Shape;104;p30"/>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0"/>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06" name="Google Shape;106;p30"/>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7" name="Google Shape;107;p30"/>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0"/>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0"/>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10" name="Shape 110"/>
        <p:cNvGrpSpPr/>
        <p:nvPr/>
      </p:nvGrpSpPr>
      <p:grpSpPr>
        <a:xfrm>
          <a:off x="0" y="0"/>
          <a:ext cx="0" cy="0"/>
          <a:chOff x="0" y="0"/>
          <a:chExt cx="0" cy="0"/>
        </a:xfrm>
      </p:grpSpPr>
      <p:sp>
        <p:nvSpPr>
          <p:cNvPr id="111" name="Google Shape;111;p31"/>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1"/>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3" name="Google Shape;113;p31"/>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1"/>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1"/>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16" name="Shape 116"/>
        <p:cNvGrpSpPr/>
        <p:nvPr/>
      </p:nvGrpSpPr>
      <p:grpSpPr>
        <a:xfrm>
          <a:off x="0" y="0"/>
          <a:ext cx="0" cy="0"/>
          <a:chOff x="0" y="0"/>
          <a:chExt cx="0" cy="0"/>
        </a:xfrm>
      </p:grpSpPr>
      <p:sp>
        <p:nvSpPr>
          <p:cNvPr id="117" name="Google Shape;117;p32"/>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i="0" lang="es-ES" sz="8000" u="none" cap="none" strike="noStrike">
                <a:solidFill>
                  <a:schemeClr val="dk1"/>
                </a:solidFill>
                <a:latin typeface="Corbel"/>
                <a:ea typeface="Corbel"/>
                <a:cs typeface="Corbel"/>
                <a:sym typeface="Corbel"/>
              </a:rPr>
              <a:t>“</a:t>
            </a:r>
            <a:endParaRPr/>
          </a:p>
        </p:txBody>
      </p:sp>
      <p:sp>
        <p:nvSpPr>
          <p:cNvPr id="118" name="Google Shape;118;p32"/>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i="0" lang="es-ES" sz="8000" u="none" cap="none" strike="noStrike">
                <a:solidFill>
                  <a:schemeClr val="dk1"/>
                </a:solidFill>
                <a:latin typeface="Corbel"/>
                <a:ea typeface="Corbel"/>
                <a:cs typeface="Corbel"/>
                <a:sym typeface="Corbel"/>
              </a:rPr>
              <a:t>”</a:t>
            </a:r>
            <a:endParaRPr/>
          </a:p>
        </p:txBody>
      </p:sp>
      <p:sp>
        <p:nvSpPr>
          <p:cNvPr id="119" name="Google Shape;119;p32"/>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2"/>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21" name="Google Shape;121;p32"/>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2" name="Google Shape;122;p32"/>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2"/>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32"/>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25" name="Shape 125"/>
        <p:cNvGrpSpPr/>
        <p:nvPr/>
      </p:nvGrpSpPr>
      <p:grpSpPr>
        <a:xfrm>
          <a:off x="0" y="0"/>
          <a:ext cx="0" cy="0"/>
          <a:chOff x="0" y="0"/>
          <a:chExt cx="0" cy="0"/>
        </a:xfrm>
      </p:grpSpPr>
      <p:sp>
        <p:nvSpPr>
          <p:cNvPr id="126" name="Google Shape;126;p33"/>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3"/>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28" name="Google Shape;128;p33"/>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9" name="Google Shape;129;p33"/>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3"/>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3"/>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32" name="Shape 132"/>
        <p:cNvGrpSpPr/>
        <p:nvPr/>
      </p:nvGrpSpPr>
      <p:grpSpPr>
        <a:xfrm>
          <a:off x="0" y="0"/>
          <a:ext cx="0" cy="0"/>
          <a:chOff x="0" y="0"/>
          <a:chExt cx="0" cy="0"/>
        </a:xfrm>
      </p:grpSpPr>
      <p:sp>
        <p:nvSpPr>
          <p:cNvPr id="133" name="Google Shape;133;p34"/>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4"/>
          <p:cNvSpPr txBox="1"/>
          <p:nvPr>
            <p:ph idx="1" type="body"/>
          </p:nvPr>
        </p:nvSpPr>
        <p:spPr>
          <a:xfrm rot="5400000">
            <a:off x="3155970" y="493164"/>
            <a:ext cx="3356995" cy="7704666"/>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5" name="Google Shape;135;p34"/>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4"/>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4"/>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8" name="Shape 138"/>
        <p:cNvGrpSpPr/>
        <p:nvPr/>
      </p:nvGrpSpPr>
      <p:grpSpPr>
        <a:xfrm>
          <a:off x="0" y="0"/>
          <a:ext cx="0" cy="0"/>
          <a:chOff x="0" y="0"/>
          <a:chExt cx="0" cy="0"/>
        </a:xfrm>
      </p:grpSpPr>
      <p:sp>
        <p:nvSpPr>
          <p:cNvPr id="139" name="Google Shape;139;p35"/>
          <p:cNvSpPr txBox="1"/>
          <p:nvPr>
            <p:ph type="title"/>
          </p:nvPr>
        </p:nvSpPr>
        <p:spPr>
          <a:xfrm rot="5400000">
            <a:off x="5412754" y="2574439"/>
            <a:ext cx="5105400" cy="132812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5"/>
          <p:cNvSpPr txBox="1"/>
          <p:nvPr>
            <p:ph idx="1" type="body"/>
          </p:nvPr>
        </p:nvSpPr>
        <p:spPr>
          <a:xfrm rot="5400000">
            <a:off x="1569011"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41" name="Google Shape;141;p35"/>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5"/>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5"/>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8"/>
          <p:cNvGrpSpPr/>
          <p:nvPr/>
        </p:nvGrpSpPr>
        <p:grpSpPr>
          <a:xfrm>
            <a:off x="0" y="0"/>
            <a:ext cx="2132013" cy="6858001"/>
            <a:chOff x="0" y="0"/>
            <a:chExt cx="2132013" cy="6858001"/>
          </a:xfrm>
        </p:grpSpPr>
        <p:sp>
          <p:nvSpPr>
            <p:cNvPr id="11" name="Google Shape;11;p1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18"/>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18"/>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18"/>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455A19"/>
            </a:solidFill>
            <a:ln>
              <a:noFill/>
            </a:ln>
          </p:spPr>
        </p:sp>
        <p:sp>
          <p:nvSpPr>
            <p:cNvPr id="15" name="Google Shape;15;p18"/>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688726"/>
            </a:solidFill>
            <a:ln>
              <a:noFill/>
            </a:ln>
          </p:spPr>
        </p:sp>
        <p:sp>
          <p:nvSpPr>
            <p:cNvPr id="16" name="Google Shape;16;p18"/>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18"/>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8"/>
          <p:cNvSpPr txBox="1"/>
          <p:nvPr>
            <p:ph idx="1" type="body"/>
          </p:nvPr>
        </p:nvSpPr>
        <p:spPr>
          <a:xfrm>
            <a:off x="982134" y="2667000"/>
            <a:ext cx="7704666" cy="3356995"/>
          </a:xfrm>
          <a:prstGeom prst="rect">
            <a:avLst/>
          </a:prstGeom>
          <a:noFill/>
          <a:ln>
            <a:noFill/>
          </a:ln>
        </p:spPr>
        <p:txBody>
          <a:bodyPr anchorCtr="0" anchor="ctr" bIns="45700" lIns="91425" spcFirstLastPara="1" rIns="91425" wrap="square" tIns="45700">
            <a:normAutofit/>
          </a:bodyPr>
          <a:lstStyle>
            <a:lvl1pPr indent="-449580" lvl="0" marL="457200" marR="0" rtl="0" algn="l">
              <a:spcBef>
                <a:spcPts val="480"/>
              </a:spcBef>
              <a:spcAft>
                <a:spcPts val="0"/>
              </a:spcAft>
              <a:buClr>
                <a:srgbClr val="688726"/>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spcBef>
                <a:spcPts val="600"/>
              </a:spcBef>
              <a:spcAft>
                <a:spcPts val="0"/>
              </a:spcAft>
              <a:buClr>
                <a:srgbClr val="688726"/>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spcBef>
                <a:spcPts val="600"/>
              </a:spcBef>
              <a:spcAft>
                <a:spcPts val="0"/>
              </a:spcAft>
              <a:buClr>
                <a:srgbClr val="688726"/>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spcBef>
                <a:spcPts val="600"/>
              </a:spcBef>
              <a:spcAft>
                <a:spcPts val="0"/>
              </a:spcAft>
              <a:buClr>
                <a:srgbClr val="688726"/>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spcBef>
                <a:spcPts val="600"/>
              </a:spcBef>
              <a:spcAft>
                <a:spcPts val="600"/>
              </a:spcAft>
              <a:buClr>
                <a:srgbClr val="688726"/>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8"/>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0" name="Google Shape;20;p18"/>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18"/>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orbel"/>
                <a:ea typeface="Corbel"/>
                <a:cs typeface="Corbel"/>
                <a:sym typeface="Corbel"/>
              </a:defRPr>
            </a:lvl1pPr>
            <a:lvl2pPr indent="0" lvl="1" marL="0" marR="0" rtl="0" algn="r">
              <a:spcBef>
                <a:spcPts val="0"/>
              </a:spcBef>
              <a:buNone/>
              <a:defRPr b="0" i="0" sz="1000" u="none" cap="none" strike="noStrike">
                <a:solidFill>
                  <a:schemeClr val="dk1"/>
                </a:solidFill>
                <a:latin typeface="Corbel"/>
                <a:ea typeface="Corbel"/>
                <a:cs typeface="Corbel"/>
                <a:sym typeface="Corbel"/>
              </a:defRPr>
            </a:lvl2pPr>
            <a:lvl3pPr indent="0" lvl="2" marL="0" marR="0" rtl="0" algn="r">
              <a:spcBef>
                <a:spcPts val="0"/>
              </a:spcBef>
              <a:buNone/>
              <a:defRPr b="0" i="0" sz="1000" u="none" cap="none" strike="noStrike">
                <a:solidFill>
                  <a:schemeClr val="dk1"/>
                </a:solidFill>
                <a:latin typeface="Corbel"/>
                <a:ea typeface="Corbel"/>
                <a:cs typeface="Corbel"/>
                <a:sym typeface="Corbel"/>
              </a:defRPr>
            </a:lvl3pPr>
            <a:lvl4pPr indent="0" lvl="3" marL="0" marR="0" rtl="0" algn="r">
              <a:spcBef>
                <a:spcPts val="0"/>
              </a:spcBef>
              <a:buNone/>
              <a:defRPr b="0" i="0" sz="1000" u="none" cap="none" strike="noStrike">
                <a:solidFill>
                  <a:schemeClr val="dk1"/>
                </a:solidFill>
                <a:latin typeface="Corbel"/>
                <a:ea typeface="Corbel"/>
                <a:cs typeface="Corbel"/>
                <a:sym typeface="Corbel"/>
              </a:defRPr>
            </a:lvl4pPr>
            <a:lvl5pPr indent="0" lvl="4" marL="0" marR="0" rtl="0" algn="r">
              <a:spcBef>
                <a:spcPts val="0"/>
              </a:spcBef>
              <a:buNone/>
              <a:defRPr b="0" i="0" sz="1000" u="none" cap="none" strike="noStrike">
                <a:solidFill>
                  <a:schemeClr val="dk1"/>
                </a:solidFill>
                <a:latin typeface="Corbel"/>
                <a:ea typeface="Corbel"/>
                <a:cs typeface="Corbel"/>
                <a:sym typeface="Corbel"/>
              </a:defRPr>
            </a:lvl5pPr>
            <a:lvl6pPr indent="0" lvl="5" marL="0" marR="0" rtl="0" algn="r">
              <a:spcBef>
                <a:spcPts val="0"/>
              </a:spcBef>
              <a:buNone/>
              <a:defRPr b="0" i="0" sz="1000" u="none" cap="none" strike="noStrike">
                <a:solidFill>
                  <a:schemeClr val="dk1"/>
                </a:solidFill>
                <a:latin typeface="Corbel"/>
                <a:ea typeface="Corbel"/>
                <a:cs typeface="Corbel"/>
                <a:sym typeface="Corbel"/>
              </a:defRPr>
            </a:lvl6pPr>
            <a:lvl7pPr indent="0" lvl="6" marL="0" marR="0" rtl="0" algn="r">
              <a:spcBef>
                <a:spcPts val="0"/>
              </a:spcBef>
              <a:buNone/>
              <a:defRPr b="0" i="0" sz="1000" u="none" cap="none" strike="noStrike">
                <a:solidFill>
                  <a:schemeClr val="dk1"/>
                </a:solidFill>
                <a:latin typeface="Corbel"/>
                <a:ea typeface="Corbel"/>
                <a:cs typeface="Corbel"/>
                <a:sym typeface="Corbel"/>
              </a:defRPr>
            </a:lvl7pPr>
            <a:lvl8pPr indent="0" lvl="7" marL="0" marR="0" rtl="0" algn="r">
              <a:spcBef>
                <a:spcPts val="0"/>
              </a:spcBef>
              <a:buNone/>
              <a:defRPr b="0" i="0" sz="1000" u="none" cap="none" strike="noStrike">
                <a:solidFill>
                  <a:schemeClr val="dk1"/>
                </a:solidFill>
                <a:latin typeface="Corbel"/>
                <a:ea typeface="Corbel"/>
                <a:cs typeface="Corbel"/>
                <a:sym typeface="Corbel"/>
              </a:defRPr>
            </a:lvl8pPr>
            <a:lvl9pPr indent="0" lvl="8" marL="0" marR="0" rtl="0" algn="r">
              <a:spcBef>
                <a:spcPts val="0"/>
              </a:spcBef>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aulavirtual.educa.jcyl.es/cifpjuandecoloni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5400"/>
              <a:buFont typeface="Corbel"/>
              <a:buNone/>
            </a:pPr>
            <a:br>
              <a:rPr lang="es-ES"/>
            </a:br>
            <a:r>
              <a:rPr lang="es-ES" sz="3600"/>
              <a:t>DESARROLLO DE INTERFACES.</a:t>
            </a:r>
            <a:endParaRPr/>
          </a:p>
        </p:txBody>
      </p:sp>
      <p:sp>
        <p:nvSpPr>
          <p:cNvPr id="149" name="Google Shape;149;p1"/>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2610"/>
              <a:buNone/>
            </a:pPr>
            <a:r>
              <a:rPr lang="es-ES"/>
              <a:t>2</a:t>
            </a:r>
            <a:r>
              <a:rPr lang="es-ES" sz="1800"/>
              <a:t>º DESARROLLO DE APLICACIONES MULTIPLATAFORMA</a:t>
            </a:r>
            <a:endParaRPr sz="1800"/>
          </a:p>
          <a:p>
            <a:pPr indent="0" lvl="0" marL="0" rtl="0" algn="r">
              <a:spcBef>
                <a:spcPts val="960"/>
              </a:spcBef>
              <a:spcAft>
                <a:spcPts val="0"/>
              </a:spcAft>
              <a:buSzPts val="2610"/>
              <a:buNone/>
            </a:pPr>
            <a:r>
              <a:rPr lang="es-ES"/>
              <a:t>GUILLERMO DELGADO REY guillermo.delrey@educa.jcyl.es</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ph type="title"/>
          </p:nvPr>
        </p:nvSpPr>
        <p:spPr>
          <a:xfrm>
            <a:off x="880169" y="2228710"/>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Aprenderás a: </a:t>
            </a:r>
            <a:endParaRPr/>
          </a:p>
        </p:txBody>
      </p:sp>
      <p:sp>
        <p:nvSpPr>
          <p:cNvPr id="155" name="Google Shape;155;p2"/>
          <p:cNvSpPr txBox="1"/>
          <p:nvPr>
            <p:ph idx="1" type="body"/>
          </p:nvPr>
        </p:nvSpPr>
        <p:spPr>
          <a:xfrm>
            <a:off x="1259632" y="2777350"/>
            <a:ext cx="7687461" cy="3702520"/>
          </a:xfrm>
          <a:prstGeom prst="rect">
            <a:avLst/>
          </a:prstGeom>
          <a:noFill/>
          <a:ln>
            <a:noFill/>
          </a:ln>
        </p:spPr>
        <p:txBody>
          <a:bodyPr anchorCtr="0" anchor="ctr" bIns="45700" lIns="91425" spcFirstLastPara="1" rIns="91425" wrap="square" tIns="45700">
            <a:normAutofit/>
          </a:bodyPr>
          <a:lstStyle/>
          <a:p>
            <a:pPr indent="-285750" lvl="0" marL="285750" rtl="0" algn="just">
              <a:spcBef>
                <a:spcPts val="0"/>
              </a:spcBef>
              <a:spcAft>
                <a:spcPts val="0"/>
              </a:spcAft>
              <a:buSzPts val="2030"/>
              <a:buChar char="•"/>
            </a:pPr>
            <a:r>
              <a:rPr b="1" lang="es-ES" sz="1400"/>
              <a:t>Generar interfaces gráficos de usuario mediante editores visuales utilizando las funcionalidades del editor y adaptando el código generado.</a:t>
            </a:r>
            <a:endParaRPr/>
          </a:p>
          <a:p>
            <a:pPr indent="-285750" lvl="0" marL="285750" rtl="0" algn="just">
              <a:spcBef>
                <a:spcPts val="880"/>
              </a:spcBef>
              <a:spcAft>
                <a:spcPts val="0"/>
              </a:spcAft>
              <a:buSzPts val="2030"/>
              <a:buChar char="•"/>
            </a:pPr>
            <a:r>
              <a:rPr b="1" lang="es-ES" sz="1400"/>
              <a:t>Generar interfaces gráficos de usuario basados en XML utilizando herramientas específicas y adaptando el documento XML generado.</a:t>
            </a:r>
            <a:endParaRPr/>
          </a:p>
          <a:p>
            <a:pPr indent="-285750" lvl="0" marL="285750" rtl="0" algn="just">
              <a:spcBef>
                <a:spcPts val="880"/>
              </a:spcBef>
              <a:spcAft>
                <a:spcPts val="0"/>
              </a:spcAft>
              <a:buSzPts val="2030"/>
              <a:buChar char="•"/>
            </a:pPr>
            <a:r>
              <a:rPr b="1" lang="es-ES" sz="1400"/>
              <a:t>Crear componentes visuales valorando y empleando herramientas específicas.</a:t>
            </a:r>
            <a:endParaRPr/>
          </a:p>
          <a:p>
            <a:pPr indent="-285750" lvl="0" marL="285750" rtl="0" algn="just">
              <a:spcBef>
                <a:spcPts val="880"/>
              </a:spcBef>
              <a:spcAft>
                <a:spcPts val="0"/>
              </a:spcAft>
              <a:buSzPts val="2030"/>
              <a:buChar char="•"/>
            </a:pPr>
            <a:r>
              <a:rPr b="1" lang="es-ES" sz="1400"/>
              <a:t>Diseñar interfaces gráficos identificando y aplicando criterios de usabilidad.</a:t>
            </a:r>
            <a:endParaRPr/>
          </a:p>
          <a:p>
            <a:pPr indent="-285750" lvl="0" marL="285750" rtl="0" algn="just">
              <a:spcBef>
                <a:spcPts val="880"/>
              </a:spcBef>
              <a:spcAft>
                <a:spcPts val="0"/>
              </a:spcAft>
              <a:buSzPts val="2030"/>
              <a:buChar char="•"/>
            </a:pPr>
            <a:r>
              <a:rPr b="1" lang="es-ES" sz="1400"/>
              <a:t>Crear informes evaluando y utilizando herramientas gráficas.</a:t>
            </a:r>
            <a:endParaRPr/>
          </a:p>
          <a:p>
            <a:pPr indent="-285750" lvl="0" marL="285750" rtl="0" algn="just">
              <a:spcBef>
                <a:spcPts val="880"/>
              </a:spcBef>
              <a:spcAft>
                <a:spcPts val="0"/>
              </a:spcAft>
              <a:buSzPts val="2030"/>
              <a:buChar char="•"/>
            </a:pPr>
            <a:r>
              <a:rPr b="1" lang="es-ES" sz="1400"/>
              <a:t>Documentar aplicaciones seleccionando y utilizando herramientas específicas.</a:t>
            </a:r>
            <a:endParaRPr/>
          </a:p>
          <a:p>
            <a:pPr indent="-285750" lvl="0" marL="285750" rtl="0" algn="just">
              <a:spcBef>
                <a:spcPts val="880"/>
              </a:spcBef>
              <a:spcAft>
                <a:spcPts val="0"/>
              </a:spcAft>
              <a:buSzPts val="2030"/>
              <a:buChar char="•"/>
            </a:pPr>
            <a:r>
              <a:rPr b="1" lang="es-ES" sz="1400"/>
              <a:t>Preparar aplicaciones para su distribución evaluando y utilizando herramientas específicas.</a:t>
            </a:r>
            <a:endParaRPr/>
          </a:p>
          <a:p>
            <a:pPr indent="-285750" lvl="0" marL="285750" rtl="0" algn="just">
              <a:spcBef>
                <a:spcPts val="880"/>
              </a:spcBef>
              <a:spcAft>
                <a:spcPts val="0"/>
              </a:spcAft>
              <a:buSzPts val="2030"/>
              <a:buChar char="•"/>
            </a:pPr>
            <a:r>
              <a:rPr b="1" lang="es-ES" sz="1400"/>
              <a:t>Evaluar el funcionamiento de aplicaciones diseñando y ejecutando pruebas.</a:t>
            </a:r>
            <a:endParaRPr/>
          </a:p>
        </p:txBody>
      </p:sp>
      <p:sp>
        <p:nvSpPr>
          <p:cNvPr id="156" name="Google Shape;156;p2"/>
          <p:cNvSpPr/>
          <p:nvPr/>
        </p:nvSpPr>
        <p:spPr>
          <a:xfrm>
            <a:off x="1259631" y="1392354"/>
            <a:ext cx="7327421"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600" u="none" cap="none" strike="noStrike">
                <a:solidFill>
                  <a:schemeClr val="dk1"/>
                </a:solidFill>
                <a:latin typeface="Corbel"/>
                <a:ea typeface="Corbel"/>
                <a:cs typeface="Corbel"/>
                <a:sym typeface="Corbel"/>
              </a:rPr>
              <a:t>UC0494_3: </a:t>
            </a:r>
            <a:r>
              <a:rPr b="0" i="0" lang="es-ES" sz="1600" u="none" cap="none" strike="noStrike">
                <a:solidFill>
                  <a:schemeClr val="dk1"/>
                </a:solidFill>
                <a:latin typeface="Corbel"/>
                <a:ea typeface="Corbel"/>
                <a:cs typeface="Corbel"/>
                <a:sym typeface="Corbel"/>
              </a:rPr>
              <a:t>Desarrollar componentes software en lenguajes de programación estructurada.</a:t>
            </a:r>
            <a:endParaRPr/>
          </a:p>
        </p:txBody>
      </p:sp>
      <p:sp>
        <p:nvSpPr>
          <p:cNvPr id="157" name="Google Shape;157;p2"/>
          <p:cNvSpPr txBox="1"/>
          <p:nvPr/>
        </p:nvSpPr>
        <p:spPr>
          <a:xfrm>
            <a:off x="880168" y="614300"/>
            <a:ext cx="7687461" cy="548640"/>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ctr">
              <a:spcBef>
                <a:spcPts val="0"/>
              </a:spcBef>
              <a:spcAft>
                <a:spcPts val="0"/>
              </a:spcAft>
              <a:buClr>
                <a:schemeClr val="dk1"/>
              </a:buClr>
              <a:buSzPct val="100000"/>
              <a:buFont typeface="Corbel"/>
              <a:buNone/>
            </a:pPr>
            <a:r>
              <a:rPr b="0" i="0" lang="es-ES" sz="4000" u="none" cap="none" strike="noStrike">
                <a:solidFill>
                  <a:schemeClr val="dk1"/>
                </a:solidFill>
                <a:latin typeface="Corbel"/>
                <a:ea typeface="Corbel"/>
                <a:cs typeface="Corbel"/>
                <a:sym typeface="Corbel"/>
              </a:rPr>
              <a:t>Unidades de Competencia:</a:t>
            </a:r>
            <a:endParaRPr b="0" i="0" sz="4000" u="none" cap="none" strike="noStrike">
              <a:solidFill>
                <a:schemeClr val="dk1"/>
              </a:solidFill>
              <a:latin typeface="Corbel"/>
              <a:ea typeface="Corbel"/>
              <a:cs typeface="Corbel"/>
              <a:sym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idx="1" type="body"/>
          </p:nvPr>
        </p:nvSpPr>
        <p:spPr>
          <a:xfrm>
            <a:off x="1043608" y="1412776"/>
            <a:ext cx="7687461" cy="3384376"/>
          </a:xfrm>
          <a:prstGeom prst="rect">
            <a:avLst/>
          </a:prstGeom>
          <a:noFill/>
          <a:ln>
            <a:noFill/>
          </a:ln>
        </p:spPr>
        <p:txBody>
          <a:bodyPr anchorCtr="0" anchor="ctr" bIns="45700" lIns="91425" spcFirstLastPara="1" rIns="91425" wrap="square" tIns="45700">
            <a:noAutofit/>
          </a:bodyPr>
          <a:lstStyle/>
          <a:p>
            <a:pPr indent="-285750" lvl="0" marL="285750" rtl="0" algn="just">
              <a:spcBef>
                <a:spcPts val="0"/>
              </a:spcBef>
              <a:spcAft>
                <a:spcPts val="0"/>
              </a:spcAft>
              <a:buSzPts val="2900"/>
              <a:buChar char="•"/>
            </a:pPr>
            <a:r>
              <a:rPr lang="es-ES" sz="2000"/>
              <a:t>1. Confección de interfaces de usuario.</a:t>
            </a:r>
            <a:endParaRPr/>
          </a:p>
          <a:p>
            <a:pPr indent="-285750" lvl="0" marL="285750" rtl="0" algn="just">
              <a:spcBef>
                <a:spcPts val="1000"/>
              </a:spcBef>
              <a:spcAft>
                <a:spcPts val="0"/>
              </a:spcAft>
              <a:buSzPts val="2900"/>
              <a:buChar char="•"/>
            </a:pPr>
            <a:r>
              <a:rPr lang="es-ES" sz="2000"/>
              <a:t>2. Generación de interfaces a partir de documentos XML.</a:t>
            </a:r>
            <a:endParaRPr/>
          </a:p>
          <a:p>
            <a:pPr indent="-285750" lvl="0" marL="285750" rtl="0" algn="just">
              <a:spcBef>
                <a:spcPts val="1000"/>
              </a:spcBef>
              <a:spcAft>
                <a:spcPts val="0"/>
              </a:spcAft>
              <a:buSzPts val="2900"/>
              <a:buChar char="•"/>
            </a:pPr>
            <a:r>
              <a:rPr lang="es-ES" sz="2000"/>
              <a:t>3. Creación de componentes visuales.</a:t>
            </a:r>
            <a:endParaRPr/>
          </a:p>
          <a:p>
            <a:pPr indent="-285750" lvl="0" marL="285750" rtl="0" algn="just">
              <a:spcBef>
                <a:spcPts val="1000"/>
              </a:spcBef>
              <a:spcAft>
                <a:spcPts val="0"/>
              </a:spcAft>
              <a:buSzPts val="2900"/>
              <a:buChar char="•"/>
            </a:pPr>
            <a:r>
              <a:rPr lang="es-ES" sz="2000"/>
              <a:t>4. Usabilidad y Accesibilidad.</a:t>
            </a:r>
            <a:endParaRPr/>
          </a:p>
          <a:p>
            <a:pPr indent="-285750" lvl="0" marL="285750" rtl="0" algn="just">
              <a:spcBef>
                <a:spcPts val="1000"/>
              </a:spcBef>
              <a:spcAft>
                <a:spcPts val="0"/>
              </a:spcAft>
              <a:buSzPts val="2900"/>
              <a:buChar char="•"/>
            </a:pPr>
            <a:r>
              <a:rPr lang="es-ES" sz="2000"/>
              <a:t>5. Confección de informes.</a:t>
            </a:r>
            <a:endParaRPr/>
          </a:p>
          <a:p>
            <a:pPr indent="-285750" lvl="0" marL="285750" rtl="0" algn="just">
              <a:spcBef>
                <a:spcPts val="1000"/>
              </a:spcBef>
              <a:spcAft>
                <a:spcPts val="0"/>
              </a:spcAft>
              <a:buSzPts val="2900"/>
              <a:buChar char="•"/>
            </a:pPr>
            <a:r>
              <a:rPr lang="es-ES" sz="2000"/>
              <a:t>6. Documentación de aplicaciones.</a:t>
            </a:r>
            <a:endParaRPr/>
          </a:p>
          <a:p>
            <a:pPr indent="-285750" lvl="0" marL="285750" rtl="0" algn="just">
              <a:spcBef>
                <a:spcPts val="1000"/>
              </a:spcBef>
              <a:spcAft>
                <a:spcPts val="0"/>
              </a:spcAft>
              <a:buSzPts val="2900"/>
              <a:buChar char="•"/>
            </a:pPr>
            <a:r>
              <a:rPr lang="es-ES" sz="2000"/>
              <a:t>7. Distribución de aplicaciones.</a:t>
            </a:r>
            <a:endParaRPr sz="2000"/>
          </a:p>
        </p:txBody>
      </p:sp>
      <p:sp>
        <p:nvSpPr>
          <p:cNvPr id="163" name="Google Shape;163;p3"/>
          <p:cNvSpPr txBox="1"/>
          <p:nvPr/>
        </p:nvSpPr>
        <p:spPr>
          <a:xfrm>
            <a:off x="880168" y="614300"/>
            <a:ext cx="7687461" cy="548640"/>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ctr">
              <a:spcBef>
                <a:spcPts val="0"/>
              </a:spcBef>
              <a:spcAft>
                <a:spcPts val="0"/>
              </a:spcAft>
              <a:buClr>
                <a:schemeClr val="dk1"/>
              </a:buClr>
              <a:buSzPct val="100000"/>
              <a:buFont typeface="Corbel"/>
              <a:buNone/>
            </a:pPr>
            <a:r>
              <a:rPr b="0" i="0" lang="es-ES" sz="4000" u="none" cap="none" strike="noStrike">
                <a:solidFill>
                  <a:schemeClr val="dk1"/>
                </a:solidFill>
                <a:latin typeface="Corbel"/>
                <a:ea typeface="Corbel"/>
                <a:cs typeface="Corbel"/>
                <a:sym typeface="Corbel"/>
              </a:rPr>
              <a:t>Esquema de Contenidos:</a:t>
            </a:r>
            <a:endParaRPr b="0" i="0" sz="4000" u="none" cap="none" strike="noStrike">
              <a:solidFill>
                <a:schemeClr val="dk1"/>
              </a:solidFill>
              <a:latin typeface="Corbel"/>
              <a:ea typeface="Corbel"/>
              <a:cs typeface="Corbel"/>
              <a:sym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idx="1" type="body"/>
          </p:nvPr>
        </p:nvSpPr>
        <p:spPr>
          <a:xfrm>
            <a:off x="1043608" y="1412776"/>
            <a:ext cx="7687461" cy="3384376"/>
          </a:xfrm>
          <a:prstGeom prst="rect">
            <a:avLst/>
          </a:prstGeom>
          <a:noFill/>
          <a:ln>
            <a:noFill/>
          </a:ln>
        </p:spPr>
        <p:txBody>
          <a:bodyPr anchorCtr="0" anchor="ctr" bIns="45700" lIns="91425" spcFirstLastPara="1" rIns="91425" wrap="square" tIns="45700">
            <a:noAutofit/>
          </a:bodyPr>
          <a:lstStyle/>
          <a:p>
            <a:pPr indent="-285750" lvl="0" marL="285750" rtl="0" algn="just">
              <a:spcBef>
                <a:spcPts val="0"/>
              </a:spcBef>
              <a:spcAft>
                <a:spcPts val="0"/>
              </a:spcAft>
              <a:buSzPts val="2900"/>
              <a:buChar char="•"/>
            </a:pPr>
            <a:r>
              <a:rPr lang="es-ES" sz="2000"/>
              <a:t>Exposición de conceptos.</a:t>
            </a:r>
            <a:endParaRPr/>
          </a:p>
          <a:p>
            <a:pPr indent="-285750" lvl="0" marL="285750" rtl="0" algn="just">
              <a:spcBef>
                <a:spcPts val="1000"/>
              </a:spcBef>
              <a:spcAft>
                <a:spcPts val="0"/>
              </a:spcAft>
              <a:buSzPts val="2900"/>
              <a:buChar char="•"/>
            </a:pPr>
            <a:r>
              <a:rPr lang="es-ES" sz="2000"/>
              <a:t>Demostración práctica a modo de ejemplo por parte del profesorado.</a:t>
            </a:r>
            <a:endParaRPr/>
          </a:p>
          <a:p>
            <a:pPr indent="-285750" lvl="0" marL="285750" rtl="0" algn="just">
              <a:spcBef>
                <a:spcPts val="1000"/>
              </a:spcBef>
              <a:spcAft>
                <a:spcPts val="0"/>
              </a:spcAft>
              <a:buSzPts val="2900"/>
              <a:buChar char="•"/>
            </a:pPr>
            <a:r>
              <a:rPr lang="es-ES" sz="2000"/>
              <a:t>Resolución de supuestos prácticos por parte del alumnado utilizando la documentación técnica existente y cumpliendo las especificaciones establecidas en el supuesto.</a:t>
            </a:r>
            <a:endParaRPr sz="2000"/>
          </a:p>
        </p:txBody>
      </p:sp>
      <p:sp>
        <p:nvSpPr>
          <p:cNvPr id="169" name="Google Shape;169;p4"/>
          <p:cNvSpPr txBox="1"/>
          <p:nvPr/>
        </p:nvSpPr>
        <p:spPr>
          <a:xfrm>
            <a:off x="880168" y="614300"/>
            <a:ext cx="7687461" cy="548640"/>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ctr">
              <a:spcBef>
                <a:spcPts val="0"/>
              </a:spcBef>
              <a:spcAft>
                <a:spcPts val="0"/>
              </a:spcAft>
              <a:buClr>
                <a:schemeClr val="dk1"/>
              </a:buClr>
              <a:buSzPct val="100000"/>
              <a:buFont typeface="Corbel"/>
              <a:buNone/>
            </a:pPr>
            <a:r>
              <a:rPr b="0" i="0" lang="es-ES" sz="4000" u="none" cap="none" strike="noStrike">
                <a:solidFill>
                  <a:schemeClr val="dk1"/>
                </a:solidFill>
                <a:latin typeface="Corbel"/>
                <a:ea typeface="Corbel"/>
                <a:cs typeface="Corbel"/>
                <a:sym typeface="Corbel"/>
              </a:rPr>
              <a:t>Metodología:</a:t>
            </a:r>
            <a:endParaRPr b="0" i="0" sz="4000" u="none" cap="none" strike="noStrike">
              <a:solidFill>
                <a:schemeClr val="dk1"/>
              </a:solidFill>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790768" y="343853"/>
            <a:ext cx="7520940"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Resumen de contenidos.</a:t>
            </a:r>
            <a:endParaRPr/>
          </a:p>
        </p:txBody>
      </p:sp>
      <p:graphicFrame>
        <p:nvGraphicFramePr>
          <p:cNvPr id="175" name="Google Shape;175;p5"/>
          <p:cNvGraphicFramePr/>
          <p:nvPr/>
        </p:nvGraphicFramePr>
        <p:xfrm>
          <a:off x="1051545" y="1340768"/>
          <a:ext cx="3000000" cy="3000000"/>
        </p:xfrm>
        <a:graphic>
          <a:graphicData uri="http://schemas.openxmlformats.org/drawingml/2006/table">
            <a:tbl>
              <a:tblPr bandRow="1" firstRow="1">
                <a:noFill/>
                <a:tableStyleId>{6D96E5AF-B4D8-45C9-A1AB-42529F9A1D10}</a:tableStyleId>
              </a:tblPr>
              <a:tblGrid>
                <a:gridCol w="5176650"/>
                <a:gridCol w="864100"/>
                <a:gridCol w="1236700"/>
              </a:tblGrid>
              <a:tr h="345175">
                <a:tc>
                  <a:txBody>
                    <a:bodyPr/>
                    <a:lstStyle/>
                    <a:p>
                      <a:pPr indent="0" lvl="0" marL="0" marR="0" rtl="0" algn="just">
                        <a:spcBef>
                          <a:spcPts val="0"/>
                        </a:spcBef>
                        <a:spcAft>
                          <a:spcPts val="0"/>
                        </a:spcAft>
                        <a:buNone/>
                      </a:pPr>
                      <a:r>
                        <a:rPr lang="es-ES" sz="1500" u="none" cap="none" strike="noStrike"/>
                        <a:t>UNIDADES DE TRABAJO</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just">
                        <a:spcBef>
                          <a:spcPts val="0"/>
                        </a:spcBef>
                        <a:spcAft>
                          <a:spcPts val="0"/>
                        </a:spcAft>
                        <a:buNone/>
                      </a:pPr>
                      <a:r>
                        <a:rPr lang="es-ES" sz="1500" u="none" cap="none" strike="noStrike"/>
                        <a:t>HORAS</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just">
                        <a:spcBef>
                          <a:spcPts val="0"/>
                        </a:spcBef>
                        <a:spcAft>
                          <a:spcPts val="0"/>
                        </a:spcAft>
                        <a:buNone/>
                      </a:pPr>
                      <a:r>
                        <a:rPr lang="es-ES" sz="1500" u="none" cap="none" strike="noStrike"/>
                        <a:t>TRIMESTRE</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b="1" lang="es-ES" sz="1500" u="none" cap="none" strike="noStrike"/>
                        <a:t>UT 1. </a:t>
                      </a:r>
                      <a:r>
                        <a:rPr lang="es-ES" sz="1500" u="none" cap="none" strike="noStrike"/>
                        <a:t>Usabilidad y Accesibilidad</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10</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1º</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b="1" lang="es-ES" sz="1500" u="none" cap="none" strike="noStrike"/>
                        <a:t>UT 2. </a:t>
                      </a:r>
                      <a:r>
                        <a:rPr lang="es-ES" sz="1500" u="none" cap="none" strike="noStrike"/>
                        <a:t>Confección de Interfaces de Usuario</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32</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1º</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b="1" lang="es-ES" sz="1500" u="none" cap="none" strike="noStrike"/>
                        <a:t>UT 3. </a:t>
                      </a:r>
                      <a:r>
                        <a:rPr lang="es-ES" sz="1500" u="none" cap="none" strike="noStrike"/>
                        <a:t>Componentes de Acceso a Datos</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26</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1º y 2º</a:t>
                      </a:r>
                      <a:endParaRPr sz="1500" u="none" cap="none" strike="noStrike">
                        <a:latin typeface="Times New Roman"/>
                        <a:ea typeface="Times New Roman"/>
                        <a:cs typeface="Times New Roman"/>
                        <a:sym typeface="Times New Roman"/>
                      </a:endParaRPr>
                    </a:p>
                  </a:txBody>
                  <a:tcPr marT="0" marB="0" marR="68575" marL="68575" anchor="ctr"/>
                </a:tc>
              </a:tr>
              <a:tr h="431100">
                <a:tc>
                  <a:txBody>
                    <a:bodyPr/>
                    <a:lstStyle/>
                    <a:p>
                      <a:pPr indent="0" lvl="0" marL="0" marR="0" rtl="0" algn="just">
                        <a:spcBef>
                          <a:spcPts val="0"/>
                        </a:spcBef>
                        <a:spcAft>
                          <a:spcPts val="0"/>
                        </a:spcAft>
                        <a:buNone/>
                      </a:pPr>
                      <a:r>
                        <a:rPr b="1" lang="es-ES" sz="1500" u="none" cap="none" strike="noStrike"/>
                        <a:t>UT 4. </a:t>
                      </a:r>
                      <a:r>
                        <a:rPr lang="es-ES" sz="1500" u="none" cap="none" strike="noStrike"/>
                        <a:t>Confección de Informes</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12</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2º</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b="1" lang="es-ES" sz="1500" u="none" cap="none" strike="noStrike"/>
                        <a:t>UT 5. </a:t>
                      </a:r>
                      <a:r>
                        <a:rPr lang="es-ES" sz="1500" u="none" cap="none" strike="noStrike"/>
                        <a:t>Documentación de Aplicaciones</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6</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2º</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b="1" lang="es-ES" sz="1500" u="none" cap="none" strike="noStrike"/>
                        <a:t>UT 6. </a:t>
                      </a:r>
                      <a:r>
                        <a:rPr lang="es-ES" sz="1500" u="none" cap="none" strike="noStrike"/>
                        <a:t>Distribución de Aplicaciones</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6</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2º</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lang="es-ES" sz="1500" u="none" cap="none" strike="noStrike"/>
                        <a:t>Aplicación Final</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20</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t>2º</a:t>
                      </a:r>
                      <a:endParaRPr sz="1500" u="none" cap="none" strike="noStrike">
                        <a:latin typeface="Times New Roman"/>
                        <a:ea typeface="Times New Roman"/>
                        <a:cs typeface="Times New Roman"/>
                        <a:sym typeface="Times New Roman"/>
                      </a:endParaRPr>
                    </a:p>
                  </a:txBody>
                  <a:tcPr marT="0" marB="0" marR="68575" marL="68575" anchor="ctr"/>
                </a:tc>
              </a:tr>
              <a:tr h="345175">
                <a:tc>
                  <a:txBody>
                    <a:bodyPr/>
                    <a:lstStyle/>
                    <a:p>
                      <a:pPr indent="0" lvl="0" marL="0" marR="0" rtl="0" algn="just">
                        <a:spcBef>
                          <a:spcPts val="0"/>
                        </a:spcBef>
                        <a:spcAft>
                          <a:spcPts val="0"/>
                        </a:spcAft>
                        <a:buNone/>
                      </a:pPr>
                      <a:r>
                        <a:rPr lang="es-ES" sz="1500" u="none" cap="none" strike="noStrike"/>
                        <a:t>Exámenes y Correcciones</a:t>
                      </a:r>
                      <a:endParaRPr sz="15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8</a:t>
                      </a:r>
                      <a:endParaRPr sz="1500" u="none" cap="none" strike="noStrike">
                        <a:solidFill>
                          <a:schemeClr val="dk1"/>
                        </a:solidFill>
                        <a:latin typeface="Corbel"/>
                        <a:ea typeface="Corbel"/>
                        <a:cs typeface="Corbel"/>
                        <a:sym typeface="Corbel"/>
                      </a:endParaRPr>
                    </a:p>
                  </a:txBody>
                  <a:tcPr marT="0" marB="0" marR="68575" marL="68575" anchor="ctr"/>
                </a:tc>
                <a:tc>
                  <a:txBody>
                    <a:bodyPr/>
                    <a:lstStyle/>
                    <a:p>
                      <a:pPr indent="0" lvl="0" marL="0" marR="0" rtl="0" algn="ctr">
                        <a:spcBef>
                          <a:spcPts val="0"/>
                        </a:spcBef>
                        <a:spcAft>
                          <a:spcPts val="0"/>
                        </a:spcAft>
                        <a:buNone/>
                      </a:pPr>
                      <a:r>
                        <a:rPr lang="es-ES" sz="1500" u="none" cap="none" strike="noStrike">
                          <a:solidFill>
                            <a:schemeClr val="dk1"/>
                          </a:solidFill>
                          <a:latin typeface="Corbel"/>
                          <a:ea typeface="Corbel"/>
                          <a:cs typeface="Corbel"/>
                          <a:sym typeface="Corbel"/>
                        </a:rPr>
                        <a:t>1º y 2º</a:t>
                      </a:r>
                      <a:endParaRPr sz="1500" u="none" cap="none" strike="noStrike">
                        <a:solidFill>
                          <a:schemeClr val="dk1"/>
                        </a:solidFill>
                        <a:latin typeface="Corbel"/>
                        <a:ea typeface="Corbel"/>
                        <a:cs typeface="Corbel"/>
                        <a:sym typeface="Corbel"/>
                      </a:endParaRPr>
                    </a:p>
                  </a:txBody>
                  <a:tcPr marT="0" marB="0" marR="68575" marL="68575"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181" name="Google Shape;181;p6"/>
          <p:cNvSpPr txBox="1"/>
          <p:nvPr>
            <p:ph idx="1" type="body"/>
          </p:nvPr>
        </p:nvSpPr>
        <p:spPr>
          <a:xfrm>
            <a:off x="1176655" y="1392355"/>
            <a:ext cx="7687461" cy="3744416"/>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4060"/>
              <a:buFont typeface="Arial"/>
              <a:buChar char="•"/>
            </a:pPr>
            <a:r>
              <a:rPr lang="es-ES" sz="2800"/>
              <a:t>Libro: Desarrollo de Interfaces.</a:t>
            </a:r>
            <a:endParaRPr sz="2800"/>
          </a:p>
          <a:p>
            <a:pPr indent="-285750" lvl="2" marL="1200150" rtl="0" algn="l">
              <a:spcBef>
                <a:spcPts val="1080"/>
              </a:spcBef>
              <a:spcAft>
                <a:spcPts val="0"/>
              </a:spcAft>
              <a:buSzPts val="3480"/>
              <a:buFont typeface="Arial"/>
              <a:buChar char="•"/>
            </a:pPr>
            <a:r>
              <a:rPr lang="es-ES" sz="2400"/>
              <a:t>Autora: Juan Luis Vicente Carro.</a:t>
            </a:r>
            <a:endParaRPr/>
          </a:p>
          <a:p>
            <a:pPr indent="-285750" lvl="2" marL="1200150" rtl="0" algn="l">
              <a:spcBef>
                <a:spcPts val="1080"/>
              </a:spcBef>
              <a:spcAft>
                <a:spcPts val="0"/>
              </a:spcAft>
              <a:buSzPts val="3480"/>
              <a:buFont typeface="Arial"/>
              <a:buChar char="•"/>
            </a:pPr>
            <a:r>
              <a:rPr lang="es-ES" sz="2400"/>
              <a:t>Editorial: Garceta.</a:t>
            </a:r>
            <a:endParaRPr sz="2400"/>
          </a:p>
          <a:p>
            <a:pPr indent="-285750" lvl="2" marL="1200150" rtl="0" algn="l">
              <a:spcBef>
                <a:spcPts val="1080"/>
              </a:spcBef>
              <a:spcAft>
                <a:spcPts val="0"/>
              </a:spcAft>
              <a:buSzPts val="3480"/>
              <a:buFont typeface="Arial"/>
              <a:buChar char="•"/>
            </a:pPr>
            <a:r>
              <a:rPr lang="es-ES" sz="2400"/>
              <a:t>Año: 2014.</a:t>
            </a:r>
            <a:endParaRPr sz="2400"/>
          </a:p>
          <a:p>
            <a:pPr indent="-285750" lvl="2" marL="1200150" rtl="0" algn="l">
              <a:spcBef>
                <a:spcPts val="1080"/>
              </a:spcBef>
              <a:spcAft>
                <a:spcPts val="0"/>
              </a:spcAft>
              <a:buSzPts val="3480"/>
              <a:buFont typeface="Arial"/>
              <a:buChar char="•"/>
            </a:pPr>
            <a:r>
              <a:rPr lang="es-ES" sz="2400"/>
              <a:t>ISBN: 978-84-1545-298-0.</a:t>
            </a:r>
            <a:endParaRPr sz="2400"/>
          </a:p>
        </p:txBody>
      </p:sp>
      <p:pic>
        <p:nvPicPr>
          <p:cNvPr descr="https://www.garceta.es/images/portada/2980_DI.gif" id="182" name="Google Shape;182;p6"/>
          <p:cNvPicPr preferRelativeResize="0"/>
          <p:nvPr/>
        </p:nvPicPr>
        <p:blipFill rotWithShape="1">
          <a:blip r:embed="rId3">
            <a:alphaModFix/>
          </a:blip>
          <a:srcRect b="0" l="0" r="0" t="0"/>
          <a:stretch/>
        </p:blipFill>
        <p:spPr>
          <a:xfrm>
            <a:off x="7236296" y="1772816"/>
            <a:ext cx="1649916" cy="22087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188" name="Google Shape;188;p7"/>
          <p:cNvSpPr txBox="1"/>
          <p:nvPr>
            <p:ph idx="1" type="body"/>
          </p:nvPr>
        </p:nvSpPr>
        <p:spPr>
          <a:xfrm>
            <a:off x="1115616" y="2420888"/>
            <a:ext cx="7687461" cy="3744416"/>
          </a:xfrm>
          <a:prstGeom prst="rect">
            <a:avLst/>
          </a:prstGeom>
          <a:noFill/>
          <a:ln>
            <a:noFill/>
          </a:ln>
        </p:spPr>
        <p:txBody>
          <a:bodyPr anchorCtr="0" anchor="ctr" bIns="45700" lIns="91425" spcFirstLastPara="1" rIns="91425" wrap="square" tIns="45700">
            <a:normAutofit/>
          </a:bodyPr>
          <a:lstStyle/>
          <a:p>
            <a:pPr indent="-285750" lvl="0" marL="285750" rtl="0" algn="just">
              <a:spcBef>
                <a:spcPts val="0"/>
              </a:spcBef>
              <a:spcAft>
                <a:spcPts val="0"/>
              </a:spcAft>
              <a:buSzPts val="2320"/>
              <a:buFont typeface="Arial"/>
              <a:buChar char="•"/>
            </a:pPr>
            <a:r>
              <a:rPr lang="es-ES" sz="1600"/>
              <a:t>Este texto expone y desarrolla los conceptos básicos que afectan al diseño de una interfaz con independencia del lugar donde se utilice como por ejemplo, un entorno web, un equipo informático de escritorio, smartphone etc. así como los principales lenguajes de programación disponibles en la actualidad utilizados en el desarrollo de interfaces.</a:t>
            </a:r>
            <a:endParaRPr/>
          </a:p>
          <a:p>
            <a:pPr indent="-285750" lvl="0" marL="285750" rtl="0" algn="just">
              <a:spcBef>
                <a:spcPts val="920"/>
              </a:spcBef>
              <a:spcAft>
                <a:spcPts val="0"/>
              </a:spcAft>
              <a:buSzPts val="2320"/>
              <a:buFont typeface="Arial"/>
              <a:buChar char="•"/>
            </a:pPr>
            <a:r>
              <a:rPr lang="es-ES" sz="1600"/>
              <a:t>Un elemento recurrente a lo largo del libro, sobre el que giran diferentes ejercicios y ejemplos prácticos, es la importancia de la separación de funciones dentro de una aplicación y el impacto positivo que tiene sobre la misma el hecho de disponer de una interfaz independiente del lenguaje de programación utilizado o el entorno donde se interactuará con dicha interfaz.</a:t>
            </a:r>
            <a:endParaRPr/>
          </a:p>
        </p:txBody>
      </p:sp>
      <p:pic>
        <p:nvPicPr>
          <p:cNvPr descr="https://www.garceta.es/images/portada/2980_DI.gif" id="189" name="Google Shape;189;p7"/>
          <p:cNvPicPr preferRelativeResize="0"/>
          <p:nvPr/>
        </p:nvPicPr>
        <p:blipFill rotWithShape="1">
          <a:blip r:embed="rId3">
            <a:alphaModFix/>
          </a:blip>
          <a:srcRect b="0" l="0" r="0" t="0"/>
          <a:stretch/>
        </p:blipFill>
        <p:spPr>
          <a:xfrm>
            <a:off x="7145873" y="287975"/>
            <a:ext cx="1649916" cy="22087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195" name="Google Shape;195;p8"/>
          <p:cNvSpPr txBox="1"/>
          <p:nvPr>
            <p:ph idx="1" type="body"/>
          </p:nvPr>
        </p:nvSpPr>
        <p:spPr>
          <a:xfrm>
            <a:off x="1115616" y="2420888"/>
            <a:ext cx="7687461" cy="374441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320"/>
              <a:buNone/>
            </a:pPr>
            <a:r>
              <a:rPr lang="es-ES" sz="1600"/>
              <a:t>• Lenguajes específicos para el diseño de interfaces como son XAML, XUL</a:t>
            </a:r>
            <a:br>
              <a:rPr lang="es-ES" sz="1600"/>
            </a:br>
            <a:r>
              <a:rPr lang="es-ES" sz="1600"/>
              <a:t>• Uso de entornos de desarrollo y de plantillas predefinidas o personalizadas</a:t>
            </a:r>
            <a:br>
              <a:rPr lang="es-ES" sz="1600"/>
            </a:br>
            <a:r>
              <a:rPr lang="es-ES" sz="1600"/>
              <a:t>• Creación de componentes</a:t>
            </a:r>
            <a:br>
              <a:rPr lang="es-ES" sz="1600"/>
            </a:br>
            <a:r>
              <a:rPr lang="es-ES" sz="1600"/>
              <a:t>• Manejo de eventos dentro de una interfaz</a:t>
            </a:r>
            <a:br>
              <a:rPr lang="es-ES" sz="1600"/>
            </a:br>
            <a:r>
              <a:rPr lang="es-ES" sz="1600"/>
              <a:t>• Acceso a datos desde una interfaz gráfica</a:t>
            </a:r>
            <a:br>
              <a:rPr lang="es-ES" sz="1600"/>
            </a:br>
            <a:r>
              <a:rPr lang="es-ES" sz="1600"/>
              <a:t>• Diseño y creación de informes</a:t>
            </a:r>
            <a:br>
              <a:rPr lang="es-ES" sz="1600"/>
            </a:br>
            <a:r>
              <a:rPr lang="es-ES" sz="1600"/>
              <a:t>• Uso correcto de mensajes dentro de una interfaz</a:t>
            </a:r>
            <a:br>
              <a:rPr lang="es-ES" sz="1600"/>
            </a:br>
            <a:r>
              <a:rPr lang="es-ES" sz="1600"/>
              <a:t>• Principios básicos de diseñó de una interfaz, presentación, contenidos, colores</a:t>
            </a:r>
            <a:br>
              <a:rPr lang="es-ES" sz="1600"/>
            </a:br>
            <a:r>
              <a:rPr lang="es-ES" sz="1600"/>
              <a:t>• Creación y diseño de ayuda contextual</a:t>
            </a:r>
            <a:br>
              <a:rPr lang="es-ES" sz="1600"/>
            </a:br>
            <a:r>
              <a:rPr lang="es-ES" sz="1600"/>
              <a:t>• Diseño de pruebas y test de evaluación de la aplicación</a:t>
            </a:r>
            <a:br>
              <a:rPr lang="es-ES" sz="1600"/>
            </a:br>
            <a:r>
              <a:rPr lang="es-ES" sz="1600"/>
              <a:t>• Empaquetado y distribución de la aplicación</a:t>
            </a:r>
            <a:endParaRPr/>
          </a:p>
        </p:txBody>
      </p:sp>
      <p:pic>
        <p:nvPicPr>
          <p:cNvPr descr="https://www.garceta.es/images/portada/2980_DI.gif" id="196" name="Google Shape;196;p8"/>
          <p:cNvPicPr preferRelativeResize="0"/>
          <p:nvPr/>
        </p:nvPicPr>
        <p:blipFill rotWithShape="1">
          <a:blip r:embed="rId3">
            <a:alphaModFix/>
          </a:blip>
          <a:srcRect b="0" l="0" r="0" t="0"/>
          <a:stretch/>
        </p:blipFill>
        <p:spPr>
          <a:xfrm>
            <a:off x="7145873" y="287975"/>
            <a:ext cx="1649916" cy="2208759"/>
          </a:xfrm>
          <a:prstGeom prst="rect">
            <a:avLst/>
          </a:prstGeom>
          <a:noFill/>
          <a:ln>
            <a:noFill/>
          </a:ln>
        </p:spPr>
      </p:pic>
      <p:sp>
        <p:nvSpPr>
          <p:cNvPr id="197" name="Google Shape;197;p8"/>
          <p:cNvSpPr/>
          <p:nvPr/>
        </p:nvSpPr>
        <p:spPr>
          <a:xfrm>
            <a:off x="1115616" y="1573404"/>
            <a:ext cx="5616624"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cap="none" strike="noStrike">
                <a:solidFill>
                  <a:schemeClr val="dk1"/>
                </a:solidFill>
                <a:latin typeface="Corbel"/>
                <a:ea typeface="Corbel"/>
                <a:cs typeface="Corbel"/>
                <a:sym typeface="Corbel"/>
              </a:rPr>
              <a:t>La obra contiene una gran cantidad de ejercicios prácticos que permitirán al lector la asimilación de los siguientes contenidos: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203" name="Google Shape;203;p9"/>
          <p:cNvSpPr txBox="1"/>
          <p:nvPr>
            <p:ph idx="1" type="body"/>
          </p:nvPr>
        </p:nvSpPr>
        <p:spPr>
          <a:xfrm>
            <a:off x="2483768" y="2708920"/>
            <a:ext cx="7687461" cy="3702520"/>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2030"/>
              <a:buChar char="•"/>
            </a:pPr>
            <a:r>
              <a:rPr b="1" lang="es-ES" sz="1400"/>
              <a:t>1. Creación de interfaces de usuario</a:t>
            </a:r>
            <a:endParaRPr/>
          </a:p>
          <a:p>
            <a:pPr indent="-285750" lvl="0" marL="285750" rtl="0" algn="l">
              <a:spcBef>
                <a:spcPts val="880"/>
              </a:spcBef>
              <a:spcAft>
                <a:spcPts val="0"/>
              </a:spcAft>
              <a:buSzPts val="2030"/>
              <a:buChar char="•"/>
            </a:pPr>
            <a:r>
              <a:rPr b="1" lang="es-ES" sz="1400"/>
              <a:t>2. Usabilidad - Interfaz gráfica de usuario</a:t>
            </a:r>
            <a:endParaRPr/>
          </a:p>
          <a:p>
            <a:pPr indent="-285750" lvl="0" marL="285750" rtl="0" algn="l">
              <a:spcBef>
                <a:spcPts val="880"/>
              </a:spcBef>
              <a:spcAft>
                <a:spcPts val="0"/>
              </a:spcAft>
              <a:buSzPts val="2030"/>
              <a:buChar char="•"/>
            </a:pPr>
            <a:r>
              <a:rPr b="1" lang="es-ES" sz="1400"/>
              <a:t>3. Librerías de diseño</a:t>
            </a:r>
            <a:endParaRPr/>
          </a:p>
          <a:p>
            <a:pPr indent="-285750" lvl="0" marL="285750" rtl="0" algn="l">
              <a:spcBef>
                <a:spcPts val="880"/>
              </a:spcBef>
              <a:spcAft>
                <a:spcPts val="0"/>
              </a:spcAft>
              <a:buSzPts val="2030"/>
              <a:buChar char="•"/>
            </a:pPr>
            <a:r>
              <a:rPr b="1" lang="es-ES" sz="1400"/>
              <a:t>4. Lenguajes de interfaces de usuario</a:t>
            </a:r>
            <a:endParaRPr/>
          </a:p>
          <a:p>
            <a:pPr indent="-285750" lvl="0" marL="285750" rtl="0" algn="l">
              <a:spcBef>
                <a:spcPts val="880"/>
              </a:spcBef>
              <a:spcAft>
                <a:spcPts val="0"/>
              </a:spcAft>
              <a:buSzPts val="2030"/>
              <a:buChar char="•"/>
            </a:pPr>
            <a:r>
              <a:rPr b="1" lang="es-ES" sz="1400"/>
              <a:t>5. Diseño de componentes</a:t>
            </a:r>
            <a:endParaRPr/>
          </a:p>
          <a:p>
            <a:pPr indent="-285750" lvl="0" marL="285750" rtl="0" algn="l">
              <a:spcBef>
                <a:spcPts val="880"/>
              </a:spcBef>
              <a:spcAft>
                <a:spcPts val="0"/>
              </a:spcAft>
              <a:buSzPts val="2030"/>
              <a:buChar char="•"/>
            </a:pPr>
            <a:r>
              <a:rPr b="1" lang="es-ES" sz="1400"/>
              <a:t>6. Acceso a datos</a:t>
            </a:r>
            <a:endParaRPr/>
          </a:p>
          <a:p>
            <a:pPr indent="-285750" lvl="0" marL="285750" rtl="0" algn="l">
              <a:spcBef>
                <a:spcPts val="880"/>
              </a:spcBef>
              <a:spcAft>
                <a:spcPts val="0"/>
              </a:spcAft>
              <a:buSzPts val="2030"/>
              <a:buChar char="•"/>
            </a:pPr>
            <a:r>
              <a:rPr b="1" lang="es-ES" sz="1400"/>
              <a:t>7. Diseño de informes</a:t>
            </a:r>
            <a:endParaRPr/>
          </a:p>
          <a:p>
            <a:pPr indent="-285750" lvl="0" marL="285750" rtl="0" algn="l">
              <a:spcBef>
                <a:spcPts val="880"/>
              </a:spcBef>
              <a:spcAft>
                <a:spcPts val="0"/>
              </a:spcAft>
              <a:buSzPts val="2030"/>
              <a:buChar char="•"/>
            </a:pPr>
            <a:r>
              <a:rPr b="1" lang="es-ES" sz="1400"/>
              <a:t>8. Despliegue de paquetes</a:t>
            </a:r>
            <a:endParaRPr/>
          </a:p>
          <a:p>
            <a:pPr indent="-285750" lvl="0" marL="285750" rtl="0" algn="l">
              <a:spcBef>
                <a:spcPts val="880"/>
              </a:spcBef>
              <a:spcAft>
                <a:spcPts val="0"/>
              </a:spcAft>
              <a:buSzPts val="2030"/>
              <a:buChar char="•"/>
            </a:pPr>
            <a:r>
              <a:rPr b="1" lang="es-ES" sz="1400"/>
              <a:t>9. Pruebas</a:t>
            </a:r>
            <a:endParaRPr/>
          </a:p>
          <a:p>
            <a:pPr indent="-285750" lvl="0" marL="285750" rtl="0" algn="l">
              <a:spcBef>
                <a:spcPts val="880"/>
              </a:spcBef>
              <a:spcAft>
                <a:spcPts val="0"/>
              </a:spcAft>
              <a:buSzPts val="2030"/>
              <a:buChar char="•"/>
            </a:pPr>
            <a:r>
              <a:rPr b="1" lang="es-ES" sz="1400"/>
              <a:t>10. Documentación</a:t>
            </a:r>
            <a:endParaRPr/>
          </a:p>
        </p:txBody>
      </p:sp>
      <p:pic>
        <p:nvPicPr>
          <p:cNvPr descr="https://www.garceta.es/images/portada/2980_DI.gif" id="204" name="Google Shape;204;p9"/>
          <p:cNvPicPr preferRelativeResize="0"/>
          <p:nvPr/>
        </p:nvPicPr>
        <p:blipFill rotWithShape="1">
          <a:blip r:embed="rId3">
            <a:alphaModFix/>
          </a:blip>
          <a:srcRect b="0" l="0" r="0" t="0"/>
          <a:stretch/>
        </p:blipFill>
        <p:spPr>
          <a:xfrm>
            <a:off x="7145873" y="287975"/>
            <a:ext cx="1649916" cy="2208759"/>
          </a:xfrm>
          <a:prstGeom prst="rect">
            <a:avLst/>
          </a:prstGeom>
          <a:noFill/>
          <a:ln>
            <a:noFill/>
          </a:ln>
        </p:spPr>
      </p:pic>
      <p:sp>
        <p:nvSpPr>
          <p:cNvPr id="205" name="Google Shape;205;p9"/>
          <p:cNvSpPr/>
          <p:nvPr/>
        </p:nvSpPr>
        <p:spPr>
          <a:xfrm>
            <a:off x="1259632" y="1392355"/>
            <a:ext cx="5760640"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400" u="none" cap="none" strike="noStrike">
                <a:solidFill>
                  <a:schemeClr val="dk1"/>
                </a:solidFill>
                <a:latin typeface="Corbel"/>
                <a:ea typeface="Corbel"/>
                <a:cs typeface="Corbel"/>
                <a:sym typeface="Corbel"/>
              </a:rPr>
              <a:t>Los contenidos incluidos en este libro abarcan los conceptos básicos del diseño de interfaces web, que van desde los conceptos básicos del desarrollo web, las hojas de estilo CSS, el manejo de recursos multimedia, hasta la programación de animaciones con jQuery. Todo ello enmarcado dentro de las pautas y criterios que definen la usabilidad y accesibilidad de las interfaces.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211" name="Google Shape;211;p10"/>
          <p:cNvSpPr txBox="1"/>
          <p:nvPr>
            <p:ph idx="1" type="body"/>
          </p:nvPr>
        </p:nvSpPr>
        <p:spPr>
          <a:xfrm>
            <a:off x="1176655" y="1392355"/>
            <a:ext cx="7687461" cy="3744416"/>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4060"/>
              <a:buFont typeface="Arial"/>
              <a:buChar char="•"/>
            </a:pPr>
            <a:r>
              <a:rPr lang="es-ES" sz="2800"/>
              <a:t>Libro: Desarrollo de Interfaces.</a:t>
            </a:r>
            <a:endParaRPr sz="2800"/>
          </a:p>
          <a:p>
            <a:pPr indent="-285750" lvl="2" marL="1200150" rtl="0" algn="l">
              <a:spcBef>
                <a:spcPts val="1080"/>
              </a:spcBef>
              <a:spcAft>
                <a:spcPts val="0"/>
              </a:spcAft>
              <a:buSzPts val="3480"/>
              <a:buFont typeface="Arial"/>
              <a:buChar char="•"/>
            </a:pPr>
            <a:r>
              <a:rPr lang="es-ES" sz="2400"/>
              <a:t>Autora: Juan Luis Vicente Carro.</a:t>
            </a:r>
            <a:endParaRPr/>
          </a:p>
          <a:p>
            <a:pPr indent="-285750" lvl="2" marL="1200150" rtl="0" algn="l">
              <a:spcBef>
                <a:spcPts val="1080"/>
              </a:spcBef>
              <a:spcAft>
                <a:spcPts val="0"/>
              </a:spcAft>
              <a:buSzPts val="3480"/>
              <a:buFont typeface="Arial"/>
              <a:buChar char="•"/>
            </a:pPr>
            <a:r>
              <a:rPr lang="es-ES" sz="2400"/>
              <a:t>Editorial: Sintesis.</a:t>
            </a:r>
            <a:endParaRPr/>
          </a:p>
          <a:p>
            <a:pPr indent="-285750" lvl="2" marL="1200150" rtl="0" algn="l">
              <a:spcBef>
                <a:spcPts val="1080"/>
              </a:spcBef>
              <a:spcAft>
                <a:spcPts val="0"/>
              </a:spcAft>
              <a:buSzPts val="3480"/>
              <a:buFont typeface="Arial"/>
              <a:buChar char="•"/>
            </a:pPr>
            <a:r>
              <a:rPr lang="es-ES" sz="2400"/>
              <a:t>Año: 2021.</a:t>
            </a:r>
            <a:endParaRPr sz="2400"/>
          </a:p>
          <a:p>
            <a:pPr indent="-285750" lvl="2" marL="1200150" rtl="0" algn="l">
              <a:spcBef>
                <a:spcPts val="1080"/>
              </a:spcBef>
              <a:spcAft>
                <a:spcPts val="0"/>
              </a:spcAft>
              <a:buSzPts val="3480"/>
              <a:buFont typeface="Arial"/>
              <a:buChar char="•"/>
            </a:pPr>
            <a:r>
              <a:rPr lang="es-ES" sz="2400"/>
              <a:t>ISBN: 978-84-1357-084-6.</a:t>
            </a:r>
            <a:endParaRPr sz="2400"/>
          </a:p>
        </p:txBody>
      </p:sp>
      <p:pic>
        <p:nvPicPr>
          <p:cNvPr descr="desarrollo de interfaces-diana garcia miguel lopez-beatriz garcia miguel lopez-agustin fernandez herrera-9788413570846" id="212" name="Google Shape;212;p10"/>
          <p:cNvPicPr preferRelativeResize="0"/>
          <p:nvPr/>
        </p:nvPicPr>
        <p:blipFill rotWithShape="1">
          <a:blip r:embed="rId3">
            <a:alphaModFix/>
          </a:blip>
          <a:srcRect b="0" l="0" r="0" t="0"/>
          <a:stretch/>
        </p:blipFill>
        <p:spPr>
          <a:xfrm>
            <a:off x="6829029" y="1628800"/>
            <a:ext cx="2054471" cy="27363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218" name="Google Shape;218;p11"/>
          <p:cNvSpPr txBox="1"/>
          <p:nvPr>
            <p:ph idx="1" type="body"/>
          </p:nvPr>
        </p:nvSpPr>
        <p:spPr>
          <a:xfrm>
            <a:off x="1176655" y="1392355"/>
            <a:ext cx="7687461" cy="3744416"/>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4060"/>
              <a:buFont typeface="Arial"/>
              <a:buChar char="•"/>
            </a:pPr>
            <a:r>
              <a:rPr lang="es-ES" sz="2800"/>
              <a:t>Libro: Desarrollo de Interfaces.</a:t>
            </a:r>
            <a:endParaRPr sz="2800"/>
          </a:p>
          <a:p>
            <a:pPr indent="-285750" lvl="2" marL="1200150" rtl="0" algn="l">
              <a:spcBef>
                <a:spcPts val="1080"/>
              </a:spcBef>
              <a:spcAft>
                <a:spcPts val="0"/>
              </a:spcAft>
              <a:buSzPts val="3480"/>
              <a:buFont typeface="Arial"/>
              <a:buChar char="•"/>
            </a:pPr>
            <a:r>
              <a:rPr lang="es-ES" sz="2400"/>
              <a:t>Autora: Juan Ferrer Martinez.</a:t>
            </a:r>
            <a:endParaRPr sz="2400"/>
          </a:p>
          <a:p>
            <a:pPr indent="-285750" lvl="2" marL="1200150" rtl="0" algn="l">
              <a:spcBef>
                <a:spcPts val="1080"/>
              </a:spcBef>
              <a:spcAft>
                <a:spcPts val="0"/>
              </a:spcAft>
              <a:buSzPts val="3480"/>
              <a:buFont typeface="Arial"/>
              <a:buChar char="•"/>
            </a:pPr>
            <a:r>
              <a:rPr lang="es-ES" sz="2400"/>
              <a:t>Editorial: RA-MA.</a:t>
            </a:r>
            <a:endParaRPr sz="2400"/>
          </a:p>
          <a:p>
            <a:pPr indent="-285750" lvl="2" marL="1200150" rtl="0" algn="l">
              <a:spcBef>
                <a:spcPts val="1080"/>
              </a:spcBef>
              <a:spcAft>
                <a:spcPts val="0"/>
              </a:spcAft>
              <a:buSzPts val="3480"/>
              <a:buFont typeface="Arial"/>
              <a:buChar char="•"/>
            </a:pPr>
            <a:r>
              <a:rPr lang="es-ES" sz="2400"/>
              <a:t>Año: 2015.</a:t>
            </a:r>
            <a:endParaRPr sz="2400"/>
          </a:p>
          <a:p>
            <a:pPr indent="-285750" lvl="2" marL="1200150" rtl="0" algn="l">
              <a:spcBef>
                <a:spcPts val="1080"/>
              </a:spcBef>
              <a:spcAft>
                <a:spcPts val="0"/>
              </a:spcAft>
              <a:buSzPts val="3480"/>
              <a:buFont typeface="Arial"/>
              <a:buChar char="•"/>
            </a:pPr>
            <a:r>
              <a:rPr lang="es-ES" sz="2400"/>
              <a:t>ISBN: 978-84-9964-552-0.</a:t>
            </a:r>
            <a:endParaRPr/>
          </a:p>
        </p:txBody>
      </p:sp>
      <p:pic>
        <p:nvPicPr>
          <p:cNvPr descr="Desarrollo de interfaces (grado superior) (TEXTO CICLOS FORMATIVOS) :  Ferrer Martínez, Juan, Antonio García Tome: Amazon.es: Libros" id="219" name="Google Shape;219;p11"/>
          <p:cNvPicPr preferRelativeResize="0"/>
          <p:nvPr/>
        </p:nvPicPr>
        <p:blipFill rotWithShape="1">
          <a:blip r:embed="rId3">
            <a:alphaModFix/>
          </a:blip>
          <a:srcRect b="9723" l="30658" r="30281" t="0"/>
          <a:stretch/>
        </p:blipFill>
        <p:spPr>
          <a:xfrm>
            <a:off x="7007632" y="1628800"/>
            <a:ext cx="1856484" cy="22526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2"/>
          <p:cNvSpPr txBox="1"/>
          <p:nvPr>
            <p:ph type="title"/>
          </p:nvPr>
        </p:nvSpPr>
        <p:spPr>
          <a:xfrm>
            <a:off x="899592" y="843715"/>
            <a:ext cx="7687461"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Material de referencia.</a:t>
            </a:r>
            <a:endParaRPr/>
          </a:p>
        </p:txBody>
      </p:sp>
      <p:sp>
        <p:nvSpPr>
          <p:cNvPr id="225" name="Google Shape;225;p12"/>
          <p:cNvSpPr txBox="1"/>
          <p:nvPr>
            <p:ph idx="1" type="body"/>
          </p:nvPr>
        </p:nvSpPr>
        <p:spPr>
          <a:xfrm>
            <a:off x="1115616" y="2420888"/>
            <a:ext cx="7687461" cy="3744416"/>
          </a:xfrm>
          <a:prstGeom prst="rect">
            <a:avLst/>
          </a:prstGeom>
          <a:noFill/>
          <a:ln>
            <a:noFill/>
          </a:ln>
        </p:spPr>
        <p:txBody>
          <a:bodyPr anchorCtr="0" anchor="ctr" bIns="45700" lIns="91425" spcFirstLastPara="1" rIns="91425" wrap="square" tIns="45700">
            <a:normAutofit/>
          </a:bodyPr>
          <a:lstStyle/>
          <a:p>
            <a:pPr indent="-285750" lvl="1" marL="285750" rtl="0" algn="l">
              <a:spcBef>
                <a:spcPts val="0"/>
              </a:spcBef>
              <a:spcAft>
                <a:spcPts val="0"/>
              </a:spcAft>
              <a:buSzPts val="4205"/>
              <a:buFont typeface="Arial"/>
              <a:buChar char="•"/>
            </a:pPr>
            <a:r>
              <a:rPr lang="es-ES" sz="2900"/>
              <a:t>Otros materiales de apoyo a los contenidos del libro: actividades, apuntes, enlaces, vídeos, etc.</a:t>
            </a:r>
            <a:endParaRPr/>
          </a:p>
          <a:p>
            <a:pPr indent="-285750" lvl="2" marL="1200150" rtl="0" algn="l">
              <a:spcBef>
                <a:spcPts val="1100"/>
              </a:spcBef>
              <a:spcAft>
                <a:spcPts val="0"/>
              </a:spcAft>
              <a:buSzPts val="3625"/>
              <a:buFont typeface="Arial"/>
              <a:buChar char="•"/>
            </a:pPr>
            <a:r>
              <a:rPr lang="es-ES" sz="2500"/>
              <a:t>Publicados en el aula virtual del CIFP Juan de Colonia </a:t>
            </a:r>
            <a:r>
              <a:rPr lang="es-ES" sz="2500" u="sng">
                <a:solidFill>
                  <a:srgbClr val="4E651C"/>
                </a:solidFill>
                <a:hlinkClick r:id="rId3">
                  <a:extLst>
                    <a:ext uri="{A12FA001-AC4F-418D-AE19-62706E023703}">
                      <ahyp:hlinkClr val="tx"/>
                    </a:ext>
                  </a:extLst>
                </a:hlinkClick>
              </a:rPr>
              <a:t>https://aulavirtual.educa.jcyl.es/cifpjuandecolonia</a:t>
            </a:r>
            <a:r>
              <a:rPr lang="es-ES" sz="2500"/>
              <a:t>.</a:t>
            </a:r>
            <a:endParaRPr/>
          </a:p>
          <a:p>
            <a:pPr indent="-64769" lvl="2" marL="1200150" rtl="0" algn="l">
              <a:spcBef>
                <a:spcPts val="1080"/>
              </a:spcBef>
              <a:spcAft>
                <a:spcPts val="0"/>
              </a:spcAft>
              <a:buSzPts val="3480"/>
              <a:buFont typeface="Arial"/>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3"/>
          <p:cNvSpPr txBox="1"/>
          <p:nvPr>
            <p:ph type="title"/>
          </p:nvPr>
        </p:nvSpPr>
        <p:spPr>
          <a:xfrm>
            <a:off x="955546" y="1094281"/>
            <a:ext cx="7520940"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Criterios de Calificación.</a:t>
            </a:r>
            <a:endParaRPr/>
          </a:p>
        </p:txBody>
      </p:sp>
      <p:sp>
        <p:nvSpPr>
          <p:cNvPr id="231" name="Google Shape;231;p13"/>
          <p:cNvSpPr txBox="1"/>
          <p:nvPr>
            <p:ph idx="1" type="body"/>
          </p:nvPr>
        </p:nvSpPr>
        <p:spPr>
          <a:xfrm>
            <a:off x="811530" y="763730"/>
            <a:ext cx="7637472" cy="4393462"/>
          </a:xfrm>
          <a:prstGeom prst="rect">
            <a:avLst/>
          </a:prstGeom>
          <a:noFill/>
          <a:ln>
            <a:noFill/>
          </a:ln>
        </p:spPr>
        <p:txBody>
          <a:bodyPr anchorCtr="0" anchor="ctr" bIns="45700" lIns="91425" spcFirstLastPara="1" rIns="91425" wrap="square" tIns="45700">
            <a:normAutofit/>
          </a:bodyPr>
          <a:lstStyle/>
          <a:p>
            <a:pPr indent="-120015" lvl="0" marL="285750" rtl="0" algn="l">
              <a:spcBef>
                <a:spcPts val="0"/>
              </a:spcBef>
              <a:spcAft>
                <a:spcPts val="0"/>
              </a:spcAft>
              <a:buSzPts val="2610"/>
              <a:buFont typeface="Arial"/>
              <a:buNone/>
            </a:pPr>
            <a:r>
              <a:t/>
            </a:r>
            <a:endParaRPr sz="1800"/>
          </a:p>
          <a:p>
            <a:pPr indent="-120015" lvl="0" marL="285750" rtl="0" algn="l">
              <a:spcBef>
                <a:spcPts val="960"/>
              </a:spcBef>
              <a:spcAft>
                <a:spcPts val="0"/>
              </a:spcAft>
              <a:buSzPts val="2610"/>
              <a:buFont typeface="Arial"/>
              <a:buNone/>
            </a:pPr>
            <a:r>
              <a:t/>
            </a:r>
            <a:endParaRPr sz="1800"/>
          </a:p>
          <a:p>
            <a:pPr indent="-120015" lvl="0" marL="285750" rtl="0" algn="l">
              <a:spcBef>
                <a:spcPts val="960"/>
              </a:spcBef>
              <a:spcAft>
                <a:spcPts val="0"/>
              </a:spcAft>
              <a:buSzPts val="2610"/>
              <a:buFont typeface="Arial"/>
              <a:buNone/>
            </a:pPr>
            <a:r>
              <a:t/>
            </a:r>
            <a:endParaRPr sz="1800"/>
          </a:p>
          <a:p>
            <a:pPr indent="-120015" lvl="0" marL="285750" rtl="0" algn="l">
              <a:spcBef>
                <a:spcPts val="960"/>
              </a:spcBef>
              <a:spcAft>
                <a:spcPts val="0"/>
              </a:spcAft>
              <a:buSzPts val="2610"/>
              <a:buFont typeface="Arial"/>
              <a:buNone/>
            </a:pPr>
            <a:r>
              <a:t/>
            </a:r>
            <a:endParaRPr sz="1800"/>
          </a:p>
          <a:p>
            <a:pPr indent="-120015" lvl="0" marL="285750" rtl="0" algn="l">
              <a:spcBef>
                <a:spcPts val="960"/>
              </a:spcBef>
              <a:spcAft>
                <a:spcPts val="0"/>
              </a:spcAft>
              <a:buSzPts val="2610"/>
              <a:buFont typeface="Arial"/>
              <a:buNone/>
            </a:pPr>
            <a:r>
              <a:t/>
            </a:r>
            <a:endParaRPr sz="1800"/>
          </a:p>
          <a:p>
            <a:pPr indent="-64770" lvl="0" marL="285750" rtl="0" algn="l">
              <a:spcBef>
                <a:spcPts val="1080"/>
              </a:spcBef>
              <a:spcAft>
                <a:spcPts val="0"/>
              </a:spcAft>
              <a:buSzPts val="3480"/>
              <a:buNone/>
            </a:pPr>
            <a:r>
              <a:t/>
            </a:r>
            <a:endParaRPr/>
          </a:p>
          <a:p>
            <a:pPr indent="-64770" lvl="0" marL="285750" rtl="0" algn="l">
              <a:spcBef>
                <a:spcPts val="1080"/>
              </a:spcBef>
              <a:spcAft>
                <a:spcPts val="0"/>
              </a:spcAft>
              <a:buSzPts val="3480"/>
              <a:buNone/>
            </a:pPr>
            <a:r>
              <a:t/>
            </a:r>
            <a:endParaRPr/>
          </a:p>
          <a:p>
            <a:pPr indent="-64770" lvl="0" marL="285750" rtl="0" algn="l">
              <a:spcBef>
                <a:spcPts val="1080"/>
              </a:spcBef>
              <a:spcAft>
                <a:spcPts val="0"/>
              </a:spcAft>
              <a:buSzPts val="3480"/>
              <a:buNone/>
            </a:pPr>
            <a:r>
              <a:t/>
            </a:r>
            <a:endParaRPr/>
          </a:p>
          <a:p>
            <a:pPr indent="-64770" lvl="0" marL="285750" rtl="0" algn="l">
              <a:spcBef>
                <a:spcPts val="1080"/>
              </a:spcBef>
              <a:spcAft>
                <a:spcPts val="0"/>
              </a:spcAft>
              <a:buSzPts val="3480"/>
              <a:buNone/>
            </a:pPr>
            <a:r>
              <a:t/>
            </a:r>
            <a:endParaRPr/>
          </a:p>
        </p:txBody>
      </p:sp>
      <p:graphicFrame>
        <p:nvGraphicFramePr>
          <p:cNvPr id="232" name="Google Shape;232;p13"/>
          <p:cNvGraphicFramePr/>
          <p:nvPr/>
        </p:nvGraphicFramePr>
        <p:xfrm>
          <a:off x="1511660" y="2124830"/>
          <a:ext cx="3000000" cy="3000000"/>
        </p:xfrm>
        <a:graphic>
          <a:graphicData uri="http://schemas.openxmlformats.org/drawingml/2006/table">
            <a:tbl>
              <a:tblPr bandRow="1" firstRow="1">
                <a:noFill/>
                <a:tableStyleId>{6D96E5AF-B4D8-45C9-A1AB-42529F9A1D10}</a:tableStyleId>
              </a:tblPr>
              <a:tblGrid>
                <a:gridCol w="4494500"/>
                <a:gridCol w="1626175"/>
              </a:tblGrid>
              <a:tr h="356175">
                <a:tc>
                  <a:txBody>
                    <a:bodyPr/>
                    <a:lstStyle/>
                    <a:p>
                      <a:pPr indent="0" lvl="0" marL="0" marR="0" rtl="0" algn="ctr">
                        <a:lnSpc>
                          <a:spcPct val="100000"/>
                        </a:lnSpc>
                        <a:spcBef>
                          <a:spcPts val="0"/>
                        </a:spcBef>
                        <a:spcAft>
                          <a:spcPts val="0"/>
                        </a:spcAft>
                        <a:buClr>
                          <a:schemeClr val="dk1"/>
                        </a:buClr>
                        <a:buSzPts val="1600"/>
                        <a:buFont typeface="Corbel"/>
                        <a:buNone/>
                      </a:pPr>
                      <a:r>
                        <a:rPr lang="es-ES" sz="1600" u="none" cap="none" strike="noStrike"/>
                        <a:t> NOTA DE CADA EVALUACIÓN:</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spcBef>
                          <a:spcPts val="0"/>
                        </a:spcBef>
                        <a:spcAft>
                          <a:spcPts val="0"/>
                        </a:spcAft>
                        <a:buNone/>
                      </a:pPr>
                      <a:r>
                        <a:rPr lang="es-ES" sz="1600" u="none" cap="none" strike="noStrike"/>
                        <a:t>% nota</a:t>
                      </a:r>
                      <a:endParaRPr sz="1600" u="none" cap="none" strike="noStrike">
                        <a:latin typeface="Arial"/>
                        <a:ea typeface="Arial"/>
                        <a:cs typeface="Arial"/>
                        <a:sym typeface="Arial"/>
                      </a:endParaRPr>
                    </a:p>
                  </a:txBody>
                  <a:tcPr marT="0" marB="0" marR="68575" marL="68575" anchor="ctr"/>
                </a:tc>
              </a:tr>
              <a:tr h="615925">
                <a:tc>
                  <a:txBody>
                    <a:bodyPr/>
                    <a:lstStyle/>
                    <a:p>
                      <a:pPr indent="0" lvl="0" marL="0" marR="0" rtl="0" algn="ctr">
                        <a:spcBef>
                          <a:spcPts val="0"/>
                        </a:spcBef>
                        <a:spcAft>
                          <a:spcPts val="0"/>
                        </a:spcAft>
                        <a:buNone/>
                      </a:pPr>
                      <a:r>
                        <a:rPr lang="es-ES" sz="1600" u="none" cap="none" strike="noStrike"/>
                        <a:t>Pruebas específicas de evaluación</a:t>
                      </a:r>
                      <a:endParaRPr/>
                    </a:p>
                    <a:p>
                      <a:pPr indent="0" lvl="0" marL="0" marR="0" rtl="0" algn="ctr">
                        <a:spcBef>
                          <a:spcPts val="0"/>
                        </a:spcBef>
                        <a:spcAft>
                          <a:spcPts val="0"/>
                        </a:spcAft>
                        <a:buNone/>
                      </a:pPr>
                      <a:r>
                        <a:rPr lang="es-ES" sz="1600" u="none" cap="none" strike="noStrike"/>
                        <a:t>(nota media de las P.E.)</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spcBef>
                          <a:spcPts val="0"/>
                        </a:spcBef>
                        <a:spcAft>
                          <a:spcPts val="0"/>
                        </a:spcAft>
                        <a:buNone/>
                      </a:pPr>
                      <a:r>
                        <a:rPr lang="es-ES" sz="1600" u="none" cap="none" strike="noStrike"/>
                        <a:t>60%</a:t>
                      </a:r>
                      <a:endParaRPr sz="1600" u="none" cap="none" strike="noStrike">
                        <a:latin typeface="Arial"/>
                        <a:ea typeface="Arial"/>
                        <a:cs typeface="Arial"/>
                        <a:sym typeface="Arial"/>
                      </a:endParaRPr>
                    </a:p>
                  </a:txBody>
                  <a:tcPr marT="0" marB="0" marR="68575" marL="68575" anchor="ctr"/>
                </a:tc>
              </a:tr>
              <a:tr h="615925">
                <a:tc>
                  <a:txBody>
                    <a:bodyPr/>
                    <a:lstStyle/>
                    <a:p>
                      <a:pPr indent="0" lvl="0" marL="0" marR="0" rtl="0" algn="ctr">
                        <a:spcBef>
                          <a:spcPts val="0"/>
                        </a:spcBef>
                        <a:spcAft>
                          <a:spcPts val="0"/>
                        </a:spcAft>
                        <a:buNone/>
                      </a:pPr>
                      <a:r>
                        <a:rPr lang="es-ES" sz="1600" u="none" cap="none" strike="noStrike"/>
                        <a:t>Actividades de enseñanza/aprendizaje</a:t>
                      </a:r>
                      <a:endParaRPr/>
                    </a:p>
                    <a:p>
                      <a:pPr indent="0" lvl="0" marL="0" marR="0" rtl="0" algn="ctr">
                        <a:spcBef>
                          <a:spcPts val="0"/>
                        </a:spcBef>
                        <a:spcAft>
                          <a:spcPts val="0"/>
                        </a:spcAft>
                        <a:buNone/>
                      </a:pPr>
                      <a:r>
                        <a:rPr lang="es-ES" sz="1600" u="none" cap="none" strike="noStrike"/>
                        <a:t>(nota media de las actividades)</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spcBef>
                          <a:spcPts val="0"/>
                        </a:spcBef>
                        <a:spcAft>
                          <a:spcPts val="0"/>
                        </a:spcAft>
                        <a:buNone/>
                      </a:pPr>
                      <a:r>
                        <a:rPr lang="es-ES" sz="1600" u="none" cap="none" strike="noStrike"/>
                        <a:t>25%</a:t>
                      </a:r>
                      <a:endParaRPr sz="1600" u="none" cap="none" strike="noStrike">
                        <a:latin typeface="Arial"/>
                        <a:ea typeface="Arial"/>
                        <a:cs typeface="Arial"/>
                        <a:sym typeface="Arial"/>
                      </a:endParaRPr>
                    </a:p>
                  </a:txBody>
                  <a:tcPr marT="0" marB="0" marR="68575" marL="68575" anchor="ctr"/>
                </a:tc>
              </a:tr>
              <a:tr h="356175">
                <a:tc>
                  <a:txBody>
                    <a:bodyPr/>
                    <a:lstStyle/>
                    <a:p>
                      <a:pPr indent="0" lvl="0" marL="0" marR="0" rtl="0" algn="ctr">
                        <a:spcBef>
                          <a:spcPts val="0"/>
                        </a:spcBef>
                        <a:spcAft>
                          <a:spcPts val="0"/>
                        </a:spcAft>
                        <a:buNone/>
                      </a:pPr>
                      <a:r>
                        <a:rPr lang="es-ES" sz="1600" u="none" cap="none" strike="noStrike"/>
                        <a:t>Actitud y participación en el aula</a:t>
                      </a:r>
                      <a:endParaRPr sz="1600" u="none" cap="none" strike="noStrike">
                        <a:latin typeface="Arial"/>
                        <a:ea typeface="Arial"/>
                        <a:cs typeface="Arial"/>
                        <a:sym typeface="Arial"/>
                      </a:endParaRPr>
                    </a:p>
                  </a:txBody>
                  <a:tcPr marT="0" marB="0" marR="68575" marL="68575" anchor="ctr"/>
                </a:tc>
                <a:tc>
                  <a:txBody>
                    <a:bodyPr/>
                    <a:lstStyle/>
                    <a:p>
                      <a:pPr indent="0" lvl="0" marL="0" marR="0" rtl="0" algn="ctr">
                        <a:spcBef>
                          <a:spcPts val="0"/>
                        </a:spcBef>
                        <a:spcAft>
                          <a:spcPts val="0"/>
                        </a:spcAft>
                        <a:buNone/>
                      </a:pPr>
                      <a:r>
                        <a:rPr lang="es-ES" sz="1600" u="none" cap="none" strike="noStrike"/>
                        <a:t>15%</a:t>
                      </a:r>
                      <a:endParaRPr sz="1600" u="none" cap="none" strike="noStrike">
                        <a:latin typeface="Arial"/>
                        <a:ea typeface="Arial"/>
                        <a:cs typeface="Arial"/>
                        <a:sym typeface="Arial"/>
                      </a:endParaRPr>
                    </a:p>
                  </a:txBody>
                  <a:tcPr marT="0" marB="0" marR="68575" marL="68575"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811530" y="229776"/>
            <a:ext cx="7520940" cy="5486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s-ES"/>
              <a:t>Criterios de Calificación.</a:t>
            </a:r>
            <a:endParaRPr/>
          </a:p>
        </p:txBody>
      </p:sp>
      <p:sp>
        <p:nvSpPr>
          <p:cNvPr id="238" name="Google Shape;238;p14"/>
          <p:cNvSpPr txBox="1"/>
          <p:nvPr>
            <p:ph idx="1" type="body"/>
          </p:nvPr>
        </p:nvSpPr>
        <p:spPr>
          <a:xfrm>
            <a:off x="899592" y="1124744"/>
            <a:ext cx="7864926" cy="5733256"/>
          </a:xfrm>
          <a:prstGeom prst="rect">
            <a:avLst/>
          </a:prstGeom>
          <a:noFill/>
          <a:ln>
            <a:noFill/>
          </a:ln>
        </p:spPr>
        <p:txBody>
          <a:bodyPr anchorCtr="0" anchor="ctr" bIns="45700" lIns="91425" spcFirstLastPara="1" rIns="91425" wrap="square" tIns="45700">
            <a:normAutofit fontScale="92500" lnSpcReduction="10000"/>
          </a:bodyPr>
          <a:lstStyle/>
          <a:p>
            <a:pPr indent="-285750" lvl="0" marL="285750" rtl="0" algn="l">
              <a:spcBef>
                <a:spcPts val="0"/>
              </a:spcBef>
              <a:spcAft>
                <a:spcPts val="0"/>
              </a:spcAft>
              <a:buSzPct val="145000"/>
              <a:buFont typeface="Arial"/>
              <a:buChar char="•"/>
            </a:pPr>
            <a:r>
              <a:rPr lang="es-ES" sz="1800"/>
              <a:t>Pruebas específicas de evaluación:</a:t>
            </a:r>
            <a:endParaRPr/>
          </a:p>
          <a:p>
            <a:pPr indent="-285750" lvl="2" marL="1200150" rtl="0" algn="l">
              <a:spcBef>
                <a:spcPts val="933"/>
              </a:spcBef>
              <a:spcAft>
                <a:spcPts val="0"/>
              </a:spcAft>
              <a:buSzPct val="145000"/>
              <a:buFont typeface="Arial"/>
              <a:buChar char="•"/>
            </a:pPr>
            <a:r>
              <a:rPr lang="es-ES"/>
              <a:t>Se realizarán una o dos por cada evaluación.</a:t>
            </a:r>
            <a:endParaRPr/>
          </a:p>
          <a:p>
            <a:pPr indent="-285750" lvl="0" marL="285750" rtl="0" algn="l">
              <a:spcBef>
                <a:spcPts val="933"/>
              </a:spcBef>
              <a:spcAft>
                <a:spcPts val="0"/>
              </a:spcAft>
              <a:buSzPct val="145000"/>
              <a:buFont typeface="Arial"/>
              <a:buChar char="•"/>
            </a:pPr>
            <a:r>
              <a:rPr lang="es-ES" sz="1800"/>
              <a:t>Actividades de enseñanza/aprendizaje:</a:t>
            </a:r>
            <a:endParaRPr/>
          </a:p>
          <a:p>
            <a:pPr indent="-285750" lvl="2" marL="1200150" rtl="0" algn="l">
              <a:spcBef>
                <a:spcPts val="933"/>
              </a:spcBef>
              <a:spcAft>
                <a:spcPts val="0"/>
              </a:spcAft>
              <a:buSzPct val="145000"/>
              <a:buFont typeface="Arial"/>
              <a:buChar char="•"/>
            </a:pPr>
            <a:r>
              <a:rPr lang="es-ES"/>
              <a:t>Se informará en cada unidad de cual o cuales de las actividades que se desarrollen, son objeto de calificación y entrega.</a:t>
            </a:r>
            <a:endParaRPr/>
          </a:p>
          <a:p>
            <a:pPr indent="-285750" lvl="2" marL="1200150" rtl="0" algn="l">
              <a:spcBef>
                <a:spcPts val="933"/>
              </a:spcBef>
              <a:spcAft>
                <a:spcPts val="0"/>
              </a:spcAft>
              <a:buSzPct val="145000"/>
              <a:buFont typeface="Arial"/>
              <a:buChar char="•"/>
            </a:pPr>
            <a:r>
              <a:rPr lang="es-ES"/>
              <a:t>Se pondrán fechas de entrega de las mismas. No se permiten retrasos.</a:t>
            </a:r>
            <a:endParaRPr/>
          </a:p>
          <a:p>
            <a:pPr indent="-285750" lvl="2" marL="1200150" rtl="0" algn="l">
              <a:spcBef>
                <a:spcPts val="933"/>
              </a:spcBef>
              <a:spcAft>
                <a:spcPts val="0"/>
              </a:spcAft>
              <a:buSzPct val="145000"/>
              <a:buFont typeface="Arial"/>
              <a:buChar char="•"/>
            </a:pPr>
            <a:r>
              <a:rPr lang="es-ES"/>
              <a:t>Las prácticas se entregarán únicamente a través de la plataforma.</a:t>
            </a:r>
            <a:endParaRPr/>
          </a:p>
          <a:p>
            <a:pPr indent="-285750" lvl="0" marL="285750" rtl="0" algn="l">
              <a:spcBef>
                <a:spcPts val="933"/>
              </a:spcBef>
              <a:spcAft>
                <a:spcPts val="0"/>
              </a:spcAft>
              <a:buSzPct val="145000"/>
              <a:buFont typeface="Arial"/>
              <a:buChar char="•"/>
            </a:pPr>
            <a:r>
              <a:rPr lang="es-ES" sz="1800"/>
              <a:t>Desempeño en el aula y actitud:</a:t>
            </a:r>
            <a:endParaRPr/>
          </a:p>
          <a:p>
            <a:pPr indent="-285750" lvl="2" marL="1200150" rtl="0" algn="just">
              <a:spcBef>
                <a:spcPts val="933"/>
              </a:spcBef>
              <a:spcAft>
                <a:spcPts val="0"/>
              </a:spcAft>
              <a:buSzPct val="145000"/>
              <a:buFont typeface="Arial"/>
              <a:buChar char="•"/>
            </a:pPr>
            <a:r>
              <a:rPr lang="es-ES" sz="1800"/>
              <a:t>Actitud. Se considera actitud correcta cuando el alumno se comporta adecuadamente hacia situaciones concretas (p.e: está atento en el aula, sabiendo en qué punto se encuentra la clase cuando el docente le pregunta) trato respetuoso hacia los compañeros y docentes, correcto uso del material del aula, etc.(10%) </a:t>
            </a:r>
            <a:endParaRPr/>
          </a:p>
          <a:p>
            <a:pPr indent="-285750" lvl="2" marL="1200150" rtl="0" algn="just">
              <a:spcBef>
                <a:spcPts val="933"/>
              </a:spcBef>
              <a:spcAft>
                <a:spcPts val="0"/>
              </a:spcAft>
              <a:buSzPct val="145000"/>
              <a:buFont typeface="Arial"/>
              <a:buChar char="•"/>
            </a:pPr>
            <a:r>
              <a:rPr lang="es-ES" sz="1800"/>
              <a:t>Desempeño en el aula: la correcta presentación de prácticas realizadas y entregadas en el aula. Se dividirá la nota de este porcentaje entre el total de actividades/practicas solicitadas en cada evaluación. Por correcta se entiende con un mínimo de funcionalidad/coherencia, no plagio y formato correcto (5%)</a:t>
            </a:r>
            <a:endParaRPr/>
          </a:p>
          <a:p>
            <a:pPr indent="-132445" lvl="1" marL="742950" rtl="0" algn="l">
              <a:spcBef>
                <a:spcPts val="933"/>
              </a:spcBef>
              <a:spcAft>
                <a:spcPts val="0"/>
              </a:spcAft>
              <a:buClr>
                <a:schemeClr val="dk1"/>
              </a:buClr>
              <a:buSzPct val="145000"/>
              <a:buFont typeface="Arial"/>
              <a:buNone/>
            </a:pPr>
            <a:r>
              <a:t/>
            </a:r>
            <a:endParaRPr b="1"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s-ES"/>
              <a:t>Criterios de Calificación.</a:t>
            </a:r>
            <a:endParaRPr/>
          </a:p>
        </p:txBody>
      </p:sp>
      <p:sp>
        <p:nvSpPr>
          <p:cNvPr id="244" name="Google Shape;244;p15"/>
          <p:cNvSpPr/>
          <p:nvPr/>
        </p:nvSpPr>
        <p:spPr>
          <a:xfrm>
            <a:off x="1131508" y="1916832"/>
            <a:ext cx="7405916" cy="888710"/>
          </a:xfrm>
          <a:prstGeom prst="roundRect">
            <a:avLst>
              <a:gd fmla="val 16667" name="adj"/>
            </a:avLst>
          </a:prstGeom>
          <a:solidFill>
            <a:schemeClr val="accent1"/>
          </a:solid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s-ES" sz="1800" u="none" cap="none" strike="noStrike">
                <a:solidFill>
                  <a:schemeClr val="lt1"/>
                </a:solidFill>
                <a:latin typeface="Corbel"/>
                <a:ea typeface="Corbel"/>
                <a:cs typeface="Corbel"/>
                <a:sym typeface="Corbel"/>
              </a:rPr>
              <a:t>Nota final del módulo:</a:t>
            </a:r>
            <a:endParaRPr b="0" i="0" sz="1800" u="none" cap="none" strike="noStrike">
              <a:solidFill>
                <a:schemeClr val="lt1"/>
              </a:solidFill>
              <a:latin typeface="Corbel"/>
              <a:ea typeface="Corbel"/>
              <a:cs typeface="Corbel"/>
              <a:sym typeface="Corbel"/>
            </a:endParaRPr>
          </a:p>
        </p:txBody>
      </p:sp>
      <p:sp>
        <p:nvSpPr>
          <p:cNvPr id="245" name="Google Shape;245;p15"/>
          <p:cNvSpPr/>
          <p:nvPr/>
        </p:nvSpPr>
        <p:spPr>
          <a:xfrm>
            <a:off x="1131508" y="2938848"/>
            <a:ext cx="7405916" cy="888710"/>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Para superar el módulo será necesario aprobar con nota de 5 o superior cada una de las evaluaciones.</a:t>
            </a:r>
            <a:endParaRPr b="0" i="0" sz="1800" u="none" cap="none" strike="noStrike">
              <a:solidFill>
                <a:schemeClr val="dk1"/>
              </a:solidFill>
              <a:latin typeface="Corbel"/>
              <a:ea typeface="Corbel"/>
              <a:cs typeface="Corbel"/>
              <a:sym typeface="Corbel"/>
            </a:endParaRPr>
          </a:p>
          <a:p>
            <a:pPr indent="-114300" lvl="1" marL="114300" marR="0" rtl="0" algn="l">
              <a:lnSpc>
                <a:spcPct val="75000"/>
              </a:lnSpc>
              <a:spcBef>
                <a:spcPts val="36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La nota final del módulo será la media de la nota final de cada evaluación.</a:t>
            </a:r>
            <a:endParaRPr b="0" i="0" sz="1800" u="none" cap="none" strike="noStrike">
              <a:solidFill>
                <a:schemeClr val="dk1"/>
              </a:solidFill>
              <a:latin typeface="Corbel"/>
              <a:ea typeface="Corbel"/>
              <a:cs typeface="Corbel"/>
              <a:sym typeface="Corbel"/>
            </a:endParaRPr>
          </a:p>
        </p:txBody>
      </p:sp>
      <p:sp>
        <p:nvSpPr>
          <p:cNvPr id="246" name="Google Shape;246;p15"/>
          <p:cNvSpPr/>
          <p:nvPr/>
        </p:nvSpPr>
        <p:spPr>
          <a:xfrm>
            <a:off x="1131508" y="3960864"/>
            <a:ext cx="7405916" cy="888710"/>
          </a:xfrm>
          <a:prstGeom prst="roundRect">
            <a:avLst>
              <a:gd fmla="val 16667" name="adj"/>
            </a:avLst>
          </a:prstGeom>
          <a:solidFill>
            <a:schemeClr val="accent1"/>
          </a:solid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s-ES" sz="1800" u="none" cap="none" strike="noStrike">
                <a:solidFill>
                  <a:schemeClr val="lt1"/>
                </a:solidFill>
                <a:latin typeface="Corbel"/>
                <a:ea typeface="Corbel"/>
                <a:cs typeface="Corbel"/>
                <a:sym typeface="Corbel"/>
              </a:rPr>
              <a:t>Recuperaciones durante el curso:</a:t>
            </a:r>
            <a:endParaRPr b="0" i="0" sz="1800" u="none" cap="none" strike="noStrike">
              <a:solidFill>
                <a:schemeClr val="lt1"/>
              </a:solidFill>
              <a:latin typeface="Corbel"/>
              <a:ea typeface="Corbel"/>
              <a:cs typeface="Corbel"/>
              <a:sym typeface="Corbel"/>
            </a:endParaRPr>
          </a:p>
        </p:txBody>
      </p:sp>
      <p:sp>
        <p:nvSpPr>
          <p:cNvPr id="247" name="Google Shape;247;p15"/>
          <p:cNvSpPr/>
          <p:nvPr/>
        </p:nvSpPr>
        <p:spPr>
          <a:xfrm>
            <a:off x="1131508" y="4982880"/>
            <a:ext cx="7405916" cy="888710"/>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Los alumnos que no obtengan al menos un 5 en la 1ª o 2ª evaluación podrán recuperarlas en la prueba final de marzo.</a:t>
            </a:r>
            <a:endParaRPr b="0" i="0" sz="1800" u="none" cap="none" strike="noStrike">
              <a:solidFill>
                <a:schemeClr val="dk1"/>
              </a:solidFill>
              <a:latin typeface="Corbel"/>
              <a:ea typeface="Corbel"/>
              <a:cs typeface="Corbel"/>
              <a:sym typeface="Corbel"/>
            </a:endParaRPr>
          </a:p>
          <a:p>
            <a:pPr indent="-114300" lvl="1" marL="114300" marR="0" rtl="0" algn="l">
              <a:lnSpc>
                <a:spcPct val="75000"/>
              </a:lnSpc>
              <a:spcBef>
                <a:spcPts val="36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También será posible realizar una prueba específica de recuperación de cada evaluación, al comienzo de la siguiente.</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468560" y="620688"/>
            <a:ext cx="7704667" cy="17525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s-ES"/>
              <a:t>Casos excepcionales.</a:t>
            </a:r>
            <a:endParaRPr/>
          </a:p>
        </p:txBody>
      </p:sp>
      <p:sp>
        <p:nvSpPr>
          <p:cNvPr id="253" name="Google Shape;253;p16"/>
          <p:cNvSpPr/>
          <p:nvPr/>
        </p:nvSpPr>
        <p:spPr>
          <a:xfrm>
            <a:off x="1317460" y="2113008"/>
            <a:ext cx="6810705" cy="855455"/>
          </a:xfrm>
          <a:prstGeom prst="roundRect">
            <a:avLst>
              <a:gd fmla="val 16667" name="adj"/>
            </a:avLst>
          </a:prstGeom>
          <a:solidFill>
            <a:schemeClr val="accent1"/>
          </a:solid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Clr>
                <a:schemeClr val="lt1"/>
              </a:buClr>
              <a:buSzPts val="1800"/>
              <a:buFont typeface="Arial"/>
              <a:buNone/>
            </a:pPr>
            <a:r>
              <a:rPr b="0" i="0" lang="es-ES" sz="1800" u="none" cap="none" strike="noStrike">
                <a:solidFill>
                  <a:schemeClr val="lt1"/>
                </a:solidFill>
                <a:latin typeface="Corbel"/>
                <a:ea typeface="Corbel"/>
                <a:cs typeface="Corbel"/>
                <a:sym typeface="Corbel"/>
              </a:rPr>
              <a:t>Imposibilidad de aplicar la evaluación continua: </a:t>
            </a:r>
            <a:endParaRPr b="0" i="0" sz="1800" u="none" cap="none" strike="noStrike">
              <a:solidFill>
                <a:schemeClr val="lt1"/>
              </a:solidFill>
              <a:latin typeface="Corbel"/>
              <a:ea typeface="Corbel"/>
              <a:cs typeface="Corbel"/>
              <a:sym typeface="Corbel"/>
            </a:endParaRPr>
          </a:p>
        </p:txBody>
      </p:sp>
      <p:sp>
        <p:nvSpPr>
          <p:cNvPr id="254" name="Google Shape;254;p16"/>
          <p:cNvSpPr/>
          <p:nvPr/>
        </p:nvSpPr>
        <p:spPr>
          <a:xfrm>
            <a:off x="1317460" y="3096781"/>
            <a:ext cx="6810705" cy="855455"/>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s-ES" sz="1800" u="none" cap="none" strike="noStrike">
                <a:solidFill>
                  <a:schemeClr val="dk1"/>
                </a:solidFill>
                <a:latin typeface="Corbel"/>
                <a:ea typeface="Corbel"/>
                <a:cs typeface="Corbel"/>
                <a:sym typeface="Corbel"/>
              </a:rPr>
              <a:t>Si el número de faltas de asistencia no justificadas supera las especificadas el 10% de las del mes en este módulo.</a:t>
            </a:r>
            <a:endParaRPr/>
          </a:p>
          <a:p>
            <a:pPr indent="-114300" lvl="1" marL="114300" marR="0" rtl="0" algn="l">
              <a:lnSpc>
                <a:spcPct val="75000"/>
              </a:lnSpc>
              <a:spcBef>
                <a:spcPts val="36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En este caso, los alumnos tendrán derecho a realizar una prueba de evaluación final teórico-práctica a la vez que los compañeros que tengan evaluaciones pendientes.</a:t>
            </a:r>
            <a:endParaRPr/>
          </a:p>
        </p:txBody>
      </p:sp>
      <p:sp>
        <p:nvSpPr>
          <p:cNvPr id="255" name="Google Shape;255;p16"/>
          <p:cNvSpPr/>
          <p:nvPr/>
        </p:nvSpPr>
        <p:spPr>
          <a:xfrm>
            <a:off x="1234624" y="4080554"/>
            <a:ext cx="6976378" cy="855455"/>
          </a:xfrm>
          <a:prstGeom prst="roundRect">
            <a:avLst>
              <a:gd fmla="val 16667" name="adj"/>
            </a:avLst>
          </a:prstGeom>
          <a:solidFill>
            <a:schemeClr val="accent1"/>
          </a:solid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s-ES" sz="1800" u="none" cap="none" strike="noStrike">
                <a:solidFill>
                  <a:schemeClr val="lt1"/>
                </a:solidFill>
                <a:latin typeface="Corbel"/>
                <a:ea typeface="Corbel"/>
                <a:cs typeface="Corbel"/>
                <a:sym typeface="Corbel"/>
              </a:rPr>
              <a:t>Recuperación en segunda convocatoria:</a:t>
            </a:r>
            <a:endParaRPr/>
          </a:p>
        </p:txBody>
      </p:sp>
      <p:sp>
        <p:nvSpPr>
          <p:cNvPr id="256" name="Google Shape;256;p16"/>
          <p:cNvSpPr/>
          <p:nvPr/>
        </p:nvSpPr>
        <p:spPr>
          <a:xfrm>
            <a:off x="1234624" y="5064327"/>
            <a:ext cx="6976378" cy="855455"/>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En caso de no superar el módulo en la evaluación final de marzo, los alumnos se presentarán a una prueba final en junio. Esta podrá consistir en parte teórica y práctica.</a:t>
            </a:r>
            <a:endParaRPr/>
          </a:p>
          <a:p>
            <a:pPr indent="-114300" lvl="1" marL="114300" marR="0" rtl="0" algn="l">
              <a:lnSpc>
                <a:spcPct val="75000"/>
              </a:lnSpc>
              <a:spcBef>
                <a:spcPts val="360"/>
              </a:spcBef>
              <a:spcAft>
                <a:spcPts val="0"/>
              </a:spcAft>
              <a:buClr>
                <a:schemeClr val="dk1"/>
              </a:buClr>
              <a:buSzPts val="1800"/>
              <a:buFont typeface="Corbel"/>
              <a:buChar char="•"/>
            </a:pPr>
            <a:r>
              <a:rPr b="0" i="0" lang="es-ES" sz="1800" u="none" cap="none" strike="noStrike">
                <a:solidFill>
                  <a:schemeClr val="dk1"/>
                </a:solidFill>
                <a:latin typeface="Corbel"/>
                <a:ea typeface="Corbel"/>
                <a:cs typeface="Corbel"/>
                <a:sym typeface="Corbel"/>
              </a:rPr>
              <a:t>En caso de no superar el módulo en la prueba de junio, se cursará el módulo completo durante el siguiente año escolar.</a:t>
            </a:r>
            <a:endParaRPr/>
          </a:p>
          <a:p>
            <a:pPr indent="0" lvl="1" marL="114300" marR="0" rtl="0" algn="l">
              <a:lnSpc>
                <a:spcPct val="75000"/>
              </a:lnSpc>
              <a:spcBef>
                <a:spcPts val="360"/>
              </a:spcBef>
              <a:spcAft>
                <a:spcPts val="0"/>
              </a:spcAft>
              <a:buClr>
                <a:schemeClr val="dk1"/>
              </a:buClr>
              <a:buSzPts val="1800"/>
              <a:buFont typeface="Corbel"/>
              <a:buNone/>
            </a:pPr>
            <a:r>
              <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s-ES"/>
              <a:t>Dudas y/o preguntas.</a:t>
            </a:r>
            <a:endParaRPr/>
          </a:p>
        </p:txBody>
      </p:sp>
      <p:pic>
        <p:nvPicPr>
          <p:cNvPr id="262" name="Google Shape;262;p17"/>
          <p:cNvPicPr preferRelativeResize="0"/>
          <p:nvPr>
            <p:ph idx="1" type="body"/>
          </p:nvPr>
        </p:nvPicPr>
        <p:blipFill rotWithShape="1">
          <a:blip r:embed="rId3">
            <a:alphaModFix/>
          </a:blip>
          <a:srcRect b="0" l="0" r="0" t="0"/>
          <a:stretch/>
        </p:blipFill>
        <p:spPr>
          <a:xfrm>
            <a:off x="1907704" y="2406979"/>
            <a:ext cx="5994351" cy="351393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ersonalizado 3">
      <a:dk1>
        <a:srgbClr val="000000"/>
      </a:dk1>
      <a:lt1>
        <a:srgbClr val="FFFFFF"/>
      </a:lt1>
      <a:dk2>
        <a:srgbClr val="212121"/>
      </a:dk2>
      <a:lt2>
        <a:srgbClr val="CDD0D1"/>
      </a:lt2>
      <a:accent1>
        <a:srgbClr val="8BB434"/>
      </a:accent1>
      <a:accent2>
        <a:srgbClr val="33A583"/>
      </a:accent2>
      <a:accent3>
        <a:srgbClr val="688726"/>
      </a:accent3>
      <a:accent4>
        <a:srgbClr val="6063B4"/>
      </a:accent4>
      <a:accent5>
        <a:srgbClr val="D35731"/>
      </a:accent5>
      <a:accent6>
        <a:srgbClr val="EBAC4B"/>
      </a:accent6>
      <a:hlink>
        <a:srgbClr val="65AD30"/>
      </a:hlink>
      <a:folHlink>
        <a:srgbClr val="8ED2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2013-09-26T10:04:15Z</dcterms:created>
  <dc:creator>Administrador</dc:creator>
</cp:coreProperties>
</file>